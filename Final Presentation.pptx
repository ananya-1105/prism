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introducing yourself and the project name. PRISM stands for Policy and Resource Information Search Module — an AI assistant that turns dense HR policy PDFs into natural conversations. Set expectations: this is a 25–30 minute session covering both business value and technical implementation, for a mixed audience of engineering leaders, developers, and business stakeholders. Emphasize that you built it end-to-end as an intern.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your role quickly but concretely. You weren't assigned one narrow task — you owned the full stack. Point to the six areas on the right: React frontend, FastAPI backend, authentication and security, database design, AI integration, and knowledge-base management. The headline for this slide is independence: you took PRISM from idea to a working end-to-end product yourself, which is what makes the rest of the talk credible.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problem in a relatable story: a new joiner on day one. They need answers about leave, PF, benefits, reimbursements, e-signatures, and general HR rules. Today the only path is to scroll through long PDFs, then email or ping HR, then wait — and productivity leaks at every step. Land the key insight on the right: the information already exists; the real problem is that it isn't accessible on demand. That reframing is what PRISM solves.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pain measurable and three-dimensional. Employees lose time and get frustrated. HR is buried under repetitive, low-value questions that pull them away from strategic work. And for the business, it all adds up to reduced productivity, delayed decisions, and paying repeatedly for the same answer. The point: this is a systemic cost, not a one-off annoyance — which is why it's worth solving properly.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scoping decision — a good engineering habit worth calling out to the leaders in the room. HR policy is accessed by everyone, it's business-critical, it typically lives in long documents, and it demands accurate answers. That combination makes it both high-impact and a great fit for retrieval-augmented AI. Mention the concrete topics on the right (leaves, PF, benefits, travel, handbook, e-signatures) so the audience can picture real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reveal. Unpack the acronym once — Policy, Resource, Information, Search, Module — then move straight to what it does in human terms: ask a question in plain language, get an accurate answer grounded in the company's documents. Highlight the four capabilities: natural-language Q&amp;A, enterprise document search, a conversational experience that handles follow-ups, and persistent knowledge. The right-hand flow — Employee to PRISM to instant answer — is the mental model to leave them with.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value back to each audience in the room. For employees: instant self-serve answers and a better experience. For HR: fewer repetitive questions and a materially lighter support load, freeing them for strategic work. For the organization: existing knowledge becomes a reusable asset, productivity rises, and everyone receives consistent, correct answers. If you have any before/after anecdotes from testing, drop one in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right altitude for a mixed audience. Trace one request left to right: the user asks in the React UI, FastAPI receives it and orchestrates everything. Two stores sit behind the backend — SQLite for structured data like users, authentication, and chat history, and FAISS for the document knowledge as vectors. The backend retrieves the relevant context, hands it to the LLM, and returns a grounded response. Emphasize the separation of concerns: the right tool for structured data and the right tool for semantic search.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ingestion half of the system. Documents are uploaded, text is extracted, then split into smaller chunks — this matters because retrieval works better on focused passages than on a whole document. Each chunk is converted into an embedding, a numeric vector that captures meaning, and stored in FAISS. Once indexed, the knowledge base is ready. Stress the payoff at the bottom: this is semantic search, so a question phrased differently from the document still finds the right content.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mirror image of the previous slide — the live query path. Use the example question to make it concrete. The user's question is embedded into the same vector space as the documents. FAISS finds the closest chunks, those passages become context, and the LLM composes an answer strictly from that context. Emphasize the last line: this is retrieval-augmented generation, and grounding answers in real documents is what keeps them accurate instead of hallucinated.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from a technical audience, so meet it head-on. The distinction isn't the model — it's the architecture around it. A generic chatbot is session-based, needs the document re-uploaded each time, keeps nothing for the team, and is built for one person. PRISM persists knowledge, you upload once and reuse forever, it's centralized and multi-user, and it adds document management. The takeaway: PRISM turns knowledge into a durable enterprise asset.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tour of what actually shipped, grouped into four buckets. User and access: registration, login, secure authentication. Knowledge base: upload, delete, and manage documents. AI core: context-aware conversations, retrieval-augmented generation, and semantic search — the heart of the product. Experience: a clean chat interface, light and dark themes, and saved conversation history. Keep it brisk; the live demo will show these in action.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leaders and technical reviewers that this was built responsibly. Passwords are hashed, never stored in plain text. Authentication uses signed JWT tokens, and every API endpoint is protected — nothing is reachable without a valid token. Critically, user data is isolated so one user can never see another's data, and sessions are managed and expiring. The theme: because PRISM handles accounts and internal documents, security was a design constraint from the very start.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engineers, so speak to trade-offs. RAG was chosen to reduce hallucination and keep answers grounded in real documents. FAISS handles vector similarity search efficiently and fast, even as the number of chunks grows. Chunking improves retrieval precision and gives the LLM tighter, more relevant context. And splitting SQLite from FAISS is deliberate separation of concerns — relational storage for structured data, a vector store for semantic data. Invite questions here if time allows.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Quantify the work. These figures are illustrative placeholders — swap in your real measurements before you present. Talk to what each one signals: the number of indexed chunks shows the knowledge base has real substance; the average response time shows it's fast enough to feel conversational; and six integrated technologies shows meaningful system complexity delivered by one intern. Reinforce that the overall architecture is retrieval-augmented generation.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live app now. Follow the five steps in order so nothing is missed: log in, upload a policy document, ask a couple of real questions, then ask a follow-up that only makes sense in context to prove conversation memory, and show the grounded response. If a live demo is risky, have a screen recording as backup. Narrate what's happening at each step so the non-technical audience can follow.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and specific here — it shows maturity. The hardest parts were the sheer breadth of full-stack work solo, integrating authentication cleanly, retaining conversation context, getting retrieval accurate, and making the AI pieces cooperate. The approach that worked: build incrementally, keep the architecture modular so problems stay isolated, test continuously, and tune chunking and prompts when retrieval missed. Frame challenges as learning, paired directly with the solution.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 on growth in two dimensions. Technically, you leveled up in full-stack development, AI system design with a real RAG pipeline, security implementation, and semantic search. Professionally, you sharpened problem solving, systems thinking, communication — including presenting to a mixed audience like today — and requirement analysis. Keep this personal and genuine; it's the human bridge before the roadmap and close.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you're thinking beyond the prototype. Version 2 adds role-based access control so permissions match each role. Version 3 expands the knowledge base to other departments. Version 4 adds an analytics dashboard to reveal usage and content gaps. Version 5 brings multilingual support. Version 6 connects PRISM to existing enterprise systems. Present it as a credible, incremental path from prototype to platform — not a wish list.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Recap the five things PRISM demonstrates: AI-powered knowledge retrieval, document intelligence, a better employee experience, reduced search effort, and centralized access. Then deliver the closing line with conviction — PRISM turns static documents into an intelligent, scalable, conversational platform. This is the sentence you want the audience to remember, so pause on it before thanking people.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Thank the room, and specifically acknowledge Teja for technical mentorship and Brahmi for presentation guidance. Then open the floor for questions and discussion. Have your backup demo and the technical-decisions details ready in case deeper questions come from the engineers.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613426"/>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24.png"/><Relationship Id="rId12"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5.png"/><Relationship Id="rId5" Type="http://schemas.openxmlformats.org/officeDocument/2006/relationships/image" Target="../media/image22.png"/><Relationship Id="rId10" Type="http://schemas.openxmlformats.org/officeDocument/2006/relationships/image" Target="../media/image12.png"/><Relationship Id="rId4" Type="http://schemas.openxmlformats.org/officeDocument/2006/relationships/image" Target="../media/image21.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28.png"/><Relationship Id="rId5" Type="http://schemas.openxmlformats.org/officeDocument/2006/relationships/image" Target="../media/image4.png"/><Relationship Id="rId10" Type="http://schemas.openxmlformats.org/officeDocument/2006/relationships/image" Target="../media/image34.png"/><Relationship Id="rId4" Type="http://schemas.openxmlformats.org/officeDocument/2006/relationships/image" Target="../media/image1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17.png"/><Relationship Id="rId5" Type="http://schemas.openxmlformats.org/officeDocument/2006/relationships/image" Target="../media/image30.png"/><Relationship Id="rId10" Type="http://schemas.openxmlformats.org/officeDocument/2006/relationships/image" Target="../media/image32.png"/><Relationship Id="rId4" Type="http://schemas.openxmlformats.org/officeDocument/2006/relationships/image" Target="../media/image35.png"/><Relationship Id="rId9"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8.png"/><Relationship Id="rId5" Type="http://schemas.openxmlformats.org/officeDocument/2006/relationships/image" Target="../media/image40.png"/><Relationship Id="rId10" Type="http://schemas.openxmlformats.org/officeDocument/2006/relationships/image" Target="../media/image34.png"/><Relationship Id="rId4" Type="http://schemas.openxmlformats.org/officeDocument/2006/relationships/image" Target="../media/image39.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35.png"/><Relationship Id="rId4" Type="http://schemas.openxmlformats.org/officeDocument/2006/relationships/image" Target="../media/image53.png"/><Relationship Id="rId9" Type="http://schemas.openxmlformats.org/officeDocument/2006/relationships/image" Target="../media/image5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2.png"/><Relationship Id="rId7"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png"/><Relationship Id="rId7"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23.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371600"/>
            <a:ext cx="9144000" cy="365760"/>
          </a:xfrm>
          <a:prstGeom prst="rect">
            <a:avLst/>
          </a:prstGeom>
          <a:noFill/>
          <a:ln/>
        </p:spPr>
        <p:txBody>
          <a:bodyPr wrap="square" lIns="0" tIns="0" rIns="0" bIns="0" rtlCol="0" anchor="ctr"/>
          <a:lstStyle/>
          <a:p>
            <a:pPr marL="0" indent="0">
              <a:buNone/>
            </a:pPr>
            <a:r>
              <a:rPr lang="en-US" sz="1300" b="1" kern="0" spc="200" dirty="0">
                <a:solidFill>
                  <a:srgbClr val="A100FF"/>
                </a:solidFill>
                <a:latin typeface="Arial" pitchFamily="34" charset="0"/>
                <a:ea typeface="Arial" pitchFamily="34" charset="-122"/>
                <a:cs typeface="Arial" pitchFamily="34" charset="-120"/>
              </a:rPr>
              <a:t>›  </a:t>
            </a:r>
            <a:r>
              <a:rPr lang="en-US" sz="1300" b="1" kern="0" spc="200" dirty="0">
                <a:solidFill>
                  <a:srgbClr val="D9C4FF"/>
                </a:solidFill>
                <a:latin typeface="Arial" pitchFamily="34" charset="0"/>
                <a:ea typeface="Arial" pitchFamily="34" charset="-122"/>
                <a:cs typeface="Arial" pitchFamily="34" charset="-120"/>
              </a:rPr>
              <a:t>AI-POWERED ENTERPRISE KNOWLEDGE ASSISTANT</a:t>
            </a:r>
            <a:endParaRPr lang="en-US" sz="1300" dirty="0"/>
          </a:p>
        </p:txBody>
      </p:sp>
      <p:sp>
        <p:nvSpPr>
          <p:cNvPr id="3" name="Text 1"/>
          <p:cNvSpPr/>
          <p:nvPr/>
        </p:nvSpPr>
        <p:spPr>
          <a:xfrm>
            <a:off x="640080" y="1783080"/>
            <a:ext cx="9144000" cy="1645920"/>
          </a:xfrm>
          <a:prstGeom prst="rect">
            <a:avLst/>
          </a:prstGeom>
          <a:noFill/>
          <a:ln/>
        </p:spPr>
        <p:txBody>
          <a:bodyPr wrap="square" lIns="0" tIns="0" rIns="0" bIns="0" rtlCol="0" anchor="ctr"/>
          <a:lstStyle/>
          <a:p>
            <a:pPr marL="0" indent="0">
              <a:buNone/>
            </a:pPr>
            <a:r>
              <a:rPr lang="en-US" sz="12000" b="1" dirty="0">
                <a:solidFill>
                  <a:srgbClr val="FFFFFF"/>
                </a:solidFill>
                <a:latin typeface="Arial" pitchFamily="34" charset="0"/>
                <a:ea typeface="Arial" pitchFamily="34" charset="-122"/>
                <a:cs typeface="Arial" pitchFamily="34" charset="-120"/>
              </a:rPr>
              <a:t>PRISM</a:t>
            </a:r>
            <a:endParaRPr lang="en-US" sz="12000" dirty="0"/>
          </a:p>
        </p:txBody>
      </p:sp>
      <p:sp>
        <p:nvSpPr>
          <p:cNvPr id="4" name="Text 2"/>
          <p:cNvSpPr/>
          <p:nvPr/>
        </p:nvSpPr>
        <p:spPr>
          <a:xfrm>
            <a:off x="685800" y="3520440"/>
            <a:ext cx="9601200" cy="457200"/>
          </a:xfrm>
          <a:prstGeom prst="rect">
            <a:avLst/>
          </a:prstGeom>
          <a:noFill/>
          <a:ln/>
        </p:spPr>
        <p:txBody>
          <a:bodyPr wrap="square" lIns="0" tIns="0" rIns="0" bIns="0" rtlCol="0" anchor="ctr"/>
          <a:lstStyle/>
          <a:p>
            <a:pPr marL="0" indent="0">
              <a:buNone/>
            </a:pPr>
            <a:r>
              <a:rPr lang="en-US" sz="2200" dirty="0">
                <a:solidFill>
                  <a:srgbClr val="E7DBFF"/>
                </a:solidFill>
                <a:latin typeface="Arial" pitchFamily="34" charset="0"/>
                <a:ea typeface="Arial" pitchFamily="34" charset="-122"/>
                <a:cs typeface="Arial" pitchFamily="34" charset="-120"/>
              </a:rPr>
              <a:t>Policy and Resource Information Search Module</a:t>
            </a:r>
            <a:endParaRPr lang="en-US" sz="2200" dirty="0"/>
          </a:p>
        </p:txBody>
      </p:sp>
      <p:sp>
        <p:nvSpPr>
          <p:cNvPr id="5" name="Text 3"/>
          <p:cNvSpPr/>
          <p:nvPr/>
        </p:nvSpPr>
        <p:spPr>
          <a:xfrm>
            <a:off x="685800" y="4023360"/>
            <a:ext cx="9601200" cy="457200"/>
          </a:xfrm>
          <a:prstGeom prst="rect">
            <a:avLst/>
          </a:prstGeom>
          <a:noFill/>
          <a:ln/>
        </p:spPr>
        <p:txBody>
          <a:bodyPr wrap="square" lIns="0" tIns="0" rIns="0" bIns="0" rtlCol="0" anchor="ctr"/>
          <a:lstStyle/>
          <a:p>
            <a:pPr marL="0" indent="0">
              <a:buNone/>
            </a:pPr>
            <a:r>
              <a:rPr lang="en-US" sz="1600" i="1" dirty="0">
                <a:solidFill>
                  <a:srgbClr val="E6197E"/>
                </a:solidFill>
                <a:latin typeface="Calibri" pitchFamily="34" charset="0"/>
                <a:ea typeface="Calibri" pitchFamily="34" charset="-122"/>
                <a:cs typeface="Calibri" pitchFamily="34" charset="-120"/>
              </a:rPr>
              <a:t>Transforming static documents into intelligent conversations</a:t>
            </a:r>
            <a:endParaRPr lang="en-US" sz="1600" dirty="0"/>
          </a:p>
        </p:txBody>
      </p:sp>
      <p:sp>
        <p:nvSpPr>
          <p:cNvPr id="6" name="Shape 4"/>
          <p:cNvSpPr/>
          <p:nvPr/>
        </p:nvSpPr>
        <p:spPr>
          <a:xfrm>
            <a:off x="685800" y="4800600"/>
            <a:ext cx="2103120" cy="36576"/>
          </a:xfrm>
          <a:prstGeom prst="rect">
            <a:avLst/>
          </a:prstGeom>
          <a:solidFill>
            <a:srgbClr val="A100FF"/>
          </a:solidFill>
          <a:ln/>
        </p:spPr>
        <p:txBody>
          <a:bodyPr/>
          <a:lstStyle/>
          <a:p>
            <a:endParaRPr lang="en-US"/>
          </a:p>
        </p:txBody>
      </p:sp>
      <p:sp>
        <p:nvSpPr>
          <p:cNvPr id="7" name="Text 5"/>
          <p:cNvSpPr/>
          <p:nvPr/>
        </p:nvSpPr>
        <p:spPr>
          <a:xfrm>
            <a:off x="685800" y="4983480"/>
            <a:ext cx="8229600" cy="6858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Ananya Akella</a:t>
            </a:r>
            <a:endParaRPr lang="en-US" sz="1500" dirty="0"/>
          </a:p>
          <a:p>
            <a:pPr marL="0" indent="0">
              <a:buNone/>
            </a:pPr>
            <a:r>
              <a:rPr lang="en-US" sz="1200" dirty="0">
                <a:solidFill>
                  <a:srgbClr val="CBB8EA"/>
                </a:solidFill>
                <a:latin typeface="Calibri" pitchFamily="34" charset="0"/>
                <a:ea typeface="Calibri" pitchFamily="34" charset="-122"/>
                <a:cs typeface="Calibri" pitchFamily="34" charset="-120"/>
              </a:rPr>
              <a:t>Custom Software Engineering Associate Intern</a:t>
            </a:r>
            <a:endParaRPr lang="en-US" sz="1500" dirty="0"/>
          </a:p>
        </p:txBody>
      </p:sp>
      <p:sp>
        <p:nvSpPr>
          <p:cNvPr id="8" name="Text 6"/>
          <p:cNvSpPr/>
          <p:nvPr/>
        </p:nvSpPr>
        <p:spPr>
          <a:xfrm>
            <a:off x="685800" y="6126480"/>
            <a:ext cx="10058400" cy="320040"/>
          </a:xfrm>
          <a:prstGeom prst="rect">
            <a:avLst/>
          </a:prstGeom>
          <a:noFill/>
          <a:ln/>
        </p:spPr>
        <p:txBody>
          <a:bodyPr wrap="square" lIns="0" tIns="0" rIns="0" bIns="0" rtlCol="0" anchor="ctr"/>
          <a:lstStyle/>
          <a:p>
            <a:pPr marL="0" indent="0">
              <a:buNone/>
            </a:pPr>
            <a:r>
              <a:rPr lang="en-US" sz="1150" dirty="0">
                <a:solidFill>
                  <a:srgbClr val="9E86C4"/>
                </a:solidFill>
                <a:latin typeface="Calibri" pitchFamily="34" charset="0"/>
                <a:ea typeface="Calibri" pitchFamily="34" charset="-122"/>
                <a:cs typeface="Calibri" pitchFamily="34" charset="-120"/>
              </a:rPr>
              <a:t>25–30 min   ·   For engineering leaders, developers &amp; business stakeholders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2000" advTm="28847"/>
    </mc:Choice>
    <mc:Fallback>
      <p:transition spd="slow" advTm="2884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ABOUT ME</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My Internship Journey</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02</a:t>
            </a:r>
            <a:endParaRPr lang="en-US" sz="1000" dirty="0"/>
          </a:p>
        </p:txBody>
      </p:sp>
      <p:sp>
        <p:nvSpPr>
          <p:cNvPr id="6" name="Text 4"/>
          <p:cNvSpPr/>
          <p:nvPr/>
        </p:nvSpPr>
        <p:spPr>
          <a:xfrm>
            <a:off x="685800" y="1600200"/>
            <a:ext cx="4663440" cy="1371600"/>
          </a:xfrm>
          <a:prstGeom prst="rect">
            <a:avLst/>
          </a:prstGeom>
          <a:noFill/>
          <a:ln/>
        </p:spPr>
        <p:txBody>
          <a:bodyPr wrap="square" lIns="0" tIns="0" rIns="0" bIns="0" rtlCol="0" anchor="t"/>
          <a:lstStyle/>
          <a:p>
            <a:pPr marL="0" indent="0">
              <a:lnSpc>
                <a:spcPct val="115000"/>
              </a:lnSpc>
              <a:buNone/>
            </a:pPr>
            <a:r>
              <a:rPr lang="en-US" sz="1400" dirty="0">
                <a:solidFill>
                  <a:srgbClr val="5A5568"/>
                </a:solidFill>
                <a:latin typeface="Calibri" pitchFamily="34" charset="0"/>
                <a:ea typeface="Calibri" pitchFamily="34" charset="-122"/>
                <a:cs typeface="Calibri" pitchFamily="34" charset="-120"/>
              </a:rPr>
              <a:t>I joined as a Custom Software Engineering Associate Intern and took on the role of a full-stack developer — owning the product across the frontend, backend, data, and AI layers from a blank repository to a working system.</a:t>
            </a:r>
            <a:endParaRPr lang="en-US" sz="1400" dirty="0"/>
          </a:p>
        </p:txBody>
      </p:sp>
      <p:sp>
        <p:nvSpPr>
          <p:cNvPr id="7" name="Shape 5"/>
          <p:cNvSpPr/>
          <p:nvPr/>
        </p:nvSpPr>
        <p:spPr>
          <a:xfrm>
            <a:off x="685800" y="3200400"/>
            <a:ext cx="4663440" cy="1691640"/>
          </a:xfrm>
          <a:prstGeom prst="roundRect">
            <a:avLst>
              <a:gd name="adj" fmla="val 3243"/>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3200400"/>
            <a:ext cx="73152" cy="1691640"/>
          </a:xfrm>
          <a:prstGeom prst="rect">
            <a:avLst/>
          </a:prstGeom>
          <a:solidFill>
            <a:srgbClr val="A100FF"/>
          </a:solidFill>
          <a:ln/>
        </p:spPr>
        <p:txBody>
          <a:bodyPr/>
          <a:lstStyle/>
          <a:p>
            <a:endParaRPr lang="en-US"/>
          </a:p>
        </p:txBody>
      </p:sp>
      <p:sp>
        <p:nvSpPr>
          <p:cNvPr id="9" name="Shape 7"/>
          <p:cNvSpPr/>
          <p:nvPr/>
        </p:nvSpPr>
        <p:spPr>
          <a:xfrm>
            <a:off x="960120" y="3493008"/>
            <a:ext cx="640080" cy="640080"/>
          </a:xfrm>
          <a:prstGeom prst="ellipse">
            <a:avLst/>
          </a:prstGeom>
          <a:solidFill>
            <a:srgbClr val="A100FF"/>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120140" y="3653028"/>
            <a:ext cx="320040" cy="320040"/>
          </a:xfrm>
          <a:prstGeom prst="rect">
            <a:avLst/>
          </a:prstGeom>
        </p:spPr>
      </p:pic>
      <p:sp>
        <p:nvSpPr>
          <p:cNvPr id="11" name="Text 8"/>
          <p:cNvSpPr/>
          <p:nvPr/>
        </p:nvSpPr>
        <p:spPr>
          <a:xfrm>
            <a:off x="1783080" y="3429000"/>
            <a:ext cx="3291840" cy="274320"/>
          </a:xfrm>
          <a:prstGeom prst="rect">
            <a:avLst/>
          </a:prstGeom>
          <a:noFill/>
          <a:ln/>
        </p:spPr>
        <p:txBody>
          <a:bodyPr wrap="square" lIns="0" tIns="0" rIns="0" bIns="0" rtlCol="0" anchor="ctr"/>
          <a:lstStyle/>
          <a:p>
            <a:pPr marL="0" indent="0">
              <a:buNone/>
            </a:pPr>
            <a:r>
              <a:rPr lang="en-US" sz="1100" b="1" kern="0" spc="200" dirty="0">
                <a:solidFill>
                  <a:srgbClr val="A100FF"/>
                </a:solidFill>
                <a:latin typeface="Arial" pitchFamily="34" charset="0"/>
                <a:ea typeface="Arial" pitchFamily="34" charset="-122"/>
                <a:cs typeface="Arial" pitchFamily="34" charset="-120"/>
              </a:rPr>
              <a:t>KEY HIGHLIGHT</a:t>
            </a:r>
            <a:endParaRPr lang="en-US" sz="1100" dirty="0"/>
          </a:p>
        </p:txBody>
      </p:sp>
      <p:sp>
        <p:nvSpPr>
          <p:cNvPr id="12" name="Text 9"/>
          <p:cNvSpPr/>
          <p:nvPr/>
        </p:nvSpPr>
        <p:spPr>
          <a:xfrm>
            <a:off x="1783080" y="3703320"/>
            <a:ext cx="3383280" cy="1097280"/>
          </a:xfrm>
          <a:prstGeom prst="rect">
            <a:avLst/>
          </a:prstGeom>
          <a:noFill/>
          <a:ln/>
        </p:spPr>
        <p:txBody>
          <a:bodyPr wrap="square" lIns="0" tIns="0" rIns="0" bIns="0" rtlCol="0" anchor="t"/>
          <a:lstStyle/>
          <a:p>
            <a:pPr marL="0" indent="0">
              <a:lnSpc>
                <a:spcPct val="110000"/>
              </a:lnSpc>
              <a:buNone/>
            </a:pPr>
            <a:r>
              <a:rPr lang="en-US" sz="1300" b="1" dirty="0">
                <a:solidFill>
                  <a:srgbClr val="1A1526"/>
                </a:solidFill>
                <a:latin typeface="Calibri" pitchFamily="34" charset="0"/>
                <a:ea typeface="Calibri" pitchFamily="34" charset="-122"/>
                <a:cs typeface="Calibri" pitchFamily="34" charset="-120"/>
              </a:rPr>
              <a:t>Designed, built, and integrated the complete system independently — from the initial idea to a working end-to-end product.</a:t>
            </a:r>
            <a:endParaRPr lang="en-US" sz="1300" dirty="0"/>
          </a:p>
        </p:txBody>
      </p:sp>
      <p:sp>
        <p:nvSpPr>
          <p:cNvPr id="13" name="Shape 10"/>
          <p:cNvSpPr/>
          <p:nvPr/>
        </p:nvSpPr>
        <p:spPr>
          <a:xfrm>
            <a:off x="5806440" y="1600200"/>
            <a:ext cx="2880360" cy="932688"/>
          </a:xfrm>
          <a:prstGeom prst="roundRect">
            <a:avLst>
              <a:gd name="adj" fmla="val 588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5989320" y="1783080"/>
            <a:ext cx="402336" cy="402336"/>
          </a:xfrm>
          <a:prstGeom prst="ellipse">
            <a:avLst/>
          </a:prstGeom>
          <a:solidFill>
            <a:srgbClr val="A100FF"/>
          </a:solidFill>
          <a:ln/>
        </p:spPr>
        <p:txBody>
          <a:bodyPr/>
          <a:lstStyle/>
          <a:p>
            <a:endParaRPr lang="en-US"/>
          </a:p>
        </p:txBody>
      </p:sp>
      <p:pic>
        <p:nvPicPr>
          <p:cNvPr id="15" name="Image 1" descr="preencoded.png"/>
          <p:cNvPicPr>
            <a:picLocks noChangeAspect="1"/>
          </p:cNvPicPr>
          <p:nvPr/>
        </p:nvPicPr>
        <p:blipFill>
          <a:blip r:embed="rId5"/>
          <a:stretch>
            <a:fillRect/>
          </a:stretch>
        </p:blipFill>
        <p:spPr>
          <a:xfrm>
            <a:off x="6089904" y="1883664"/>
            <a:ext cx="201168" cy="201168"/>
          </a:xfrm>
          <a:prstGeom prst="rect">
            <a:avLst/>
          </a:prstGeom>
        </p:spPr>
      </p:pic>
      <p:sp>
        <p:nvSpPr>
          <p:cNvPr id="16" name="Text 12"/>
          <p:cNvSpPr/>
          <p:nvPr/>
        </p:nvSpPr>
        <p:spPr>
          <a:xfrm>
            <a:off x="6519672" y="1600200"/>
            <a:ext cx="2057400" cy="932688"/>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React Frontend</a:t>
            </a:r>
            <a:endParaRPr lang="en-US" sz="1250" dirty="0"/>
          </a:p>
          <a:p>
            <a:pPr marL="0" indent="0">
              <a:lnSpc>
                <a:spcPct val="100000"/>
              </a:lnSpc>
              <a:buNone/>
            </a:pPr>
            <a:r>
              <a:rPr lang="en-US" sz="1000" dirty="0">
                <a:solidFill>
                  <a:srgbClr val="5A5568"/>
                </a:solidFill>
                <a:latin typeface="Calibri" pitchFamily="34" charset="0"/>
                <a:ea typeface="Calibri" pitchFamily="34" charset="-122"/>
                <a:cs typeface="Calibri" pitchFamily="34" charset="-120"/>
              </a:rPr>
              <a:t>Responsive chat UI &amp; theming</a:t>
            </a:r>
            <a:endParaRPr lang="en-US" sz="1250" dirty="0"/>
          </a:p>
        </p:txBody>
      </p:sp>
      <p:sp>
        <p:nvSpPr>
          <p:cNvPr id="17" name="Shape 13"/>
          <p:cNvSpPr/>
          <p:nvPr/>
        </p:nvSpPr>
        <p:spPr>
          <a:xfrm>
            <a:off x="8869680" y="1600200"/>
            <a:ext cx="2880360" cy="932688"/>
          </a:xfrm>
          <a:prstGeom prst="roundRect">
            <a:avLst>
              <a:gd name="adj" fmla="val 588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8" name="Shape 14"/>
          <p:cNvSpPr/>
          <p:nvPr/>
        </p:nvSpPr>
        <p:spPr>
          <a:xfrm>
            <a:off x="9052560" y="1783080"/>
            <a:ext cx="402336" cy="402336"/>
          </a:xfrm>
          <a:prstGeom prst="ellipse">
            <a:avLst/>
          </a:prstGeom>
          <a:solidFill>
            <a:srgbClr val="1D4ED8"/>
          </a:solidFill>
          <a:ln/>
        </p:spPr>
        <p:txBody>
          <a:bodyPr/>
          <a:lstStyle/>
          <a:p>
            <a:endParaRPr lang="en-US"/>
          </a:p>
        </p:txBody>
      </p:sp>
      <p:pic>
        <p:nvPicPr>
          <p:cNvPr id="19" name="Image 2" descr="preencoded.png"/>
          <p:cNvPicPr>
            <a:picLocks noChangeAspect="1"/>
          </p:cNvPicPr>
          <p:nvPr/>
        </p:nvPicPr>
        <p:blipFill>
          <a:blip r:embed="rId6"/>
          <a:stretch>
            <a:fillRect/>
          </a:stretch>
        </p:blipFill>
        <p:spPr>
          <a:xfrm>
            <a:off x="9153144" y="1883664"/>
            <a:ext cx="201168" cy="201168"/>
          </a:xfrm>
          <a:prstGeom prst="rect">
            <a:avLst/>
          </a:prstGeom>
        </p:spPr>
      </p:pic>
      <p:sp>
        <p:nvSpPr>
          <p:cNvPr id="20" name="Text 15"/>
          <p:cNvSpPr/>
          <p:nvPr/>
        </p:nvSpPr>
        <p:spPr>
          <a:xfrm>
            <a:off x="9582912" y="1600200"/>
            <a:ext cx="2057400" cy="932688"/>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FastAPI Backend</a:t>
            </a:r>
            <a:endParaRPr lang="en-US" sz="1250" dirty="0"/>
          </a:p>
          <a:p>
            <a:pPr marL="0" indent="0">
              <a:lnSpc>
                <a:spcPct val="100000"/>
              </a:lnSpc>
              <a:buNone/>
            </a:pPr>
            <a:r>
              <a:rPr lang="en-US" sz="1000" dirty="0">
                <a:solidFill>
                  <a:srgbClr val="5A5568"/>
                </a:solidFill>
                <a:latin typeface="Calibri" pitchFamily="34" charset="0"/>
                <a:ea typeface="Calibri" pitchFamily="34" charset="-122"/>
                <a:cs typeface="Calibri" pitchFamily="34" charset="-120"/>
              </a:rPr>
              <a:t>APIs, routing, orchestration</a:t>
            </a:r>
            <a:endParaRPr lang="en-US" sz="1250" dirty="0"/>
          </a:p>
        </p:txBody>
      </p:sp>
      <p:sp>
        <p:nvSpPr>
          <p:cNvPr id="21" name="Shape 16"/>
          <p:cNvSpPr/>
          <p:nvPr/>
        </p:nvSpPr>
        <p:spPr>
          <a:xfrm>
            <a:off x="5806440" y="2715768"/>
            <a:ext cx="2880360" cy="932688"/>
          </a:xfrm>
          <a:prstGeom prst="roundRect">
            <a:avLst>
              <a:gd name="adj" fmla="val 588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2" name="Shape 17"/>
          <p:cNvSpPr/>
          <p:nvPr/>
        </p:nvSpPr>
        <p:spPr>
          <a:xfrm>
            <a:off x="5989320" y="2898648"/>
            <a:ext cx="402336" cy="402336"/>
          </a:xfrm>
          <a:prstGeom prst="ellipse">
            <a:avLst/>
          </a:prstGeom>
          <a:solidFill>
            <a:srgbClr val="E6197E"/>
          </a:solidFill>
          <a:ln/>
        </p:spPr>
        <p:txBody>
          <a:bodyPr/>
          <a:lstStyle/>
          <a:p>
            <a:endParaRPr lang="en-US"/>
          </a:p>
        </p:txBody>
      </p:sp>
      <p:pic>
        <p:nvPicPr>
          <p:cNvPr id="23" name="Image 3" descr="preencoded.png"/>
          <p:cNvPicPr>
            <a:picLocks noChangeAspect="1"/>
          </p:cNvPicPr>
          <p:nvPr/>
        </p:nvPicPr>
        <p:blipFill>
          <a:blip r:embed="rId7"/>
          <a:stretch>
            <a:fillRect/>
          </a:stretch>
        </p:blipFill>
        <p:spPr>
          <a:xfrm>
            <a:off x="6089904" y="2999232"/>
            <a:ext cx="201168" cy="201168"/>
          </a:xfrm>
          <a:prstGeom prst="rect">
            <a:avLst/>
          </a:prstGeom>
        </p:spPr>
      </p:pic>
      <p:sp>
        <p:nvSpPr>
          <p:cNvPr id="24" name="Text 18"/>
          <p:cNvSpPr/>
          <p:nvPr/>
        </p:nvSpPr>
        <p:spPr>
          <a:xfrm>
            <a:off x="6519672" y="2715768"/>
            <a:ext cx="2057400" cy="932688"/>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Auth &amp; Security</a:t>
            </a:r>
            <a:endParaRPr lang="en-US" sz="1250" dirty="0"/>
          </a:p>
          <a:p>
            <a:pPr marL="0" indent="0">
              <a:lnSpc>
                <a:spcPct val="100000"/>
              </a:lnSpc>
              <a:buNone/>
            </a:pPr>
            <a:r>
              <a:rPr lang="en-US" sz="1000" dirty="0">
                <a:solidFill>
                  <a:srgbClr val="5A5568"/>
                </a:solidFill>
                <a:latin typeface="Calibri" pitchFamily="34" charset="0"/>
                <a:ea typeface="Calibri" pitchFamily="34" charset="-122"/>
                <a:cs typeface="Calibri" pitchFamily="34" charset="-120"/>
              </a:rPr>
              <a:t>JWT, hashing, protected routes</a:t>
            </a:r>
            <a:endParaRPr lang="en-US" sz="1250" dirty="0"/>
          </a:p>
        </p:txBody>
      </p:sp>
      <p:sp>
        <p:nvSpPr>
          <p:cNvPr id="25" name="Shape 19"/>
          <p:cNvSpPr/>
          <p:nvPr/>
        </p:nvSpPr>
        <p:spPr>
          <a:xfrm>
            <a:off x="8869680" y="2715768"/>
            <a:ext cx="2880360" cy="932688"/>
          </a:xfrm>
          <a:prstGeom prst="roundRect">
            <a:avLst>
              <a:gd name="adj" fmla="val 588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6" name="Shape 20"/>
          <p:cNvSpPr/>
          <p:nvPr/>
        </p:nvSpPr>
        <p:spPr>
          <a:xfrm>
            <a:off x="9052560" y="2898648"/>
            <a:ext cx="402336" cy="402336"/>
          </a:xfrm>
          <a:prstGeom prst="ellipse">
            <a:avLst/>
          </a:prstGeom>
          <a:solidFill>
            <a:srgbClr val="7500C0"/>
          </a:solidFill>
          <a:ln/>
        </p:spPr>
        <p:txBody>
          <a:bodyPr/>
          <a:lstStyle/>
          <a:p>
            <a:endParaRPr lang="en-US"/>
          </a:p>
        </p:txBody>
      </p:sp>
      <p:pic>
        <p:nvPicPr>
          <p:cNvPr id="27" name="Image 4" descr="preencoded.png"/>
          <p:cNvPicPr>
            <a:picLocks noChangeAspect="1"/>
          </p:cNvPicPr>
          <p:nvPr/>
        </p:nvPicPr>
        <p:blipFill>
          <a:blip r:embed="rId8"/>
          <a:stretch>
            <a:fillRect/>
          </a:stretch>
        </p:blipFill>
        <p:spPr>
          <a:xfrm>
            <a:off x="9153144" y="2999232"/>
            <a:ext cx="201168" cy="201168"/>
          </a:xfrm>
          <a:prstGeom prst="rect">
            <a:avLst/>
          </a:prstGeom>
        </p:spPr>
      </p:pic>
      <p:sp>
        <p:nvSpPr>
          <p:cNvPr id="28" name="Text 21"/>
          <p:cNvSpPr/>
          <p:nvPr/>
        </p:nvSpPr>
        <p:spPr>
          <a:xfrm>
            <a:off x="9582912" y="2715768"/>
            <a:ext cx="2057400" cy="932688"/>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Database Design</a:t>
            </a:r>
            <a:endParaRPr lang="en-US" sz="1250" dirty="0"/>
          </a:p>
          <a:p>
            <a:pPr marL="0" indent="0">
              <a:lnSpc>
                <a:spcPct val="100000"/>
              </a:lnSpc>
              <a:buNone/>
            </a:pPr>
            <a:r>
              <a:rPr lang="en-US" sz="1000" dirty="0">
                <a:solidFill>
                  <a:srgbClr val="5A5568"/>
                </a:solidFill>
                <a:latin typeface="Calibri" pitchFamily="34" charset="0"/>
                <a:ea typeface="Calibri" pitchFamily="34" charset="-122"/>
                <a:cs typeface="Calibri" pitchFamily="34" charset="-120"/>
              </a:rPr>
              <a:t>Users, sessions, chat history</a:t>
            </a:r>
            <a:endParaRPr lang="en-US" sz="1250" dirty="0"/>
          </a:p>
        </p:txBody>
      </p:sp>
      <p:sp>
        <p:nvSpPr>
          <p:cNvPr id="29" name="Shape 22"/>
          <p:cNvSpPr/>
          <p:nvPr/>
        </p:nvSpPr>
        <p:spPr>
          <a:xfrm>
            <a:off x="5806440" y="3831336"/>
            <a:ext cx="2880360" cy="932688"/>
          </a:xfrm>
          <a:prstGeom prst="roundRect">
            <a:avLst>
              <a:gd name="adj" fmla="val 588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0" name="Shape 23"/>
          <p:cNvSpPr/>
          <p:nvPr/>
        </p:nvSpPr>
        <p:spPr>
          <a:xfrm>
            <a:off x="5989320" y="4014216"/>
            <a:ext cx="402336" cy="402336"/>
          </a:xfrm>
          <a:prstGeom prst="ellipse">
            <a:avLst/>
          </a:prstGeom>
          <a:solidFill>
            <a:srgbClr val="A100FF"/>
          </a:solidFill>
          <a:ln/>
        </p:spPr>
        <p:txBody>
          <a:bodyPr/>
          <a:lstStyle/>
          <a:p>
            <a:endParaRPr lang="en-US"/>
          </a:p>
        </p:txBody>
      </p:sp>
      <p:pic>
        <p:nvPicPr>
          <p:cNvPr id="31" name="Image 5" descr="preencoded.png"/>
          <p:cNvPicPr>
            <a:picLocks noChangeAspect="1"/>
          </p:cNvPicPr>
          <p:nvPr/>
        </p:nvPicPr>
        <p:blipFill>
          <a:blip r:embed="rId9"/>
          <a:stretch>
            <a:fillRect/>
          </a:stretch>
        </p:blipFill>
        <p:spPr>
          <a:xfrm>
            <a:off x="6089904" y="4114800"/>
            <a:ext cx="201168" cy="201168"/>
          </a:xfrm>
          <a:prstGeom prst="rect">
            <a:avLst/>
          </a:prstGeom>
        </p:spPr>
      </p:pic>
      <p:sp>
        <p:nvSpPr>
          <p:cNvPr id="32" name="Text 24"/>
          <p:cNvSpPr/>
          <p:nvPr/>
        </p:nvSpPr>
        <p:spPr>
          <a:xfrm>
            <a:off x="6519672" y="3831336"/>
            <a:ext cx="2057400" cy="932688"/>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AI Integration</a:t>
            </a:r>
            <a:endParaRPr lang="en-US" sz="1250" dirty="0"/>
          </a:p>
          <a:p>
            <a:pPr marL="0" indent="0">
              <a:lnSpc>
                <a:spcPct val="100000"/>
              </a:lnSpc>
              <a:buNone/>
            </a:pPr>
            <a:r>
              <a:rPr lang="en-US" sz="1000" dirty="0">
                <a:solidFill>
                  <a:srgbClr val="5A5568"/>
                </a:solidFill>
                <a:latin typeface="Calibri" pitchFamily="34" charset="0"/>
                <a:ea typeface="Calibri" pitchFamily="34" charset="-122"/>
                <a:cs typeface="Calibri" pitchFamily="34" charset="-120"/>
              </a:rPr>
              <a:t>RAG pipeline &amp; LLM calls</a:t>
            </a:r>
            <a:endParaRPr lang="en-US" sz="1250" dirty="0"/>
          </a:p>
        </p:txBody>
      </p:sp>
      <p:sp>
        <p:nvSpPr>
          <p:cNvPr id="33" name="Shape 25"/>
          <p:cNvSpPr/>
          <p:nvPr/>
        </p:nvSpPr>
        <p:spPr>
          <a:xfrm>
            <a:off x="8869680" y="3831336"/>
            <a:ext cx="2880360" cy="932688"/>
          </a:xfrm>
          <a:prstGeom prst="roundRect">
            <a:avLst>
              <a:gd name="adj" fmla="val 588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4" name="Shape 26"/>
          <p:cNvSpPr/>
          <p:nvPr/>
        </p:nvSpPr>
        <p:spPr>
          <a:xfrm>
            <a:off x="9052560" y="4014216"/>
            <a:ext cx="402336" cy="402336"/>
          </a:xfrm>
          <a:prstGeom prst="ellipse">
            <a:avLst/>
          </a:prstGeom>
          <a:solidFill>
            <a:srgbClr val="1D4ED8"/>
          </a:solidFill>
          <a:ln/>
        </p:spPr>
        <p:txBody>
          <a:bodyPr/>
          <a:lstStyle/>
          <a:p>
            <a:endParaRPr lang="en-US"/>
          </a:p>
        </p:txBody>
      </p:sp>
      <p:pic>
        <p:nvPicPr>
          <p:cNvPr id="35" name="Image 6" descr="preencoded.png"/>
          <p:cNvPicPr>
            <a:picLocks noChangeAspect="1"/>
          </p:cNvPicPr>
          <p:nvPr/>
        </p:nvPicPr>
        <p:blipFill>
          <a:blip r:embed="rId10"/>
          <a:stretch>
            <a:fillRect/>
          </a:stretch>
        </p:blipFill>
        <p:spPr>
          <a:xfrm>
            <a:off x="9153144" y="4114800"/>
            <a:ext cx="201168" cy="201168"/>
          </a:xfrm>
          <a:prstGeom prst="rect">
            <a:avLst/>
          </a:prstGeom>
        </p:spPr>
      </p:pic>
      <p:sp>
        <p:nvSpPr>
          <p:cNvPr id="36" name="Text 27"/>
          <p:cNvSpPr/>
          <p:nvPr/>
        </p:nvSpPr>
        <p:spPr>
          <a:xfrm>
            <a:off x="9582912" y="3831336"/>
            <a:ext cx="2057400" cy="932688"/>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Knowledge Base</a:t>
            </a:r>
            <a:endParaRPr lang="en-US" sz="1250" dirty="0"/>
          </a:p>
          <a:p>
            <a:pPr marL="0" indent="0">
              <a:lnSpc>
                <a:spcPct val="100000"/>
              </a:lnSpc>
              <a:buNone/>
            </a:pPr>
            <a:r>
              <a:rPr lang="en-US" sz="1000" dirty="0">
                <a:solidFill>
                  <a:srgbClr val="5A5568"/>
                </a:solidFill>
                <a:latin typeface="Calibri" pitchFamily="34" charset="0"/>
                <a:ea typeface="Calibri" pitchFamily="34" charset="-122"/>
                <a:cs typeface="Calibri" pitchFamily="34" charset="-120"/>
              </a:rPr>
              <a:t>Document ingestion &amp; storage</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2000" advTm="68413"/>
    </mc:Choice>
    <mc:Fallback>
      <p:transition spd="slow" advTm="6841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THE BUSINESS PROBLEM</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The Challenge</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03</a:t>
            </a:r>
            <a:endParaRPr lang="en-US" sz="1000" dirty="0"/>
          </a:p>
        </p:txBody>
      </p:sp>
      <p:sp>
        <p:nvSpPr>
          <p:cNvPr id="6" name="Text 4"/>
          <p:cNvSpPr/>
          <p:nvPr/>
        </p:nvSpPr>
        <p:spPr>
          <a:xfrm>
            <a:off x="685800" y="1554480"/>
            <a:ext cx="5760720" cy="640080"/>
          </a:xfrm>
          <a:prstGeom prst="rect">
            <a:avLst/>
          </a:prstGeom>
          <a:noFill/>
          <a:ln/>
        </p:spPr>
        <p:txBody>
          <a:bodyPr wrap="square" lIns="0" tIns="0" rIns="0" bIns="0" rtlCol="0" anchor="ctr"/>
          <a:lstStyle/>
          <a:p>
            <a:pPr marL="0" indent="0">
              <a:lnSpc>
                <a:spcPct val="110000"/>
              </a:lnSpc>
              <a:buNone/>
            </a:pPr>
            <a:r>
              <a:rPr lang="en-US" sz="1350" dirty="0">
                <a:solidFill>
                  <a:srgbClr val="5A5568"/>
                </a:solidFill>
                <a:latin typeface="Calibri" pitchFamily="34" charset="0"/>
                <a:ea typeface="Calibri" pitchFamily="34" charset="-122"/>
                <a:cs typeface="Calibri" pitchFamily="34" charset="-120"/>
              </a:rPr>
              <a:t>A new employee joins and immediately has a wave of everyday questions — but the answers are locked inside long, static documents:</a:t>
            </a:r>
            <a:endParaRPr lang="en-US" sz="1350" dirty="0"/>
          </a:p>
        </p:txBody>
      </p:sp>
      <p:sp>
        <p:nvSpPr>
          <p:cNvPr id="7" name="Shape 5"/>
          <p:cNvSpPr/>
          <p:nvPr/>
        </p:nvSpPr>
        <p:spPr>
          <a:xfrm>
            <a:off x="685800" y="2286000"/>
            <a:ext cx="2788920" cy="658368"/>
          </a:xfrm>
          <a:prstGeom prst="roundRect">
            <a:avLst>
              <a:gd name="adj" fmla="val 8333"/>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822960" y="2432304"/>
            <a:ext cx="365760" cy="365760"/>
          </a:xfrm>
          <a:prstGeom prst="ellipse">
            <a:avLst/>
          </a:prstGeom>
          <a:solidFill>
            <a:srgbClr val="A100FF"/>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914400" y="2523744"/>
            <a:ext cx="182880" cy="182880"/>
          </a:xfrm>
          <a:prstGeom prst="rect">
            <a:avLst/>
          </a:prstGeom>
        </p:spPr>
      </p:pic>
      <p:sp>
        <p:nvSpPr>
          <p:cNvPr id="10" name="Text 7"/>
          <p:cNvSpPr/>
          <p:nvPr/>
        </p:nvSpPr>
        <p:spPr>
          <a:xfrm>
            <a:off x="1280160" y="2286000"/>
            <a:ext cx="2103120" cy="658368"/>
          </a:xfrm>
          <a:prstGeom prst="rect">
            <a:avLst/>
          </a:prstGeom>
          <a:noFill/>
          <a:ln/>
        </p:spPr>
        <p:txBody>
          <a:bodyPr wrap="square" lIns="0" tIns="0" rIns="0" bIns="0" rtlCol="0" anchor="ctr"/>
          <a:lstStyle/>
          <a:p>
            <a:pPr marL="0" indent="0">
              <a:buNone/>
            </a:pPr>
            <a:r>
              <a:rPr lang="en-US" sz="1250" dirty="0">
                <a:solidFill>
                  <a:srgbClr val="1A1526"/>
                </a:solidFill>
                <a:latin typeface="Calibri" pitchFamily="34" charset="0"/>
                <a:ea typeface="Calibri" pitchFamily="34" charset="-122"/>
                <a:cs typeface="Calibri" pitchFamily="34" charset="-120"/>
              </a:rPr>
              <a:t>Leave policies</a:t>
            </a:r>
            <a:endParaRPr lang="en-US" sz="1250" dirty="0"/>
          </a:p>
        </p:txBody>
      </p:sp>
      <p:sp>
        <p:nvSpPr>
          <p:cNvPr id="11" name="Shape 8"/>
          <p:cNvSpPr/>
          <p:nvPr/>
        </p:nvSpPr>
        <p:spPr>
          <a:xfrm>
            <a:off x="3639312" y="2286000"/>
            <a:ext cx="2788920" cy="658368"/>
          </a:xfrm>
          <a:prstGeom prst="roundRect">
            <a:avLst>
              <a:gd name="adj" fmla="val 8333"/>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2" name="Shape 9"/>
          <p:cNvSpPr/>
          <p:nvPr/>
        </p:nvSpPr>
        <p:spPr>
          <a:xfrm>
            <a:off x="3776472" y="2432304"/>
            <a:ext cx="365760" cy="365760"/>
          </a:xfrm>
          <a:prstGeom prst="ellipse">
            <a:avLst/>
          </a:prstGeom>
          <a:solidFill>
            <a:srgbClr val="A100FF"/>
          </a:solidFill>
          <a:ln/>
        </p:spPr>
        <p:txBody>
          <a:bodyPr/>
          <a:lstStyle/>
          <a:p>
            <a:endParaRPr lang="en-US"/>
          </a:p>
        </p:txBody>
      </p:sp>
      <p:pic>
        <p:nvPicPr>
          <p:cNvPr id="13" name="Image 1" descr="preencoded.png"/>
          <p:cNvPicPr>
            <a:picLocks noChangeAspect="1"/>
          </p:cNvPicPr>
          <p:nvPr/>
        </p:nvPicPr>
        <p:blipFill>
          <a:blip r:embed="rId5"/>
          <a:stretch>
            <a:fillRect/>
          </a:stretch>
        </p:blipFill>
        <p:spPr>
          <a:xfrm>
            <a:off x="3867912" y="2523744"/>
            <a:ext cx="182880" cy="182880"/>
          </a:xfrm>
          <a:prstGeom prst="rect">
            <a:avLst/>
          </a:prstGeom>
        </p:spPr>
      </p:pic>
      <p:sp>
        <p:nvSpPr>
          <p:cNvPr id="14" name="Text 10"/>
          <p:cNvSpPr/>
          <p:nvPr/>
        </p:nvSpPr>
        <p:spPr>
          <a:xfrm>
            <a:off x="4233672" y="2286000"/>
            <a:ext cx="2103120" cy="658368"/>
          </a:xfrm>
          <a:prstGeom prst="rect">
            <a:avLst/>
          </a:prstGeom>
          <a:noFill/>
          <a:ln/>
        </p:spPr>
        <p:txBody>
          <a:bodyPr wrap="square" lIns="0" tIns="0" rIns="0" bIns="0" rtlCol="0" anchor="ctr"/>
          <a:lstStyle/>
          <a:p>
            <a:pPr marL="0" indent="0">
              <a:buNone/>
            </a:pPr>
            <a:r>
              <a:rPr lang="en-US" sz="1250" dirty="0">
                <a:solidFill>
                  <a:srgbClr val="1A1526"/>
                </a:solidFill>
                <a:latin typeface="Calibri" pitchFamily="34" charset="0"/>
                <a:ea typeface="Calibri" pitchFamily="34" charset="-122"/>
                <a:cs typeface="Calibri" pitchFamily="34" charset="-120"/>
              </a:rPr>
              <a:t>PF contributions</a:t>
            </a:r>
            <a:endParaRPr lang="en-US" sz="1250" dirty="0"/>
          </a:p>
        </p:txBody>
      </p:sp>
      <p:sp>
        <p:nvSpPr>
          <p:cNvPr id="15" name="Shape 11"/>
          <p:cNvSpPr/>
          <p:nvPr/>
        </p:nvSpPr>
        <p:spPr>
          <a:xfrm>
            <a:off x="685800" y="3108960"/>
            <a:ext cx="2788920" cy="658368"/>
          </a:xfrm>
          <a:prstGeom prst="roundRect">
            <a:avLst>
              <a:gd name="adj" fmla="val 8333"/>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6" name="Shape 12"/>
          <p:cNvSpPr/>
          <p:nvPr/>
        </p:nvSpPr>
        <p:spPr>
          <a:xfrm>
            <a:off x="822960" y="3255264"/>
            <a:ext cx="365760" cy="365760"/>
          </a:xfrm>
          <a:prstGeom prst="ellipse">
            <a:avLst/>
          </a:prstGeom>
          <a:solidFill>
            <a:srgbClr val="A100FF"/>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914400" y="3346704"/>
            <a:ext cx="182880" cy="182880"/>
          </a:xfrm>
          <a:prstGeom prst="rect">
            <a:avLst/>
          </a:prstGeom>
        </p:spPr>
      </p:pic>
      <p:sp>
        <p:nvSpPr>
          <p:cNvPr id="18" name="Text 13"/>
          <p:cNvSpPr/>
          <p:nvPr/>
        </p:nvSpPr>
        <p:spPr>
          <a:xfrm>
            <a:off x="1280160" y="3108960"/>
            <a:ext cx="2103120" cy="658368"/>
          </a:xfrm>
          <a:prstGeom prst="rect">
            <a:avLst/>
          </a:prstGeom>
          <a:noFill/>
          <a:ln/>
        </p:spPr>
        <p:txBody>
          <a:bodyPr wrap="square" lIns="0" tIns="0" rIns="0" bIns="0" rtlCol="0" anchor="ctr"/>
          <a:lstStyle/>
          <a:p>
            <a:pPr marL="0" indent="0">
              <a:buNone/>
            </a:pPr>
            <a:r>
              <a:rPr lang="en-US" sz="1250" dirty="0">
                <a:solidFill>
                  <a:srgbClr val="1A1526"/>
                </a:solidFill>
                <a:latin typeface="Calibri" pitchFamily="34" charset="0"/>
                <a:ea typeface="Calibri" pitchFamily="34" charset="-122"/>
                <a:cs typeface="Calibri" pitchFamily="34" charset="-120"/>
              </a:rPr>
              <a:t>Employee benefits</a:t>
            </a:r>
            <a:endParaRPr lang="en-US" sz="1250" dirty="0"/>
          </a:p>
        </p:txBody>
      </p:sp>
      <p:sp>
        <p:nvSpPr>
          <p:cNvPr id="19" name="Shape 14"/>
          <p:cNvSpPr/>
          <p:nvPr/>
        </p:nvSpPr>
        <p:spPr>
          <a:xfrm>
            <a:off x="3639312" y="3108960"/>
            <a:ext cx="2788920" cy="658368"/>
          </a:xfrm>
          <a:prstGeom prst="roundRect">
            <a:avLst>
              <a:gd name="adj" fmla="val 8333"/>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0" name="Shape 15"/>
          <p:cNvSpPr/>
          <p:nvPr/>
        </p:nvSpPr>
        <p:spPr>
          <a:xfrm>
            <a:off x="3776472" y="3255264"/>
            <a:ext cx="365760" cy="365760"/>
          </a:xfrm>
          <a:prstGeom prst="ellipse">
            <a:avLst/>
          </a:prstGeom>
          <a:solidFill>
            <a:srgbClr val="A100FF"/>
          </a:solidFill>
          <a:ln/>
        </p:spPr>
        <p:txBody>
          <a:bodyPr/>
          <a:lstStyle/>
          <a:p>
            <a:endParaRPr lang="en-US"/>
          </a:p>
        </p:txBody>
      </p:sp>
      <p:pic>
        <p:nvPicPr>
          <p:cNvPr id="21" name="Image 3" descr="preencoded.png"/>
          <p:cNvPicPr>
            <a:picLocks noChangeAspect="1"/>
          </p:cNvPicPr>
          <p:nvPr/>
        </p:nvPicPr>
        <p:blipFill>
          <a:blip r:embed="rId7"/>
          <a:stretch>
            <a:fillRect/>
          </a:stretch>
        </p:blipFill>
        <p:spPr>
          <a:xfrm>
            <a:off x="3867912" y="3346704"/>
            <a:ext cx="182880" cy="182880"/>
          </a:xfrm>
          <a:prstGeom prst="rect">
            <a:avLst/>
          </a:prstGeom>
        </p:spPr>
      </p:pic>
      <p:sp>
        <p:nvSpPr>
          <p:cNvPr id="22" name="Text 16"/>
          <p:cNvSpPr/>
          <p:nvPr/>
        </p:nvSpPr>
        <p:spPr>
          <a:xfrm>
            <a:off x="4233672" y="3108960"/>
            <a:ext cx="2103120" cy="658368"/>
          </a:xfrm>
          <a:prstGeom prst="rect">
            <a:avLst/>
          </a:prstGeom>
          <a:noFill/>
          <a:ln/>
        </p:spPr>
        <p:txBody>
          <a:bodyPr wrap="square" lIns="0" tIns="0" rIns="0" bIns="0" rtlCol="0" anchor="ctr"/>
          <a:lstStyle/>
          <a:p>
            <a:pPr marL="0" indent="0">
              <a:buNone/>
            </a:pPr>
            <a:r>
              <a:rPr lang="en-US" sz="1250" dirty="0">
                <a:solidFill>
                  <a:srgbClr val="1A1526"/>
                </a:solidFill>
                <a:latin typeface="Calibri" pitchFamily="34" charset="0"/>
                <a:ea typeface="Calibri" pitchFamily="34" charset="-122"/>
                <a:cs typeface="Calibri" pitchFamily="34" charset="-120"/>
              </a:rPr>
              <a:t>Reimbursements</a:t>
            </a:r>
            <a:endParaRPr lang="en-US" sz="1250" dirty="0"/>
          </a:p>
        </p:txBody>
      </p:sp>
      <p:sp>
        <p:nvSpPr>
          <p:cNvPr id="23" name="Shape 17"/>
          <p:cNvSpPr/>
          <p:nvPr/>
        </p:nvSpPr>
        <p:spPr>
          <a:xfrm>
            <a:off x="685800" y="3931920"/>
            <a:ext cx="2788920" cy="658368"/>
          </a:xfrm>
          <a:prstGeom prst="roundRect">
            <a:avLst>
              <a:gd name="adj" fmla="val 8333"/>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4" name="Shape 18"/>
          <p:cNvSpPr/>
          <p:nvPr/>
        </p:nvSpPr>
        <p:spPr>
          <a:xfrm>
            <a:off x="822960" y="4078224"/>
            <a:ext cx="365760" cy="365760"/>
          </a:xfrm>
          <a:prstGeom prst="ellipse">
            <a:avLst/>
          </a:prstGeom>
          <a:solidFill>
            <a:srgbClr val="A100FF"/>
          </a:solidFill>
          <a:ln/>
        </p:spPr>
        <p:txBody>
          <a:bodyPr/>
          <a:lstStyle/>
          <a:p>
            <a:endParaRPr lang="en-US"/>
          </a:p>
        </p:txBody>
      </p:sp>
      <p:pic>
        <p:nvPicPr>
          <p:cNvPr id="25" name="Image 4" descr="preencoded.png"/>
          <p:cNvPicPr>
            <a:picLocks noChangeAspect="1"/>
          </p:cNvPicPr>
          <p:nvPr/>
        </p:nvPicPr>
        <p:blipFill>
          <a:blip r:embed="rId8"/>
          <a:stretch>
            <a:fillRect/>
          </a:stretch>
        </p:blipFill>
        <p:spPr>
          <a:xfrm>
            <a:off x="914400" y="4169664"/>
            <a:ext cx="182880" cy="182880"/>
          </a:xfrm>
          <a:prstGeom prst="rect">
            <a:avLst/>
          </a:prstGeom>
        </p:spPr>
      </p:pic>
      <p:sp>
        <p:nvSpPr>
          <p:cNvPr id="26" name="Text 19"/>
          <p:cNvSpPr/>
          <p:nvPr/>
        </p:nvSpPr>
        <p:spPr>
          <a:xfrm>
            <a:off x="1280160" y="3931920"/>
            <a:ext cx="2103120" cy="658368"/>
          </a:xfrm>
          <a:prstGeom prst="rect">
            <a:avLst/>
          </a:prstGeom>
          <a:noFill/>
          <a:ln/>
        </p:spPr>
        <p:txBody>
          <a:bodyPr wrap="square" lIns="0" tIns="0" rIns="0" bIns="0" rtlCol="0" anchor="ctr"/>
          <a:lstStyle/>
          <a:p>
            <a:pPr marL="0" indent="0">
              <a:buNone/>
            </a:pPr>
            <a:r>
              <a:rPr lang="en-US" sz="1250" dirty="0">
                <a:solidFill>
                  <a:srgbClr val="1A1526"/>
                </a:solidFill>
                <a:latin typeface="Calibri" pitchFamily="34" charset="0"/>
                <a:ea typeface="Calibri" pitchFamily="34" charset="-122"/>
                <a:cs typeface="Calibri" pitchFamily="34" charset="-120"/>
              </a:rPr>
              <a:t>E-signature process</a:t>
            </a:r>
            <a:endParaRPr lang="en-US" sz="1250" dirty="0"/>
          </a:p>
        </p:txBody>
      </p:sp>
      <p:sp>
        <p:nvSpPr>
          <p:cNvPr id="27" name="Shape 20"/>
          <p:cNvSpPr/>
          <p:nvPr/>
        </p:nvSpPr>
        <p:spPr>
          <a:xfrm>
            <a:off x="3639312" y="3931920"/>
            <a:ext cx="2788920" cy="658368"/>
          </a:xfrm>
          <a:prstGeom prst="roundRect">
            <a:avLst>
              <a:gd name="adj" fmla="val 8333"/>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8" name="Shape 21"/>
          <p:cNvSpPr/>
          <p:nvPr/>
        </p:nvSpPr>
        <p:spPr>
          <a:xfrm>
            <a:off x="3776472" y="4078224"/>
            <a:ext cx="365760" cy="365760"/>
          </a:xfrm>
          <a:prstGeom prst="ellipse">
            <a:avLst/>
          </a:prstGeom>
          <a:solidFill>
            <a:srgbClr val="A100FF"/>
          </a:solidFill>
          <a:ln/>
        </p:spPr>
        <p:txBody>
          <a:bodyPr/>
          <a:lstStyle/>
          <a:p>
            <a:endParaRPr lang="en-US"/>
          </a:p>
        </p:txBody>
      </p:sp>
      <p:pic>
        <p:nvPicPr>
          <p:cNvPr id="29" name="Image 5" descr="preencoded.png"/>
          <p:cNvPicPr>
            <a:picLocks noChangeAspect="1"/>
          </p:cNvPicPr>
          <p:nvPr/>
        </p:nvPicPr>
        <p:blipFill>
          <a:blip r:embed="rId9"/>
          <a:stretch>
            <a:fillRect/>
          </a:stretch>
        </p:blipFill>
        <p:spPr>
          <a:xfrm>
            <a:off x="3867912" y="4169664"/>
            <a:ext cx="182880" cy="182880"/>
          </a:xfrm>
          <a:prstGeom prst="rect">
            <a:avLst/>
          </a:prstGeom>
        </p:spPr>
      </p:pic>
      <p:sp>
        <p:nvSpPr>
          <p:cNvPr id="30" name="Text 22"/>
          <p:cNvSpPr/>
          <p:nvPr/>
        </p:nvSpPr>
        <p:spPr>
          <a:xfrm>
            <a:off x="4233672" y="3931920"/>
            <a:ext cx="2103120" cy="658368"/>
          </a:xfrm>
          <a:prstGeom prst="rect">
            <a:avLst/>
          </a:prstGeom>
          <a:noFill/>
          <a:ln/>
        </p:spPr>
        <p:txBody>
          <a:bodyPr wrap="square" lIns="0" tIns="0" rIns="0" bIns="0" rtlCol="0" anchor="ctr"/>
          <a:lstStyle/>
          <a:p>
            <a:pPr marL="0" indent="0">
              <a:buNone/>
            </a:pPr>
            <a:r>
              <a:rPr lang="en-US" sz="1250" dirty="0">
                <a:solidFill>
                  <a:srgbClr val="1A1526"/>
                </a:solidFill>
                <a:latin typeface="Calibri" pitchFamily="34" charset="0"/>
                <a:ea typeface="Calibri" pitchFamily="34" charset="-122"/>
                <a:cs typeface="Calibri" pitchFamily="34" charset="-120"/>
              </a:rPr>
              <a:t>HR guidelines</a:t>
            </a:r>
            <a:endParaRPr lang="en-US" sz="1250" dirty="0"/>
          </a:p>
        </p:txBody>
      </p:sp>
      <p:sp>
        <p:nvSpPr>
          <p:cNvPr id="31" name="Text 23"/>
          <p:cNvSpPr/>
          <p:nvPr/>
        </p:nvSpPr>
        <p:spPr>
          <a:xfrm>
            <a:off x="6720840" y="1554480"/>
            <a:ext cx="2651760" cy="274320"/>
          </a:xfrm>
          <a:prstGeom prst="rect">
            <a:avLst/>
          </a:prstGeom>
          <a:noFill/>
          <a:ln/>
        </p:spPr>
        <p:txBody>
          <a:bodyPr wrap="square" lIns="0" tIns="0" rIns="0" bIns="0" rtlCol="0" anchor="ctr"/>
          <a:lstStyle/>
          <a:p>
            <a:pPr marL="0" indent="0">
              <a:buNone/>
            </a:pPr>
            <a:r>
              <a:rPr lang="en-US" sz="1100" b="1" kern="0" spc="200" dirty="0">
                <a:solidFill>
                  <a:srgbClr val="E6197E"/>
                </a:solidFill>
                <a:latin typeface="Arial" pitchFamily="34" charset="0"/>
                <a:ea typeface="Arial" pitchFamily="34" charset="-122"/>
                <a:cs typeface="Arial" pitchFamily="34" charset="-120"/>
              </a:rPr>
              <a:t>TODAY'S PROCESS</a:t>
            </a:r>
            <a:endParaRPr lang="en-US" sz="1100" dirty="0"/>
          </a:p>
        </p:txBody>
      </p:sp>
      <p:sp>
        <p:nvSpPr>
          <p:cNvPr id="32" name="Shape 24"/>
          <p:cNvSpPr/>
          <p:nvPr/>
        </p:nvSpPr>
        <p:spPr>
          <a:xfrm>
            <a:off x="6720840" y="1920240"/>
            <a:ext cx="2651760" cy="548640"/>
          </a:xfrm>
          <a:prstGeom prst="roundRect">
            <a:avLst>
              <a:gd name="adj" fmla="val 10000"/>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3" name="Text 25"/>
          <p:cNvSpPr/>
          <p:nvPr/>
        </p:nvSpPr>
        <p:spPr>
          <a:xfrm>
            <a:off x="6720840" y="1920240"/>
            <a:ext cx="2651760" cy="548640"/>
          </a:xfrm>
          <a:prstGeom prst="rect">
            <a:avLst/>
          </a:prstGeom>
          <a:noFill/>
          <a:ln/>
        </p:spPr>
        <p:txBody>
          <a:bodyPr wrap="square" lIns="0" tIns="0" rIns="0" bIns="0" rtlCol="0" anchor="ctr"/>
          <a:lstStyle/>
          <a:p>
            <a:pPr marL="0" indent="0" algn="ctr">
              <a:buNone/>
            </a:pPr>
            <a:r>
              <a:rPr lang="en-US" sz="1250" dirty="0">
                <a:solidFill>
                  <a:srgbClr val="1A1526"/>
                </a:solidFill>
                <a:latin typeface="Calibri" pitchFamily="34" charset="0"/>
                <a:ea typeface="Calibri" pitchFamily="34" charset="-122"/>
                <a:cs typeface="Calibri" pitchFamily="34" charset="-120"/>
              </a:rPr>
              <a:t>Search lengthy PDFs</a:t>
            </a:r>
            <a:endParaRPr lang="en-US" sz="1250" dirty="0"/>
          </a:p>
        </p:txBody>
      </p:sp>
      <p:pic>
        <p:nvPicPr>
          <p:cNvPr id="34" name="Image 6" descr="preencoded.png"/>
          <p:cNvPicPr>
            <a:picLocks noChangeAspect="1"/>
          </p:cNvPicPr>
          <p:nvPr/>
        </p:nvPicPr>
        <p:blipFill>
          <a:blip r:embed="rId10"/>
          <a:stretch>
            <a:fillRect/>
          </a:stretch>
        </p:blipFill>
        <p:spPr>
          <a:xfrm>
            <a:off x="7927848" y="2487168"/>
            <a:ext cx="237744" cy="237744"/>
          </a:xfrm>
          <a:prstGeom prst="rect">
            <a:avLst/>
          </a:prstGeom>
        </p:spPr>
      </p:pic>
      <p:sp>
        <p:nvSpPr>
          <p:cNvPr id="35" name="Shape 26"/>
          <p:cNvSpPr/>
          <p:nvPr/>
        </p:nvSpPr>
        <p:spPr>
          <a:xfrm>
            <a:off x="6720840" y="2798064"/>
            <a:ext cx="2651760" cy="548640"/>
          </a:xfrm>
          <a:prstGeom prst="roundRect">
            <a:avLst>
              <a:gd name="adj" fmla="val 10000"/>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6" name="Text 27"/>
          <p:cNvSpPr/>
          <p:nvPr/>
        </p:nvSpPr>
        <p:spPr>
          <a:xfrm>
            <a:off x="6720840" y="2798064"/>
            <a:ext cx="2651760" cy="548640"/>
          </a:xfrm>
          <a:prstGeom prst="rect">
            <a:avLst/>
          </a:prstGeom>
          <a:noFill/>
          <a:ln/>
        </p:spPr>
        <p:txBody>
          <a:bodyPr wrap="square" lIns="0" tIns="0" rIns="0" bIns="0" rtlCol="0" anchor="ctr"/>
          <a:lstStyle/>
          <a:p>
            <a:pPr marL="0" indent="0" algn="ctr">
              <a:buNone/>
            </a:pPr>
            <a:r>
              <a:rPr lang="en-US" sz="1250" dirty="0">
                <a:solidFill>
                  <a:srgbClr val="1A1526"/>
                </a:solidFill>
                <a:latin typeface="Calibri" pitchFamily="34" charset="0"/>
                <a:ea typeface="Calibri" pitchFamily="34" charset="-122"/>
                <a:cs typeface="Calibri" pitchFamily="34" charset="-120"/>
              </a:rPr>
              <a:t>Contact HR directly</a:t>
            </a:r>
            <a:endParaRPr lang="en-US" sz="1250" dirty="0"/>
          </a:p>
        </p:txBody>
      </p:sp>
      <p:pic>
        <p:nvPicPr>
          <p:cNvPr id="37" name="Image 7" descr="preencoded.png"/>
          <p:cNvPicPr>
            <a:picLocks noChangeAspect="1"/>
          </p:cNvPicPr>
          <p:nvPr/>
        </p:nvPicPr>
        <p:blipFill>
          <a:blip r:embed="rId10"/>
          <a:stretch>
            <a:fillRect/>
          </a:stretch>
        </p:blipFill>
        <p:spPr>
          <a:xfrm>
            <a:off x="7927848" y="3364992"/>
            <a:ext cx="237744" cy="237744"/>
          </a:xfrm>
          <a:prstGeom prst="rect">
            <a:avLst/>
          </a:prstGeom>
        </p:spPr>
      </p:pic>
      <p:sp>
        <p:nvSpPr>
          <p:cNvPr id="38" name="Shape 28"/>
          <p:cNvSpPr/>
          <p:nvPr/>
        </p:nvSpPr>
        <p:spPr>
          <a:xfrm>
            <a:off x="6720840" y="3675888"/>
            <a:ext cx="2651760" cy="548640"/>
          </a:xfrm>
          <a:prstGeom prst="roundRect">
            <a:avLst>
              <a:gd name="adj" fmla="val 10000"/>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9" name="Text 29"/>
          <p:cNvSpPr/>
          <p:nvPr/>
        </p:nvSpPr>
        <p:spPr>
          <a:xfrm>
            <a:off x="6720840" y="3675888"/>
            <a:ext cx="2651760" cy="548640"/>
          </a:xfrm>
          <a:prstGeom prst="rect">
            <a:avLst/>
          </a:prstGeom>
          <a:noFill/>
          <a:ln/>
        </p:spPr>
        <p:txBody>
          <a:bodyPr wrap="square" lIns="0" tIns="0" rIns="0" bIns="0" rtlCol="0" anchor="ctr"/>
          <a:lstStyle/>
          <a:p>
            <a:pPr marL="0" indent="0" algn="ctr">
              <a:buNone/>
            </a:pPr>
            <a:r>
              <a:rPr lang="en-US" sz="1250" dirty="0">
                <a:solidFill>
                  <a:srgbClr val="1A1526"/>
                </a:solidFill>
                <a:latin typeface="Calibri" pitchFamily="34" charset="0"/>
                <a:ea typeface="Calibri" pitchFamily="34" charset="-122"/>
                <a:cs typeface="Calibri" pitchFamily="34" charset="-120"/>
              </a:rPr>
              <a:t>Wait for a response</a:t>
            </a:r>
            <a:endParaRPr lang="en-US" sz="1250" dirty="0"/>
          </a:p>
        </p:txBody>
      </p:sp>
      <p:pic>
        <p:nvPicPr>
          <p:cNvPr id="40" name="Image 8" descr="preencoded.png"/>
          <p:cNvPicPr>
            <a:picLocks noChangeAspect="1"/>
          </p:cNvPicPr>
          <p:nvPr/>
        </p:nvPicPr>
        <p:blipFill>
          <a:blip r:embed="rId10"/>
          <a:stretch>
            <a:fillRect/>
          </a:stretch>
        </p:blipFill>
        <p:spPr>
          <a:xfrm>
            <a:off x="7927848" y="4242816"/>
            <a:ext cx="237744" cy="237744"/>
          </a:xfrm>
          <a:prstGeom prst="rect">
            <a:avLst/>
          </a:prstGeom>
        </p:spPr>
      </p:pic>
      <p:sp>
        <p:nvSpPr>
          <p:cNvPr id="41" name="Shape 30"/>
          <p:cNvSpPr/>
          <p:nvPr/>
        </p:nvSpPr>
        <p:spPr>
          <a:xfrm>
            <a:off x="6720840" y="4553712"/>
            <a:ext cx="2651760" cy="548640"/>
          </a:xfrm>
          <a:prstGeom prst="roundRect">
            <a:avLst>
              <a:gd name="adj" fmla="val 10000"/>
            </a:avLst>
          </a:prstGeom>
          <a:solidFill>
            <a:srgbClr val="FCEAF3"/>
          </a:solidFill>
          <a:ln w="12700">
            <a:solidFill>
              <a:srgbClr val="E6197E"/>
            </a:solidFill>
            <a:prstDash val="solid"/>
          </a:ln>
          <a:effectLst>
            <a:outerShdw blurRad="88900" dist="25400" dir="5400000" algn="bl" rotWithShape="0">
              <a:srgbClr val="C9BEE0">
                <a:alpha val="50000"/>
              </a:srgbClr>
            </a:outerShdw>
          </a:effectLst>
        </p:spPr>
        <p:txBody>
          <a:bodyPr/>
          <a:lstStyle/>
          <a:p>
            <a:endParaRPr lang="en-US"/>
          </a:p>
        </p:txBody>
      </p:sp>
      <p:sp>
        <p:nvSpPr>
          <p:cNvPr id="42" name="Text 31"/>
          <p:cNvSpPr/>
          <p:nvPr/>
        </p:nvSpPr>
        <p:spPr>
          <a:xfrm>
            <a:off x="6720840" y="4553712"/>
            <a:ext cx="2651760" cy="548640"/>
          </a:xfrm>
          <a:prstGeom prst="rect">
            <a:avLst/>
          </a:prstGeom>
          <a:noFill/>
          <a:ln/>
        </p:spPr>
        <p:txBody>
          <a:bodyPr wrap="square" lIns="0" tIns="0" rIns="0" bIns="0" rtlCol="0" anchor="ctr"/>
          <a:lstStyle/>
          <a:p>
            <a:pPr marL="0" indent="0" algn="ctr">
              <a:buNone/>
            </a:pPr>
            <a:r>
              <a:rPr lang="en-US" sz="1250" b="1" dirty="0">
                <a:solidFill>
                  <a:srgbClr val="E6197E"/>
                </a:solidFill>
                <a:latin typeface="Calibri" pitchFamily="34" charset="0"/>
                <a:ea typeface="Calibri" pitchFamily="34" charset="-122"/>
                <a:cs typeface="Calibri" pitchFamily="34" charset="-120"/>
              </a:rPr>
              <a:t>Lost productivity</a:t>
            </a:r>
            <a:endParaRPr lang="en-US" sz="1250" dirty="0"/>
          </a:p>
        </p:txBody>
      </p:sp>
      <p:sp>
        <p:nvSpPr>
          <p:cNvPr id="43" name="Shape 32"/>
          <p:cNvSpPr/>
          <p:nvPr/>
        </p:nvSpPr>
        <p:spPr>
          <a:xfrm>
            <a:off x="9601200" y="1554480"/>
            <a:ext cx="1920240" cy="3639312"/>
          </a:xfrm>
          <a:prstGeom prst="roundRect">
            <a:avLst>
              <a:gd name="adj" fmla="val 2857"/>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44" name="Shape 33"/>
          <p:cNvSpPr/>
          <p:nvPr/>
        </p:nvSpPr>
        <p:spPr>
          <a:xfrm>
            <a:off x="10241280" y="1828800"/>
            <a:ext cx="640080" cy="640080"/>
          </a:xfrm>
          <a:prstGeom prst="ellipse">
            <a:avLst/>
          </a:prstGeom>
          <a:solidFill>
            <a:srgbClr val="A100FF"/>
          </a:solidFill>
          <a:ln/>
        </p:spPr>
        <p:txBody>
          <a:bodyPr/>
          <a:lstStyle/>
          <a:p>
            <a:endParaRPr lang="en-US"/>
          </a:p>
        </p:txBody>
      </p:sp>
      <p:pic>
        <p:nvPicPr>
          <p:cNvPr id="45" name="Image 9" descr="preencoded.png"/>
          <p:cNvPicPr>
            <a:picLocks noChangeAspect="1"/>
          </p:cNvPicPr>
          <p:nvPr/>
        </p:nvPicPr>
        <p:blipFill>
          <a:blip r:embed="rId11"/>
          <a:stretch>
            <a:fillRect/>
          </a:stretch>
        </p:blipFill>
        <p:spPr>
          <a:xfrm>
            <a:off x="10401300" y="1988820"/>
            <a:ext cx="320040" cy="320040"/>
          </a:xfrm>
          <a:prstGeom prst="rect">
            <a:avLst/>
          </a:prstGeom>
        </p:spPr>
      </p:pic>
      <p:sp>
        <p:nvSpPr>
          <p:cNvPr id="46" name="Text 34"/>
          <p:cNvSpPr/>
          <p:nvPr/>
        </p:nvSpPr>
        <p:spPr>
          <a:xfrm>
            <a:off x="9738360" y="2651760"/>
            <a:ext cx="1645920" cy="914400"/>
          </a:xfrm>
          <a:prstGeom prst="rect">
            <a:avLst/>
          </a:prstGeom>
          <a:noFill/>
          <a:ln/>
        </p:spPr>
        <p:txBody>
          <a:bodyPr wrap="square" lIns="0" tIns="0" rIns="0" bIns="0" rtlCol="0" anchor="t"/>
          <a:lstStyle/>
          <a:p>
            <a:pPr marL="0" indent="0" algn="ctr">
              <a:lnSpc>
                <a:spcPct val="105000"/>
              </a:lnSpc>
              <a:buNone/>
            </a:pPr>
            <a:r>
              <a:rPr lang="en-US" sz="1300" dirty="0">
                <a:solidFill>
                  <a:srgbClr val="CBB8EA"/>
                </a:solidFill>
                <a:latin typeface="Calibri" pitchFamily="34" charset="0"/>
                <a:ea typeface="Calibri" pitchFamily="34" charset="-122"/>
                <a:cs typeface="Calibri" pitchFamily="34" charset="-120"/>
              </a:rPr>
              <a:t>The problem isn't a lack of information.</a:t>
            </a:r>
            <a:endParaRPr lang="en-US" sz="1300" dirty="0"/>
          </a:p>
        </p:txBody>
      </p:sp>
      <p:sp>
        <p:nvSpPr>
          <p:cNvPr id="47" name="Text 35"/>
          <p:cNvSpPr/>
          <p:nvPr/>
        </p:nvSpPr>
        <p:spPr>
          <a:xfrm>
            <a:off x="9738360" y="3611880"/>
            <a:ext cx="1645920" cy="1371600"/>
          </a:xfrm>
          <a:prstGeom prst="rect">
            <a:avLst/>
          </a:prstGeom>
          <a:noFill/>
          <a:ln/>
        </p:spPr>
        <p:txBody>
          <a:bodyPr wrap="square" lIns="0" tIns="0" rIns="0" bIns="0" rtlCol="0" anchor="t"/>
          <a:lstStyle/>
          <a:p>
            <a:pPr marL="0" indent="0" algn="ctr">
              <a:lnSpc>
                <a:spcPct val="105000"/>
              </a:lnSpc>
              <a:buNone/>
            </a:pPr>
            <a:r>
              <a:rPr lang="en-US" sz="1500" b="1" dirty="0">
                <a:solidFill>
                  <a:srgbClr val="FFFFFF"/>
                </a:solidFill>
                <a:latin typeface="Arial" pitchFamily="34" charset="0"/>
                <a:ea typeface="Arial" pitchFamily="34" charset="-122"/>
                <a:cs typeface="Arial" pitchFamily="34" charset="-120"/>
              </a:rPr>
              <a:t>It's the accessibility of that information.</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2000" advTm="10851"/>
    </mc:Choice>
    <mc:Fallback>
      <p:transition spd="slow" advTm="1085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WHY THIS PROBLEM MATTERS</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Impact on the Business</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04</a:t>
            </a:r>
            <a:endParaRPr lang="en-US" sz="1000" dirty="0"/>
          </a:p>
        </p:txBody>
      </p:sp>
      <p:sp>
        <p:nvSpPr>
          <p:cNvPr id="6" name="Text 4"/>
          <p:cNvSpPr/>
          <p:nvPr/>
        </p:nvSpPr>
        <p:spPr>
          <a:xfrm>
            <a:off x="685800" y="1481328"/>
            <a:ext cx="10789920" cy="457200"/>
          </a:xfrm>
          <a:prstGeom prst="rect">
            <a:avLst/>
          </a:prstGeom>
          <a:noFill/>
          <a:ln/>
        </p:spPr>
        <p:txBody>
          <a:bodyPr wrap="square" lIns="0" tIns="0" rIns="0" bIns="0" rtlCol="0" anchor="ctr"/>
          <a:lstStyle/>
          <a:p>
            <a:pPr marL="0" indent="0">
              <a:buNone/>
            </a:pPr>
            <a:r>
              <a:rPr lang="en-US" sz="1350" dirty="0">
                <a:solidFill>
                  <a:srgbClr val="5A5568"/>
                </a:solidFill>
                <a:latin typeface="Calibri" pitchFamily="34" charset="0"/>
                <a:ea typeface="Calibri" pitchFamily="34" charset="-122"/>
                <a:cs typeface="Calibri" pitchFamily="34" charset="-120"/>
              </a:rPr>
              <a:t>This is not a minor inconvenience — the same friction is felt on both sides of every HR question and quietly compounds across the organization.</a:t>
            </a:r>
            <a:endParaRPr lang="en-US" sz="1350" dirty="0"/>
          </a:p>
        </p:txBody>
      </p:sp>
      <p:sp>
        <p:nvSpPr>
          <p:cNvPr id="7" name="Shape 5"/>
          <p:cNvSpPr/>
          <p:nvPr/>
        </p:nvSpPr>
        <p:spPr>
          <a:xfrm>
            <a:off x="685800" y="2057400"/>
            <a:ext cx="3520440" cy="3977640"/>
          </a:xfrm>
          <a:prstGeom prst="roundRect">
            <a:avLst>
              <a:gd name="adj" fmla="val 155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2057400"/>
            <a:ext cx="73152" cy="3977640"/>
          </a:xfrm>
          <a:prstGeom prst="rect">
            <a:avLst/>
          </a:prstGeom>
          <a:solidFill>
            <a:srgbClr val="A100FF"/>
          </a:solidFill>
          <a:ln/>
        </p:spPr>
        <p:txBody>
          <a:bodyPr/>
          <a:lstStyle/>
          <a:p>
            <a:endParaRPr lang="en-US"/>
          </a:p>
        </p:txBody>
      </p:sp>
      <p:sp>
        <p:nvSpPr>
          <p:cNvPr id="9" name="Shape 7"/>
          <p:cNvSpPr/>
          <p:nvPr/>
        </p:nvSpPr>
        <p:spPr>
          <a:xfrm>
            <a:off x="978408" y="2331720"/>
            <a:ext cx="640080" cy="640080"/>
          </a:xfrm>
          <a:prstGeom prst="ellipse">
            <a:avLst/>
          </a:prstGeom>
          <a:solidFill>
            <a:srgbClr val="A100FF"/>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138428" y="2491740"/>
            <a:ext cx="320040" cy="320040"/>
          </a:xfrm>
          <a:prstGeom prst="rect">
            <a:avLst/>
          </a:prstGeom>
        </p:spPr>
      </p:pic>
      <p:sp>
        <p:nvSpPr>
          <p:cNvPr id="11" name="Text 8"/>
          <p:cNvSpPr/>
          <p:nvPr/>
        </p:nvSpPr>
        <p:spPr>
          <a:xfrm>
            <a:off x="1737360" y="2331720"/>
            <a:ext cx="2331720" cy="640080"/>
          </a:xfrm>
          <a:prstGeom prst="rect">
            <a:avLst/>
          </a:prstGeom>
          <a:noFill/>
          <a:ln/>
        </p:spPr>
        <p:txBody>
          <a:bodyPr wrap="square" lIns="0" tIns="0" rIns="0" bIns="0" rtlCol="0" anchor="ctr"/>
          <a:lstStyle/>
          <a:p>
            <a:pPr marL="0" indent="0">
              <a:buNone/>
            </a:pPr>
            <a:r>
              <a:rPr lang="en-US" sz="1550" b="1" dirty="0">
                <a:solidFill>
                  <a:srgbClr val="1A1526"/>
                </a:solidFill>
                <a:latin typeface="Arial" pitchFamily="34" charset="0"/>
                <a:ea typeface="Arial" pitchFamily="34" charset="-122"/>
                <a:cs typeface="Arial" pitchFamily="34" charset="-120"/>
              </a:rPr>
              <a:t>For Employees</a:t>
            </a:r>
            <a:endParaRPr lang="en-US" sz="1550" dirty="0"/>
          </a:p>
        </p:txBody>
      </p:sp>
      <p:sp>
        <p:nvSpPr>
          <p:cNvPr id="12" name="Text 9"/>
          <p:cNvSpPr/>
          <p:nvPr/>
        </p:nvSpPr>
        <p:spPr>
          <a:xfrm>
            <a:off x="978408" y="3108960"/>
            <a:ext cx="2971800" cy="2743200"/>
          </a:xfrm>
          <a:prstGeom prst="rect">
            <a:avLst/>
          </a:prstGeom>
          <a:noFill/>
          <a:ln/>
        </p:spPr>
        <p:txBody>
          <a:bodyPr wrap="square" lIns="0" tIns="0" rIns="0" bIns="0" rtlCol="0" anchor="t"/>
          <a:lstStyle/>
          <a:p>
            <a:pPr marL="203200" indent="-203200">
              <a:lnSpc>
                <a:spcPct val="102000"/>
              </a:lnSpc>
              <a:buSzPct val="100000"/>
              <a:buChar char="•"/>
            </a:pPr>
            <a:r>
              <a:rPr lang="en-US" sz="1150" b="1" dirty="0">
                <a:solidFill>
                  <a:srgbClr val="A100FF"/>
                </a:solidFill>
                <a:latin typeface="Calibri" pitchFamily="34" charset="0"/>
                <a:ea typeface="Calibri" pitchFamily="34" charset="-122"/>
                <a:cs typeface="Calibri" pitchFamily="34" charset="-120"/>
              </a:rPr>
              <a:t>Scattered information</a:t>
            </a:r>
            <a:r>
              <a:rPr lang="en-US" sz="1150" dirty="0">
                <a:solidFill>
                  <a:srgbClr val="5A5568"/>
                </a:solidFill>
                <a:latin typeface="Calibri" pitchFamily="34" charset="0"/>
                <a:ea typeface="Calibri" pitchFamily="34" charset="-122"/>
                <a:cs typeface="Calibri" pitchFamily="34" charset="-120"/>
              </a:rPr>
              <a:t>  —  answers live across many separate documents</a:t>
            </a:r>
            <a:endParaRPr lang="en-US" sz="1150" dirty="0"/>
          </a:p>
          <a:p>
            <a:pPr marL="203200" indent="-203200">
              <a:lnSpc>
                <a:spcPct val="102000"/>
              </a:lnSpc>
              <a:buSzPct val="100000"/>
              <a:buChar char="•"/>
            </a:pPr>
            <a:r>
              <a:rPr lang="en-US" sz="1150" b="1" dirty="0">
                <a:solidFill>
                  <a:srgbClr val="A100FF"/>
                </a:solidFill>
                <a:latin typeface="Calibri" pitchFamily="34" charset="0"/>
                <a:ea typeface="Calibri" pitchFamily="34" charset="-122"/>
                <a:cs typeface="Calibri" pitchFamily="34" charset="-120"/>
              </a:rPr>
              <a:t>Time-consuming searches</a:t>
            </a:r>
            <a:r>
              <a:rPr lang="en-US" sz="1150" dirty="0">
                <a:solidFill>
                  <a:srgbClr val="5A5568"/>
                </a:solidFill>
                <a:latin typeface="Calibri" pitchFamily="34" charset="0"/>
                <a:ea typeface="Calibri" pitchFamily="34" charset="-122"/>
                <a:cs typeface="Calibri" pitchFamily="34" charset="-120"/>
              </a:rPr>
              <a:t>  —  minutes lost per question, many times a week</a:t>
            </a:r>
            <a:endParaRPr lang="en-US" sz="1150" dirty="0"/>
          </a:p>
          <a:p>
            <a:pPr marL="203200" indent="-203200">
              <a:lnSpc>
                <a:spcPct val="102000"/>
              </a:lnSpc>
              <a:buSzPct val="100000"/>
              <a:buChar char="•"/>
            </a:pPr>
            <a:r>
              <a:rPr lang="en-US" sz="1150" b="1" dirty="0">
                <a:solidFill>
                  <a:srgbClr val="A100FF"/>
                </a:solidFill>
                <a:latin typeface="Calibri" pitchFamily="34" charset="0"/>
                <a:ea typeface="Calibri" pitchFamily="34" charset="-122"/>
                <a:cs typeface="Calibri" pitchFamily="34" charset="-120"/>
              </a:rPr>
              <a:t>Hard to pinpoint</a:t>
            </a:r>
            <a:r>
              <a:rPr lang="en-US" sz="1150" dirty="0">
                <a:solidFill>
                  <a:srgbClr val="5A5568"/>
                </a:solidFill>
                <a:latin typeface="Calibri" pitchFamily="34" charset="0"/>
                <a:ea typeface="Calibri" pitchFamily="34" charset="-122"/>
                <a:cs typeface="Calibri" pitchFamily="34" charset="-120"/>
              </a:rPr>
              <a:t>  —  difficult to find the one exact clause that applies</a:t>
            </a:r>
            <a:endParaRPr lang="en-US" sz="1150" dirty="0"/>
          </a:p>
        </p:txBody>
      </p:sp>
      <p:sp>
        <p:nvSpPr>
          <p:cNvPr id="13" name="Shape 10"/>
          <p:cNvSpPr/>
          <p:nvPr/>
        </p:nvSpPr>
        <p:spPr>
          <a:xfrm>
            <a:off x="4526280" y="2057400"/>
            <a:ext cx="3520440" cy="3977640"/>
          </a:xfrm>
          <a:prstGeom prst="roundRect">
            <a:avLst>
              <a:gd name="adj" fmla="val 155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4526280" y="2057400"/>
            <a:ext cx="73152" cy="3977640"/>
          </a:xfrm>
          <a:prstGeom prst="rect">
            <a:avLst/>
          </a:prstGeom>
          <a:solidFill>
            <a:srgbClr val="E6197E"/>
          </a:solidFill>
          <a:ln/>
        </p:spPr>
        <p:txBody>
          <a:bodyPr/>
          <a:lstStyle/>
          <a:p>
            <a:endParaRPr lang="en-US"/>
          </a:p>
        </p:txBody>
      </p:sp>
      <p:sp>
        <p:nvSpPr>
          <p:cNvPr id="15" name="Shape 12"/>
          <p:cNvSpPr/>
          <p:nvPr/>
        </p:nvSpPr>
        <p:spPr>
          <a:xfrm>
            <a:off x="4818888" y="2331720"/>
            <a:ext cx="640080" cy="640080"/>
          </a:xfrm>
          <a:prstGeom prst="ellipse">
            <a:avLst/>
          </a:prstGeom>
          <a:solidFill>
            <a:srgbClr val="E6197E"/>
          </a:solidFill>
          <a:ln/>
        </p:spPr>
        <p:txBody>
          <a:bodyPr/>
          <a:lstStyle/>
          <a:p>
            <a:endParaRPr lang="en-US"/>
          </a:p>
        </p:txBody>
      </p:sp>
      <p:pic>
        <p:nvPicPr>
          <p:cNvPr id="16" name="Image 1" descr="preencoded.png"/>
          <p:cNvPicPr>
            <a:picLocks noChangeAspect="1"/>
          </p:cNvPicPr>
          <p:nvPr/>
        </p:nvPicPr>
        <p:blipFill>
          <a:blip r:embed="rId5"/>
          <a:stretch>
            <a:fillRect/>
          </a:stretch>
        </p:blipFill>
        <p:spPr>
          <a:xfrm>
            <a:off x="4978908" y="2491740"/>
            <a:ext cx="320040" cy="320040"/>
          </a:xfrm>
          <a:prstGeom prst="rect">
            <a:avLst/>
          </a:prstGeom>
        </p:spPr>
      </p:pic>
      <p:sp>
        <p:nvSpPr>
          <p:cNvPr id="17" name="Text 13"/>
          <p:cNvSpPr/>
          <p:nvPr/>
        </p:nvSpPr>
        <p:spPr>
          <a:xfrm>
            <a:off x="5577840" y="2331720"/>
            <a:ext cx="2331720" cy="640080"/>
          </a:xfrm>
          <a:prstGeom prst="rect">
            <a:avLst/>
          </a:prstGeom>
          <a:noFill/>
          <a:ln/>
        </p:spPr>
        <p:txBody>
          <a:bodyPr wrap="square" lIns="0" tIns="0" rIns="0" bIns="0" rtlCol="0" anchor="ctr"/>
          <a:lstStyle/>
          <a:p>
            <a:pPr marL="0" indent="0">
              <a:buNone/>
            </a:pPr>
            <a:r>
              <a:rPr lang="en-US" sz="1550" b="1" dirty="0">
                <a:solidFill>
                  <a:srgbClr val="1A1526"/>
                </a:solidFill>
                <a:latin typeface="Arial" pitchFamily="34" charset="0"/>
                <a:ea typeface="Arial" pitchFamily="34" charset="-122"/>
                <a:cs typeface="Arial" pitchFamily="34" charset="-120"/>
              </a:rPr>
              <a:t>For HR Teams</a:t>
            </a:r>
            <a:endParaRPr lang="en-US" sz="1550" dirty="0"/>
          </a:p>
        </p:txBody>
      </p:sp>
      <p:sp>
        <p:nvSpPr>
          <p:cNvPr id="18" name="Text 14"/>
          <p:cNvSpPr/>
          <p:nvPr/>
        </p:nvSpPr>
        <p:spPr>
          <a:xfrm>
            <a:off x="4818888" y="3108960"/>
            <a:ext cx="2971800" cy="2743200"/>
          </a:xfrm>
          <a:prstGeom prst="rect">
            <a:avLst/>
          </a:prstGeom>
          <a:noFill/>
          <a:ln/>
        </p:spPr>
        <p:txBody>
          <a:bodyPr wrap="square" lIns="0" tIns="0" rIns="0" bIns="0" rtlCol="0" anchor="t"/>
          <a:lstStyle/>
          <a:p>
            <a:pPr marL="203200" indent="-203200">
              <a:lnSpc>
                <a:spcPct val="102000"/>
              </a:lnSpc>
              <a:buSzPct val="100000"/>
              <a:buChar char="•"/>
            </a:pPr>
            <a:r>
              <a:rPr lang="en-US" sz="1150" b="1" dirty="0">
                <a:solidFill>
                  <a:srgbClr val="E6197E"/>
                </a:solidFill>
                <a:latin typeface="Calibri" pitchFamily="34" charset="0"/>
                <a:ea typeface="Calibri" pitchFamily="34" charset="-122"/>
                <a:cs typeface="Calibri" pitchFamily="34" charset="-120"/>
              </a:rPr>
              <a:t>Repetitive queries</a:t>
            </a:r>
            <a:r>
              <a:rPr lang="en-US" sz="1150" dirty="0">
                <a:solidFill>
                  <a:srgbClr val="5A5568"/>
                </a:solidFill>
                <a:latin typeface="Calibri" pitchFamily="34" charset="0"/>
                <a:ea typeface="Calibri" pitchFamily="34" charset="-122"/>
                <a:cs typeface="Calibri" pitchFamily="34" charset="-120"/>
              </a:rPr>
              <a:t>  —  the same policy questions answered again and again</a:t>
            </a:r>
            <a:endParaRPr lang="en-US" sz="1150" dirty="0"/>
          </a:p>
          <a:p>
            <a:pPr marL="203200" indent="-203200">
              <a:lnSpc>
                <a:spcPct val="102000"/>
              </a:lnSpc>
              <a:buSzPct val="100000"/>
              <a:buChar char="•"/>
            </a:pPr>
            <a:r>
              <a:rPr lang="en-US" sz="1150" b="1" dirty="0">
                <a:solidFill>
                  <a:srgbClr val="E6197E"/>
                </a:solidFill>
                <a:latin typeface="Calibri" pitchFamily="34" charset="0"/>
                <a:ea typeface="Calibri" pitchFamily="34" charset="-122"/>
                <a:cs typeface="Calibri" pitchFamily="34" charset="-120"/>
              </a:rPr>
              <a:t>Rising support load</a:t>
            </a:r>
            <a:r>
              <a:rPr lang="en-US" sz="1150" dirty="0">
                <a:solidFill>
                  <a:srgbClr val="5A5568"/>
                </a:solidFill>
                <a:latin typeface="Calibri" pitchFamily="34" charset="0"/>
                <a:ea typeface="Calibri" pitchFamily="34" charset="-122"/>
                <a:cs typeface="Calibri" pitchFamily="34" charset="-120"/>
              </a:rPr>
              <a:t>  —  routine requests crowd out strategic work</a:t>
            </a:r>
            <a:endParaRPr lang="en-US" sz="1150" dirty="0"/>
          </a:p>
          <a:p>
            <a:pPr marL="203200" indent="-203200">
              <a:lnSpc>
                <a:spcPct val="102000"/>
              </a:lnSpc>
              <a:buSzPct val="100000"/>
              <a:buChar char="•"/>
            </a:pPr>
            <a:r>
              <a:rPr lang="en-US" sz="1150" b="1" dirty="0">
                <a:solidFill>
                  <a:srgbClr val="E6197E"/>
                </a:solidFill>
                <a:latin typeface="Calibri" pitchFamily="34" charset="0"/>
                <a:ea typeface="Calibri" pitchFamily="34" charset="-122"/>
                <a:cs typeface="Calibri" pitchFamily="34" charset="-120"/>
              </a:rPr>
              <a:t>Knowledge overhead</a:t>
            </a:r>
            <a:r>
              <a:rPr lang="en-US" sz="1150" dirty="0">
                <a:solidFill>
                  <a:srgbClr val="5A5568"/>
                </a:solidFill>
                <a:latin typeface="Calibri" pitchFamily="34" charset="0"/>
                <a:ea typeface="Calibri" pitchFamily="34" charset="-122"/>
                <a:cs typeface="Calibri" pitchFamily="34" charset="-120"/>
              </a:rPr>
              <a:t>  —  keeping guidance consistent is manual and fragile</a:t>
            </a:r>
            <a:endParaRPr lang="en-US" sz="1150" dirty="0"/>
          </a:p>
        </p:txBody>
      </p:sp>
      <p:sp>
        <p:nvSpPr>
          <p:cNvPr id="19" name="Shape 15"/>
          <p:cNvSpPr/>
          <p:nvPr/>
        </p:nvSpPr>
        <p:spPr>
          <a:xfrm>
            <a:off x="8366760" y="2057400"/>
            <a:ext cx="3520440" cy="3977640"/>
          </a:xfrm>
          <a:prstGeom prst="roundRect">
            <a:avLst>
              <a:gd name="adj" fmla="val 155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0" name="Shape 16"/>
          <p:cNvSpPr/>
          <p:nvPr/>
        </p:nvSpPr>
        <p:spPr>
          <a:xfrm>
            <a:off x="8366760" y="2057400"/>
            <a:ext cx="73152" cy="3977640"/>
          </a:xfrm>
          <a:prstGeom prst="rect">
            <a:avLst/>
          </a:prstGeom>
          <a:solidFill>
            <a:srgbClr val="1D4ED8"/>
          </a:solidFill>
          <a:ln/>
        </p:spPr>
        <p:txBody>
          <a:bodyPr/>
          <a:lstStyle/>
          <a:p>
            <a:endParaRPr lang="en-US"/>
          </a:p>
        </p:txBody>
      </p:sp>
      <p:sp>
        <p:nvSpPr>
          <p:cNvPr id="21" name="Shape 17"/>
          <p:cNvSpPr/>
          <p:nvPr/>
        </p:nvSpPr>
        <p:spPr>
          <a:xfrm>
            <a:off x="8659368" y="2331720"/>
            <a:ext cx="640080" cy="640080"/>
          </a:xfrm>
          <a:prstGeom prst="ellipse">
            <a:avLst/>
          </a:prstGeom>
          <a:solidFill>
            <a:srgbClr val="1D4ED8"/>
          </a:solidFill>
          <a:ln/>
        </p:spPr>
        <p:txBody>
          <a:bodyPr/>
          <a:lstStyle/>
          <a:p>
            <a:endParaRPr lang="en-US"/>
          </a:p>
        </p:txBody>
      </p:sp>
      <p:pic>
        <p:nvPicPr>
          <p:cNvPr id="22" name="Image 2" descr="preencoded.png"/>
          <p:cNvPicPr>
            <a:picLocks noChangeAspect="1"/>
          </p:cNvPicPr>
          <p:nvPr/>
        </p:nvPicPr>
        <p:blipFill>
          <a:blip r:embed="rId6"/>
          <a:stretch>
            <a:fillRect/>
          </a:stretch>
        </p:blipFill>
        <p:spPr>
          <a:xfrm>
            <a:off x="8819388" y="2491740"/>
            <a:ext cx="320040" cy="320040"/>
          </a:xfrm>
          <a:prstGeom prst="rect">
            <a:avLst/>
          </a:prstGeom>
        </p:spPr>
      </p:pic>
      <p:sp>
        <p:nvSpPr>
          <p:cNvPr id="23" name="Text 18"/>
          <p:cNvSpPr/>
          <p:nvPr/>
        </p:nvSpPr>
        <p:spPr>
          <a:xfrm>
            <a:off x="9418320" y="2331720"/>
            <a:ext cx="2331720" cy="640080"/>
          </a:xfrm>
          <a:prstGeom prst="rect">
            <a:avLst/>
          </a:prstGeom>
          <a:noFill/>
          <a:ln/>
        </p:spPr>
        <p:txBody>
          <a:bodyPr wrap="square" lIns="0" tIns="0" rIns="0" bIns="0" rtlCol="0" anchor="ctr"/>
          <a:lstStyle/>
          <a:p>
            <a:pPr marL="0" indent="0">
              <a:buNone/>
            </a:pPr>
            <a:r>
              <a:rPr lang="en-US" sz="1550" b="1" dirty="0">
                <a:solidFill>
                  <a:srgbClr val="1A1526"/>
                </a:solidFill>
                <a:latin typeface="Arial" pitchFamily="34" charset="0"/>
                <a:ea typeface="Arial" pitchFamily="34" charset="-122"/>
                <a:cs typeface="Arial" pitchFamily="34" charset="-120"/>
              </a:rPr>
              <a:t>For the Business</a:t>
            </a:r>
            <a:endParaRPr lang="en-US" sz="1550" dirty="0"/>
          </a:p>
        </p:txBody>
      </p:sp>
      <p:sp>
        <p:nvSpPr>
          <p:cNvPr id="24" name="Text 19"/>
          <p:cNvSpPr/>
          <p:nvPr/>
        </p:nvSpPr>
        <p:spPr>
          <a:xfrm>
            <a:off x="8659368" y="3108960"/>
            <a:ext cx="2971800" cy="2743200"/>
          </a:xfrm>
          <a:prstGeom prst="rect">
            <a:avLst/>
          </a:prstGeom>
          <a:noFill/>
          <a:ln/>
        </p:spPr>
        <p:txBody>
          <a:bodyPr wrap="square" lIns="0" tIns="0" rIns="0" bIns="0" rtlCol="0" anchor="t"/>
          <a:lstStyle/>
          <a:p>
            <a:pPr marL="203200" indent="-203200">
              <a:lnSpc>
                <a:spcPct val="102000"/>
              </a:lnSpc>
              <a:buSzPct val="100000"/>
              <a:buChar char="•"/>
            </a:pPr>
            <a:r>
              <a:rPr lang="en-US" sz="1150" b="1" dirty="0">
                <a:solidFill>
                  <a:srgbClr val="1D4ED8"/>
                </a:solidFill>
                <a:latin typeface="Calibri" pitchFamily="34" charset="0"/>
                <a:ea typeface="Calibri" pitchFamily="34" charset="-122"/>
                <a:cs typeface="Calibri" pitchFamily="34" charset="-120"/>
              </a:rPr>
              <a:t>Reduced productivity</a:t>
            </a:r>
            <a:r>
              <a:rPr lang="en-US" sz="1150" dirty="0">
                <a:solidFill>
                  <a:srgbClr val="5A5568"/>
                </a:solidFill>
                <a:latin typeface="Calibri" pitchFamily="34" charset="0"/>
                <a:ea typeface="Calibri" pitchFamily="34" charset="-122"/>
                <a:cs typeface="Calibri" pitchFamily="34" charset="-120"/>
              </a:rPr>
              <a:t>  —  people wait instead of working</a:t>
            </a:r>
            <a:endParaRPr lang="en-US" sz="1150" dirty="0"/>
          </a:p>
          <a:p>
            <a:pPr marL="203200" indent="-203200">
              <a:lnSpc>
                <a:spcPct val="102000"/>
              </a:lnSpc>
              <a:buSzPct val="100000"/>
              <a:buChar char="•"/>
            </a:pPr>
            <a:r>
              <a:rPr lang="en-US" sz="1150" b="1" dirty="0">
                <a:solidFill>
                  <a:srgbClr val="1D4ED8"/>
                </a:solidFill>
                <a:latin typeface="Calibri" pitchFamily="34" charset="0"/>
                <a:ea typeface="Calibri" pitchFamily="34" charset="-122"/>
                <a:cs typeface="Calibri" pitchFamily="34" charset="-120"/>
              </a:rPr>
              <a:t>Delayed decisions</a:t>
            </a:r>
            <a:r>
              <a:rPr lang="en-US" sz="1150" dirty="0">
                <a:solidFill>
                  <a:srgbClr val="5A5568"/>
                </a:solidFill>
                <a:latin typeface="Calibri" pitchFamily="34" charset="0"/>
                <a:ea typeface="Calibri" pitchFamily="34" charset="-122"/>
                <a:cs typeface="Calibri" pitchFamily="34" charset="-120"/>
              </a:rPr>
              <a:t>  —  slow access slows everything downstream</a:t>
            </a:r>
            <a:endParaRPr lang="en-US" sz="1150" dirty="0"/>
          </a:p>
          <a:p>
            <a:pPr marL="203200" indent="-203200">
              <a:lnSpc>
                <a:spcPct val="102000"/>
              </a:lnSpc>
              <a:buSzPct val="100000"/>
              <a:buChar char="•"/>
            </a:pPr>
            <a:r>
              <a:rPr lang="en-US" sz="1150" b="1" dirty="0">
                <a:solidFill>
                  <a:srgbClr val="1D4ED8"/>
                </a:solidFill>
                <a:latin typeface="Calibri" pitchFamily="34" charset="0"/>
                <a:ea typeface="Calibri" pitchFamily="34" charset="-122"/>
                <a:cs typeface="Calibri" pitchFamily="34" charset="-120"/>
              </a:rPr>
              <a:t>Duplicated effort</a:t>
            </a:r>
            <a:r>
              <a:rPr lang="en-US" sz="1150" dirty="0">
                <a:solidFill>
                  <a:srgbClr val="5A5568"/>
                </a:solidFill>
                <a:latin typeface="Calibri" pitchFamily="34" charset="0"/>
                <a:ea typeface="Calibri" pitchFamily="34" charset="-122"/>
                <a:cs typeface="Calibri" pitchFamily="34" charset="-120"/>
              </a:rPr>
              <a:t>  —  the organization pays for the same answer repeatedly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USE CASE SELECTION</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Why Start With HR Policies?</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05</a:t>
            </a:r>
            <a:endParaRPr lang="en-US" sz="1000" dirty="0"/>
          </a:p>
        </p:txBody>
      </p:sp>
      <p:sp>
        <p:nvSpPr>
          <p:cNvPr id="6" name="Text 4"/>
          <p:cNvSpPr/>
          <p:nvPr/>
        </p:nvSpPr>
        <p:spPr>
          <a:xfrm>
            <a:off x="685800" y="1481328"/>
            <a:ext cx="5669280" cy="640080"/>
          </a:xfrm>
          <a:prstGeom prst="rect">
            <a:avLst/>
          </a:prstGeom>
          <a:noFill/>
          <a:ln/>
        </p:spPr>
        <p:txBody>
          <a:bodyPr wrap="square" lIns="0" tIns="0" rIns="0" bIns="0" rtlCol="0" anchor="ctr"/>
          <a:lstStyle/>
          <a:p>
            <a:pPr marL="0" indent="0">
              <a:lnSpc>
                <a:spcPct val="110000"/>
              </a:lnSpc>
              <a:buNone/>
            </a:pPr>
            <a:r>
              <a:rPr lang="en-US" sz="1350" dirty="0">
                <a:solidFill>
                  <a:srgbClr val="5A5568"/>
                </a:solidFill>
                <a:latin typeface="Calibri" pitchFamily="34" charset="0"/>
                <a:ea typeface="Calibri" pitchFamily="34" charset="-122"/>
                <a:cs typeface="Calibri" pitchFamily="34" charset="-120"/>
              </a:rPr>
              <a:t>HR policy was chosen as the first domain deliberately — it is the sweet spot where impact is high and the content is well-suited to retrieval-based AI.</a:t>
            </a:r>
            <a:endParaRPr lang="en-US" sz="1350" dirty="0"/>
          </a:p>
        </p:txBody>
      </p:sp>
      <p:sp>
        <p:nvSpPr>
          <p:cNvPr id="7" name="Shape 5"/>
          <p:cNvSpPr/>
          <p:nvPr/>
        </p:nvSpPr>
        <p:spPr>
          <a:xfrm>
            <a:off x="685800" y="2240280"/>
            <a:ext cx="562356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868680" y="2432304"/>
            <a:ext cx="402336" cy="402336"/>
          </a:xfrm>
          <a:prstGeom prst="ellipse">
            <a:avLst/>
          </a:prstGeom>
          <a:solidFill>
            <a:srgbClr val="A100FF"/>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969264" y="2532888"/>
            <a:ext cx="201168" cy="201168"/>
          </a:xfrm>
          <a:prstGeom prst="rect">
            <a:avLst/>
          </a:prstGeom>
        </p:spPr>
      </p:pic>
      <p:sp>
        <p:nvSpPr>
          <p:cNvPr id="10" name="Text 7"/>
          <p:cNvSpPr/>
          <p:nvPr/>
        </p:nvSpPr>
        <p:spPr>
          <a:xfrm>
            <a:off x="1399032" y="2240280"/>
            <a:ext cx="475488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Universally relevant  </a:t>
            </a:r>
            <a:r>
              <a:rPr lang="en-US" sz="1100" dirty="0">
                <a:solidFill>
                  <a:srgbClr val="5A5568"/>
                </a:solidFill>
                <a:latin typeface="Calibri" pitchFamily="34" charset="0"/>
                <a:ea typeface="Calibri" pitchFamily="34" charset="-122"/>
                <a:cs typeface="Calibri" pitchFamily="34" charset="-120"/>
              </a:rPr>
              <a:t>— every employee needs these answers, repeatedly</a:t>
            </a:r>
            <a:endParaRPr lang="en-US" sz="1300" dirty="0"/>
          </a:p>
        </p:txBody>
      </p:sp>
      <p:sp>
        <p:nvSpPr>
          <p:cNvPr id="11" name="Shape 8"/>
          <p:cNvSpPr/>
          <p:nvPr/>
        </p:nvSpPr>
        <p:spPr>
          <a:xfrm>
            <a:off x="685800" y="3172968"/>
            <a:ext cx="562356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2" name="Shape 9"/>
          <p:cNvSpPr/>
          <p:nvPr/>
        </p:nvSpPr>
        <p:spPr>
          <a:xfrm>
            <a:off x="868680" y="3364992"/>
            <a:ext cx="402336" cy="402336"/>
          </a:xfrm>
          <a:prstGeom prst="ellipse">
            <a:avLst/>
          </a:prstGeom>
          <a:solidFill>
            <a:srgbClr val="A100FF"/>
          </a:solidFill>
          <a:ln/>
        </p:spPr>
        <p:txBody>
          <a:bodyPr/>
          <a:lstStyle/>
          <a:p>
            <a:endParaRPr lang="en-US"/>
          </a:p>
        </p:txBody>
      </p:sp>
      <p:pic>
        <p:nvPicPr>
          <p:cNvPr id="13" name="Image 1" descr="preencoded.png"/>
          <p:cNvPicPr>
            <a:picLocks noChangeAspect="1"/>
          </p:cNvPicPr>
          <p:nvPr/>
        </p:nvPicPr>
        <p:blipFill>
          <a:blip r:embed="rId5"/>
          <a:stretch>
            <a:fillRect/>
          </a:stretch>
        </p:blipFill>
        <p:spPr>
          <a:xfrm>
            <a:off x="969264" y="3465576"/>
            <a:ext cx="201168" cy="201168"/>
          </a:xfrm>
          <a:prstGeom prst="rect">
            <a:avLst/>
          </a:prstGeom>
        </p:spPr>
      </p:pic>
      <p:sp>
        <p:nvSpPr>
          <p:cNvPr id="14" name="Text 10"/>
          <p:cNvSpPr/>
          <p:nvPr/>
        </p:nvSpPr>
        <p:spPr>
          <a:xfrm>
            <a:off x="1399032" y="3172968"/>
            <a:ext cx="475488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Business-critical  </a:t>
            </a:r>
            <a:r>
              <a:rPr lang="en-US" sz="1100" dirty="0">
                <a:solidFill>
                  <a:srgbClr val="5A5568"/>
                </a:solidFill>
                <a:latin typeface="Calibri" pitchFamily="34" charset="0"/>
                <a:ea typeface="Calibri" pitchFamily="34" charset="-122"/>
                <a:cs typeface="Calibri" pitchFamily="34" charset="-120"/>
              </a:rPr>
              <a:t>— mistakes on policy carry real consequences</a:t>
            </a:r>
            <a:endParaRPr lang="en-US" sz="1300" dirty="0"/>
          </a:p>
        </p:txBody>
      </p:sp>
      <p:sp>
        <p:nvSpPr>
          <p:cNvPr id="15" name="Shape 11"/>
          <p:cNvSpPr/>
          <p:nvPr/>
        </p:nvSpPr>
        <p:spPr>
          <a:xfrm>
            <a:off x="685800" y="4105656"/>
            <a:ext cx="562356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6" name="Shape 12"/>
          <p:cNvSpPr/>
          <p:nvPr/>
        </p:nvSpPr>
        <p:spPr>
          <a:xfrm>
            <a:off x="868680" y="4297680"/>
            <a:ext cx="402336" cy="402336"/>
          </a:xfrm>
          <a:prstGeom prst="ellipse">
            <a:avLst/>
          </a:prstGeom>
          <a:solidFill>
            <a:srgbClr val="A100FF"/>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969264" y="4398264"/>
            <a:ext cx="201168" cy="201168"/>
          </a:xfrm>
          <a:prstGeom prst="rect">
            <a:avLst/>
          </a:prstGeom>
        </p:spPr>
      </p:pic>
      <p:sp>
        <p:nvSpPr>
          <p:cNvPr id="18" name="Text 13"/>
          <p:cNvSpPr/>
          <p:nvPr/>
        </p:nvSpPr>
        <p:spPr>
          <a:xfrm>
            <a:off x="1399032" y="4105656"/>
            <a:ext cx="475488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Buried in long documents  </a:t>
            </a:r>
            <a:r>
              <a:rPr lang="en-US" sz="1100" dirty="0">
                <a:solidFill>
                  <a:srgbClr val="5A5568"/>
                </a:solidFill>
                <a:latin typeface="Calibri" pitchFamily="34" charset="0"/>
                <a:ea typeface="Calibri" pitchFamily="34" charset="-122"/>
                <a:cs typeface="Calibri" pitchFamily="34" charset="-120"/>
              </a:rPr>
              <a:t>— ideal for semantic search over dense text</a:t>
            </a:r>
            <a:endParaRPr lang="en-US" sz="1300" dirty="0"/>
          </a:p>
        </p:txBody>
      </p:sp>
      <p:sp>
        <p:nvSpPr>
          <p:cNvPr id="19" name="Shape 14"/>
          <p:cNvSpPr/>
          <p:nvPr/>
        </p:nvSpPr>
        <p:spPr>
          <a:xfrm>
            <a:off x="685800" y="5038344"/>
            <a:ext cx="562356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0" name="Shape 15"/>
          <p:cNvSpPr/>
          <p:nvPr/>
        </p:nvSpPr>
        <p:spPr>
          <a:xfrm>
            <a:off x="868680" y="5230368"/>
            <a:ext cx="402336" cy="402336"/>
          </a:xfrm>
          <a:prstGeom prst="ellipse">
            <a:avLst/>
          </a:prstGeom>
          <a:solidFill>
            <a:srgbClr val="A100FF"/>
          </a:solidFill>
          <a:ln/>
        </p:spPr>
        <p:txBody>
          <a:bodyPr/>
          <a:lstStyle/>
          <a:p>
            <a:endParaRPr lang="en-US"/>
          </a:p>
        </p:txBody>
      </p:sp>
      <p:pic>
        <p:nvPicPr>
          <p:cNvPr id="21" name="Image 3" descr="preencoded.png"/>
          <p:cNvPicPr>
            <a:picLocks noChangeAspect="1"/>
          </p:cNvPicPr>
          <p:nvPr/>
        </p:nvPicPr>
        <p:blipFill>
          <a:blip r:embed="rId7"/>
          <a:stretch>
            <a:fillRect/>
          </a:stretch>
        </p:blipFill>
        <p:spPr>
          <a:xfrm>
            <a:off x="969264" y="5330952"/>
            <a:ext cx="201168" cy="201168"/>
          </a:xfrm>
          <a:prstGeom prst="rect">
            <a:avLst/>
          </a:prstGeom>
        </p:spPr>
      </p:pic>
      <p:sp>
        <p:nvSpPr>
          <p:cNvPr id="22" name="Text 16"/>
          <p:cNvSpPr/>
          <p:nvPr/>
        </p:nvSpPr>
        <p:spPr>
          <a:xfrm>
            <a:off x="1399032" y="5038344"/>
            <a:ext cx="475488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Accuracy matters  </a:t>
            </a:r>
            <a:r>
              <a:rPr lang="en-US" sz="1100" dirty="0">
                <a:solidFill>
                  <a:srgbClr val="5A5568"/>
                </a:solidFill>
                <a:latin typeface="Calibri" pitchFamily="34" charset="0"/>
                <a:ea typeface="Calibri" pitchFamily="34" charset="-122"/>
                <a:cs typeface="Calibri" pitchFamily="34" charset="-120"/>
              </a:rPr>
              <a:t>— answers must be reliable and grounded, not guessed</a:t>
            </a:r>
            <a:endParaRPr lang="en-US" sz="1300" dirty="0"/>
          </a:p>
        </p:txBody>
      </p:sp>
      <p:sp>
        <p:nvSpPr>
          <p:cNvPr id="23" name="Shape 17"/>
          <p:cNvSpPr/>
          <p:nvPr/>
        </p:nvSpPr>
        <p:spPr>
          <a:xfrm>
            <a:off x="6720840" y="1481328"/>
            <a:ext cx="4800600" cy="4617720"/>
          </a:xfrm>
          <a:prstGeom prst="roundRect">
            <a:avLst>
              <a:gd name="adj" fmla="val 1188"/>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4" name="Shape 18"/>
          <p:cNvSpPr/>
          <p:nvPr/>
        </p:nvSpPr>
        <p:spPr>
          <a:xfrm>
            <a:off x="6720840" y="1481328"/>
            <a:ext cx="73152" cy="4617720"/>
          </a:xfrm>
          <a:prstGeom prst="rect">
            <a:avLst/>
          </a:prstGeom>
          <a:solidFill>
            <a:srgbClr val="E6197E"/>
          </a:solidFill>
          <a:ln/>
        </p:spPr>
        <p:txBody>
          <a:bodyPr/>
          <a:lstStyle/>
          <a:p>
            <a:endParaRPr lang="en-US"/>
          </a:p>
        </p:txBody>
      </p:sp>
      <p:sp>
        <p:nvSpPr>
          <p:cNvPr id="25" name="Text 19"/>
          <p:cNvSpPr/>
          <p:nvPr/>
        </p:nvSpPr>
        <p:spPr>
          <a:xfrm>
            <a:off x="7040880" y="1691640"/>
            <a:ext cx="4160520" cy="320040"/>
          </a:xfrm>
          <a:prstGeom prst="rect">
            <a:avLst/>
          </a:prstGeom>
          <a:noFill/>
          <a:ln/>
        </p:spPr>
        <p:txBody>
          <a:bodyPr wrap="square" lIns="0" tIns="0" rIns="0" bIns="0" rtlCol="0" anchor="ctr"/>
          <a:lstStyle/>
          <a:p>
            <a:pPr marL="0" indent="0">
              <a:buNone/>
            </a:pPr>
            <a:r>
              <a:rPr lang="en-US" sz="1100" b="1" kern="0" spc="150" dirty="0">
                <a:solidFill>
                  <a:srgbClr val="E6197E"/>
                </a:solidFill>
                <a:latin typeface="Arial" pitchFamily="34" charset="0"/>
                <a:ea typeface="Arial" pitchFamily="34" charset="-122"/>
                <a:cs typeface="Arial" pitchFamily="34" charset="-120"/>
              </a:rPr>
              <a:t>TOPICS EMPLOYEES ASK ABOUT MOST</a:t>
            </a:r>
            <a:endParaRPr lang="en-US" sz="1100" dirty="0"/>
          </a:p>
        </p:txBody>
      </p:sp>
      <p:sp>
        <p:nvSpPr>
          <p:cNvPr id="26" name="Shape 20"/>
          <p:cNvSpPr/>
          <p:nvPr/>
        </p:nvSpPr>
        <p:spPr>
          <a:xfrm>
            <a:off x="7040880" y="2148840"/>
            <a:ext cx="1943100" cy="1051560"/>
          </a:xfrm>
          <a:prstGeom prst="roundRect">
            <a:avLst>
              <a:gd name="adj" fmla="val 5217"/>
            </a:avLst>
          </a:prstGeom>
          <a:solidFill>
            <a:srgbClr val="FFFFFF"/>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7" name="Shape 21"/>
          <p:cNvSpPr/>
          <p:nvPr/>
        </p:nvSpPr>
        <p:spPr>
          <a:xfrm>
            <a:off x="7738110" y="2313432"/>
            <a:ext cx="548640" cy="548640"/>
          </a:xfrm>
          <a:prstGeom prst="ellipse">
            <a:avLst/>
          </a:prstGeom>
          <a:solidFill>
            <a:srgbClr val="A100FF"/>
          </a:solidFill>
          <a:ln/>
        </p:spPr>
        <p:txBody>
          <a:bodyPr/>
          <a:lstStyle/>
          <a:p>
            <a:endParaRPr lang="en-US"/>
          </a:p>
        </p:txBody>
      </p:sp>
      <p:pic>
        <p:nvPicPr>
          <p:cNvPr id="28" name="Image 4" descr="preencoded.png"/>
          <p:cNvPicPr>
            <a:picLocks noChangeAspect="1"/>
          </p:cNvPicPr>
          <p:nvPr/>
        </p:nvPicPr>
        <p:blipFill>
          <a:blip r:embed="rId8"/>
          <a:stretch>
            <a:fillRect/>
          </a:stretch>
        </p:blipFill>
        <p:spPr>
          <a:xfrm>
            <a:off x="7875270" y="2450592"/>
            <a:ext cx="274320" cy="274320"/>
          </a:xfrm>
          <a:prstGeom prst="rect">
            <a:avLst/>
          </a:prstGeom>
        </p:spPr>
      </p:pic>
      <p:sp>
        <p:nvSpPr>
          <p:cNvPr id="29" name="Text 22"/>
          <p:cNvSpPr/>
          <p:nvPr/>
        </p:nvSpPr>
        <p:spPr>
          <a:xfrm>
            <a:off x="7040880" y="2862072"/>
            <a:ext cx="1943100" cy="292608"/>
          </a:xfrm>
          <a:prstGeom prst="rect">
            <a:avLst/>
          </a:prstGeom>
          <a:noFill/>
          <a:ln/>
        </p:spPr>
        <p:txBody>
          <a:bodyPr wrap="square" lIns="0" tIns="0" rIns="0" bIns="0" rtlCol="0" anchor="ctr"/>
          <a:lstStyle/>
          <a:p>
            <a:pPr marL="0" indent="0" algn="ctr">
              <a:buNone/>
            </a:pPr>
            <a:r>
              <a:rPr lang="en-US" sz="1200" b="1" dirty="0">
                <a:solidFill>
                  <a:srgbClr val="1A1526"/>
                </a:solidFill>
                <a:latin typeface="Calibri" pitchFamily="34" charset="0"/>
                <a:ea typeface="Calibri" pitchFamily="34" charset="-122"/>
                <a:cs typeface="Calibri" pitchFamily="34" charset="-120"/>
              </a:rPr>
              <a:t>Leaves</a:t>
            </a:r>
            <a:endParaRPr lang="en-US" sz="1200" dirty="0"/>
          </a:p>
        </p:txBody>
      </p:sp>
      <p:sp>
        <p:nvSpPr>
          <p:cNvPr id="30" name="Shape 23"/>
          <p:cNvSpPr/>
          <p:nvPr/>
        </p:nvSpPr>
        <p:spPr>
          <a:xfrm>
            <a:off x="9258300" y="2148840"/>
            <a:ext cx="1943100" cy="1051560"/>
          </a:xfrm>
          <a:prstGeom prst="roundRect">
            <a:avLst>
              <a:gd name="adj" fmla="val 5217"/>
            </a:avLst>
          </a:prstGeom>
          <a:solidFill>
            <a:srgbClr val="FFFFFF"/>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1" name="Shape 24"/>
          <p:cNvSpPr/>
          <p:nvPr/>
        </p:nvSpPr>
        <p:spPr>
          <a:xfrm>
            <a:off x="9955530" y="2313432"/>
            <a:ext cx="548640" cy="548640"/>
          </a:xfrm>
          <a:prstGeom prst="ellipse">
            <a:avLst/>
          </a:prstGeom>
          <a:solidFill>
            <a:srgbClr val="A100FF"/>
          </a:solidFill>
          <a:ln/>
        </p:spPr>
        <p:txBody>
          <a:bodyPr/>
          <a:lstStyle/>
          <a:p>
            <a:endParaRPr lang="en-US"/>
          </a:p>
        </p:txBody>
      </p:sp>
      <p:pic>
        <p:nvPicPr>
          <p:cNvPr id="32" name="Image 5" descr="preencoded.png"/>
          <p:cNvPicPr>
            <a:picLocks noChangeAspect="1"/>
          </p:cNvPicPr>
          <p:nvPr/>
        </p:nvPicPr>
        <p:blipFill>
          <a:blip r:embed="rId9"/>
          <a:stretch>
            <a:fillRect/>
          </a:stretch>
        </p:blipFill>
        <p:spPr>
          <a:xfrm>
            <a:off x="10092690" y="2450592"/>
            <a:ext cx="274320" cy="274320"/>
          </a:xfrm>
          <a:prstGeom prst="rect">
            <a:avLst/>
          </a:prstGeom>
        </p:spPr>
      </p:pic>
      <p:sp>
        <p:nvSpPr>
          <p:cNvPr id="33" name="Text 25"/>
          <p:cNvSpPr/>
          <p:nvPr/>
        </p:nvSpPr>
        <p:spPr>
          <a:xfrm>
            <a:off x="9258300" y="2862072"/>
            <a:ext cx="1943100" cy="292608"/>
          </a:xfrm>
          <a:prstGeom prst="rect">
            <a:avLst/>
          </a:prstGeom>
          <a:noFill/>
          <a:ln/>
        </p:spPr>
        <p:txBody>
          <a:bodyPr wrap="square" lIns="0" tIns="0" rIns="0" bIns="0" rtlCol="0" anchor="ctr"/>
          <a:lstStyle/>
          <a:p>
            <a:pPr marL="0" indent="0" algn="ctr">
              <a:buNone/>
            </a:pPr>
            <a:r>
              <a:rPr lang="en-US" sz="1200" b="1" dirty="0">
                <a:solidFill>
                  <a:srgbClr val="1A1526"/>
                </a:solidFill>
                <a:latin typeface="Calibri" pitchFamily="34" charset="0"/>
                <a:ea typeface="Calibri" pitchFamily="34" charset="-122"/>
                <a:cs typeface="Calibri" pitchFamily="34" charset="-120"/>
              </a:rPr>
              <a:t>Provident Fund</a:t>
            </a:r>
            <a:endParaRPr lang="en-US" sz="1200" dirty="0"/>
          </a:p>
        </p:txBody>
      </p:sp>
      <p:sp>
        <p:nvSpPr>
          <p:cNvPr id="34" name="Shape 26"/>
          <p:cNvSpPr/>
          <p:nvPr/>
        </p:nvSpPr>
        <p:spPr>
          <a:xfrm>
            <a:off x="7040880" y="3346704"/>
            <a:ext cx="1943100" cy="1051560"/>
          </a:xfrm>
          <a:prstGeom prst="roundRect">
            <a:avLst>
              <a:gd name="adj" fmla="val 5217"/>
            </a:avLst>
          </a:prstGeom>
          <a:solidFill>
            <a:srgbClr val="FFFFFF"/>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5" name="Shape 27"/>
          <p:cNvSpPr/>
          <p:nvPr/>
        </p:nvSpPr>
        <p:spPr>
          <a:xfrm>
            <a:off x="7738110" y="3511296"/>
            <a:ext cx="548640" cy="548640"/>
          </a:xfrm>
          <a:prstGeom prst="ellipse">
            <a:avLst/>
          </a:prstGeom>
          <a:solidFill>
            <a:srgbClr val="A100FF"/>
          </a:solidFill>
          <a:ln/>
        </p:spPr>
        <p:txBody>
          <a:bodyPr/>
          <a:lstStyle/>
          <a:p>
            <a:endParaRPr lang="en-US"/>
          </a:p>
        </p:txBody>
      </p:sp>
      <p:pic>
        <p:nvPicPr>
          <p:cNvPr id="36" name="Image 6" descr="preencoded.png"/>
          <p:cNvPicPr>
            <a:picLocks noChangeAspect="1"/>
          </p:cNvPicPr>
          <p:nvPr/>
        </p:nvPicPr>
        <p:blipFill>
          <a:blip r:embed="rId10"/>
          <a:stretch>
            <a:fillRect/>
          </a:stretch>
        </p:blipFill>
        <p:spPr>
          <a:xfrm>
            <a:off x="7875270" y="3648456"/>
            <a:ext cx="274320" cy="274320"/>
          </a:xfrm>
          <a:prstGeom prst="rect">
            <a:avLst/>
          </a:prstGeom>
        </p:spPr>
      </p:pic>
      <p:sp>
        <p:nvSpPr>
          <p:cNvPr id="37" name="Text 28"/>
          <p:cNvSpPr/>
          <p:nvPr/>
        </p:nvSpPr>
        <p:spPr>
          <a:xfrm>
            <a:off x="7040880" y="4059936"/>
            <a:ext cx="1943100" cy="292608"/>
          </a:xfrm>
          <a:prstGeom prst="rect">
            <a:avLst/>
          </a:prstGeom>
          <a:noFill/>
          <a:ln/>
        </p:spPr>
        <p:txBody>
          <a:bodyPr wrap="square" lIns="0" tIns="0" rIns="0" bIns="0" rtlCol="0" anchor="ctr"/>
          <a:lstStyle/>
          <a:p>
            <a:pPr marL="0" indent="0" algn="ctr">
              <a:buNone/>
            </a:pPr>
            <a:r>
              <a:rPr lang="en-US" sz="1200" b="1" dirty="0">
                <a:solidFill>
                  <a:srgbClr val="1A1526"/>
                </a:solidFill>
                <a:latin typeface="Calibri" pitchFamily="34" charset="0"/>
                <a:ea typeface="Calibri" pitchFamily="34" charset="-122"/>
                <a:cs typeface="Calibri" pitchFamily="34" charset="-120"/>
              </a:rPr>
              <a:t>Benefits</a:t>
            </a:r>
            <a:endParaRPr lang="en-US" sz="1200" dirty="0"/>
          </a:p>
        </p:txBody>
      </p:sp>
      <p:sp>
        <p:nvSpPr>
          <p:cNvPr id="38" name="Shape 29"/>
          <p:cNvSpPr/>
          <p:nvPr/>
        </p:nvSpPr>
        <p:spPr>
          <a:xfrm>
            <a:off x="9258300" y="3346704"/>
            <a:ext cx="1943100" cy="1051560"/>
          </a:xfrm>
          <a:prstGeom prst="roundRect">
            <a:avLst>
              <a:gd name="adj" fmla="val 5217"/>
            </a:avLst>
          </a:prstGeom>
          <a:solidFill>
            <a:srgbClr val="FFFFFF"/>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9" name="Shape 30"/>
          <p:cNvSpPr/>
          <p:nvPr/>
        </p:nvSpPr>
        <p:spPr>
          <a:xfrm>
            <a:off x="9955530" y="3511296"/>
            <a:ext cx="548640" cy="548640"/>
          </a:xfrm>
          <a:prstGeom prst="ellipse">
            <a:avLst/>
          </a:prstGeom>
          <a:solidFill>
            <a:srgbClr val="A100FF"/>
          </a:solidFill>
          <a:ln/>
        </p:spPr>
        <p:txBody>
          <a:bodyPr/>
          <a:lstStyle/>
          <a:p>
            <a:endParaRPr lang="en-US"/>
          </a:p>
        </p:txBody>
      </p:sp>
      <p:pic>
        <p:nvPicPr>
          <p:cNvPr id="40" name="Image 7" descr="preencoded.png"/>
          <p:cNvPicPr>
            <a:picLocks noChangeAspect="1"/>
          </p:cNvPicPr>
          <p:nvPr/>
        </p:nvPicPr>
        <p:blipFill>
          <a:blip r:embed="rId11"/>
          <a:stretch>
            <a:fillRect/>
          </a:stretch>
        </p:blipFill>
        <p:spPr>
          <a:xfrm>
            <a:off x="10092690" y="3648456"/>
            <a:ext cx="274320" cy="274320"/>
          </a:xfrm>
          <a:prstGeom prst="rect">
            <a:avLst/>
          </a:prstGeom>
        </p:spPr>
      </p:pic>
      <p:sp>
        <p:nvSpPr>
          <p:cNvPr id="41" name="Text 31"/>
          <p:cNvSpPr/>
          <p:nvPr/>
        </p:nvSpPr>
        <p:spPr>
          <a:xfrm>
            <a:off x="9258300" y="4059936"/>
            <a:ext cx="1943100" cy="292608"/>
          </a:xfrm>
          <a:prstGeom prst="rect">
            <a:avLst/>
          </a:prstGeom>
          <a:noFill/>
          <a:ln/>
        </p:spPr>
        <p:txBody>
          <a:bodyPr wrap="square" lIns="0" tIns="0" rIns="0" bIns="0" rtlCol="0" anchor="ctr"/>
          <a:lstStyle/>
          <a:p>
            <a:pPr marL="0" indent="0" algn="ctr">
              <a:buNone/>
            </a:pPr>
            <a:r>
              <a:rPr lang="en-US" sz="1200" b="1" dirty="0">
                <a:solidFill>
                  <a:srgbClr val="1A1526"/>
                </a:solidFill>
                <a:latin typeface="Calibri" pitchFamily="34" charset="0"/>
                <a:ea typeface="Calibri" pitchFamily="34" charset="-122"/>
                <a:cs typeface="Calibri" pitchFamily="34" charset="-120"/>
              </a:rPr>
              <a:t>Travel Policies</a:t>
            </a:r>
            <a:endParaRPr lang="en-US" sz="1200" dirty="0"/>
          </a:p>
        </p:txBody>
      </p:sp>
      <p:sp>
        <p:nvSpPr>
          <p:cNvPr id="42" name="Shape 32"/>
          <p:cNvSpPr/>
          <p:nvPr/>
        </p:nvSpPr>
        <p:spPr>
          <a:xfrm>
            <a:off x="7040880" y="4544568"/>
            <a:ext cx="1943100" cy="1051560"/>
          </a:xfrm>
          <a:prstGeom prst="roundRect">
            <a:avLst>
              <a:gd name="adj" fmla="val 5217"/>
            </a:avLst>
          </a:prstGeom>
          <a:solidFill>
            <a:srgbClr val="FFFFFF"/>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43" name="Shape 33"/>
          <p:cNvSpPr/>
          <p:nvPr/>
        </p:nvSpPr>
        <p:spPr>
          <a:xfrm>
            <a:off x="7738110" y="4709160"/>
            <a:ext cx="548640" cy="548640"/>
          </a:xfrm>
          <a:prstGeom prst="ellipse">
            <a:avLst/>
          </a:prstGeom>
          <a:solidFill>
            <a:srgbClr val="A100FF"/>
          </a:solidFill>
          <a:ln/>
        </p:spPr>
        <p:txBody>
          <a:bodyPr/>
          <a:lstStyle/>
          <a:p>
            <a:endParaRPr lang="en-US"/>
          </a:p>
        </p:txBody>
      </p:sp>
      <p:pic>
        <p:nvPicPr>
          <p:cNvPr id="44" name="Image 8" descr="preencoded.png"/>
          <p:cNvPicPr>
            <a:picLocks noChangeAspect="1"/>
          </p:cNvPicPr>
          <p:nvPr/>
        </p:nvPicPr>
        <p:blipFill>
          <a:blip r:embed="rId12"/>
          <a:stretch>
            <a:fillRect/>
          </a:stretch>
        </p:blipFill>
        <p:spPr>
          <a:xfrm>
            <a:off x="7875270" y="4846320"/>
            <a:ext cx="274320" cy="274320"/>
          </a:xfrm>
          <a:prstGeom prst="rect">
            <a:avLst/>
          </a:prstGeom>
        </p:spPr>
      </p:pic>
      <p:sp>
        <p:nvSpPr>
          <p:cNvPr id="45" name="Text 34"/>
          <p:cNvSpPr/>
          <p:nvPr/>
        </p:nvSpPr>
        <p:spPr>
          <a:xfrm>
            <a:off x="7040880" y="5257800"/>
            <a:ext cx="1943100" cy="292608"/>
          </a:xfrm>
          <a:prstGeom prst="rect">
            <a:avLst/>
          </a:prstGeom>
          <a:noFill/>
          <a:ln/>
        </p:spPr>
        <p:txBody>
          <a:bodyPr wrap="square" lIns="0" tIns="0" rIns="0" bIns="0" rtlCol="0" anchor="ctr"/>
          <a:lstStyle/>
          <a:p>
            <a:pPr marL="0" indent="0" algn="ctr">
              <a:buNone/>
            </a:pPr>
            <a:r>
              <a:rPr lang="en-US" sz="1200" b="1" dirty="0">
                <a:solidFill>
                  <a:srgbClr val="1A1526"/>
                </a:solidFill>
                <a:latin typeface="Calibri" pitchFamily="34" charset="0"/>
                <a:ea typeface="Calibri" pitchFamily="34" charset="-122"/>
                <a:cs typeface="Calibri" pitchFamily="34" charset="-120"/>
              </a:rPr>
              <a:t>Employee Handbook</a:t>
            </a:r>
            <a:endParaRPr lang="en-US" sz="1200" dirty="0"/>
          </a:p>
        </p:txBody>
      </p:sp>
      <p:sp>
        <p:nvSpPr>
          <p:cNvPr id="46" name="Shape 35"/>
          <p:cNvSpPr/>
          <p:nvPr/>
        </p:nvSpPr>
        <p:spPr>
          <a:xfrm>
            <a:off x="9258300" y="4544568"/>
            <a:ext cx="1943100" cy="1051560"/>
          </a:xfrm>
          <a:prstGeom prst="roundRect">
            <a:avLst>
              <a:gd name="adj" fmla="val 5217"/>
            </a:avLst>
          </a:prstGeom>
          <a:solidFill>
            <a:srgbClr val="FFFFFF"/>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47" name="Shape 36"/>
          <p:cNvSpPr/>
          <p:nvPr/>
        </p:nvSpPr>
        <p:spPr>
          <a:xfrm>
            <a:off x="9955530" y="4709160"/>
            <a:ext cx="548640" cy="548640"/>
          </a:xfrm>
          <a:prstGeom prst="ellipse">
            <a:avLst/>
          </a:prstGeom>
          <a:solidFill>
            <a:srgbClr val="A100FF"/>
          </a:solidFill>
          <a:ln/>
        </p:spPr>
        <p:txBody>
          <a:bodyPr/>
          <a:lstStyle/>
          <a:p>
            <a:endParaRPr lang="en-US"/>
          </a:p>
        </p:txBody>
      </p:sp>
      <p:pic>
        <p:nvPicPr>
          <p:cNvPr id="48" name="Image 9" descr="preencoded.png"/>
          <p:cNvPicPr>
            <a:picLocks noChangeAspect="1"/>
          </p:cNvPicPr>
          <p:nvPr/>
        </p:nvPicPr>
        <p:blipFill>
          <a:blip r:embed="rId13"/>
          <a:stretch>
            <a:fillRect/>
          </a:stretch>
        </p:blipFill>
        <p:spPr>
          <a:xfrm>
            <a:off x="10092690" y="4846320"/>
            <a:ext cx="274320" cy="274320"/>
          </a:xfrm>
          <a:prstGeom prst="rect">
            <a:avLst/>
          </a:prstGeom>
        </p:spPr>
      </p:pic>
      <p:sp>
        <p:nvSpPr>
          <p:cNvPr id="49" name="Text 37"/>
          <p:cNvSpPr/>
          <p:nvPr/>
        </p:nvSpPr>
        <p:spPr>
          <a:xfrm>
            <a:off x="9258300" y="5257800"/>
            <a:ext cx="1943100" cy="292608"/>
          </a:xfrm>
          <a:prstGeom prst="rect">
            <a:avLst/>
          </a:prstGeom>
          <a:noFill/>
          <a:ln/>
        </p:spPr>
        <p:txBody>
          <a:bodyPr wrap="square" lIns="0" tIns="0" rIns="0" bIns="0" rtlCol="0" anchor="ctr"/>
          <a:lstStyle/>
          <a:p>
            <a:pPr marL="0" indent="0" algn="ctr">
              <a:buNone/>
            </a:pPr>
            <a:r>
              <a:rPr lang="en-US" sz="1200" b="1" dirty="0">
                <a:solidFill>
                  <a:srgbClr val="1A1526"/>
                </a:solidFill>
                <a:latin typeface="Calibri" pitchFamily="34" charset="0"/>
                <a:ea typeface="Calibri" pitchFamily="34" charset="-122"/>
                <a:cs typeface="Calibri" pitchFamily="34" charset="-120"/>
              </a:rPr>
              <a:t>E-Signatures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INTRODUCING PRISM</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What Is PRISM?</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06</a:t>
            </a:r>
            <a:endParaRPr lang="en-US" sz="1000" dirty="0"/>
          </a:p>
        </p:txBody>
      </p:sp>
      <p:sp>
        <p:nvSpPr>
          <p:cNvPr id="6" name="Shape 4"/>
          <p:cNvSpPr/>
          <p:nvPr/>
        </p:nvSpPr>
        <p:spPr>
          <a:xfrm>
            <a:off x="685800" y="1481328"/>
            <a:ext cx="2103120" cy="960120"/>
          </a:xfrm>
          <a:prstGeom prst="roundRect">
            <a:avLst>
              <a:gd name="adj" fmla="val 5714"/>
            </a:avLst>
          </a:prstGeom>
          <a:solidFill>
            <a:srgbClr val="EDE7F7"/>
          </a:solidFill>
          <a:ln w="1270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7" name="Text 5"/>
          <p:cNvSpPr/>
          <p:nvPr/>
        </p:nvSpPr>
        <p:spPr>
          <a:xfrm>
            <a:off x="795528" y="1481328"/>
            <a:ext cx="731520" cy="960120"/>
          </a:xfrm>
          <a:prstGeom prst="rect">
            <a:avLst/>
          </a:prstGeom>
          <a:noFill/>
          <a:ln/>
        </p:spPr>
        <p:txBody>
          <a:bodyPr wrap="square" lIns="0" tIns="0" rIns="0" bIns="0" rtlCol="0" anchor="ctr"/>
          <a:lstStyle/>
          <a:p>
            <a:pPr marL="0" indent="0" algn="ctr">
              <a:buNone/>
            </a:pPr>
            <a:r>
              <a:rPr lang="en-US" sz="4000" b="1" dirty="0">
                <a:solidFill>
                  <a:srgbClr val="A100FF"/>
                </a:solidFill>
                <a:latin typeface="Arial" pitchFamily="34" charset="0"/>
                <a:ea typeface="Arial" pitchFamily="34" charset="-122"/>
                <a:cs typeface="Arial" pitchFamily="34" charset="-120"/>
              </a:rPr>
              <a:t>P</a:t>
            </a:r>
            <a:endParaRPr lang="en-US" sz="4000" dirty="0"/>
          </a:p>
        </p:txBody>
      </p:sp>
      <p:sp>
        <p:nvSpPr>
          <p:cNvPr id="8" name="Text 6"/>
          <p:cNvSpPr/>
          <p:nvPr/>
        </p:nvSpPr>
        <p:spPr>
          <a:xfrm>
            <a:off x="1508760" y="1481328"/>
            <a:ext cx="1188720" cy="960120"/>
          </a:xfrm>
          <a:prstGeom prst="rect">
            <a:avLst/>
          </a:prstGeom>
          <a:noFill/>
          <a:ln/>
        </p:spPr>
        <p:txBody>
          <a:bodyPr wrap="square" lIns="0" tIns="0" rIns="0" bIns="0" rtlCol="0" anchor="ctr"/>
          <a:lstStyle/>
          <a:p>
            <a:pPr marL="0" indent="0">
              <a:buNone/>
            </a:pPr>
            <a:r>
              <a:rPr lang="en-US" sz="1350" b="1" dirty="0">
                <a:solidFill>
                  <a:srgbClr val="1A1526"/>
                </a:solidFill>
                <a:latin typeface="Calibri" pitchFamily="34" charset="0"/>
                <a:ea typeface="Calibri" pitchFamily="34" charset="-122"/>
                <a:cs typeface="Calibri" pitchFamily="34" charset="-120"/>
              </a:rPr>
              <a:t>Policy</a:t>
            </a:r>
            <a:endParaRPr lang="en-US" sz="1350" dirty="0"/>
          </a:p>
        </p:txBody>
      </p:sp>
      <p:sp>
        <p:nvSpPr>
          <p:cNvPr id="9" name="Shape 7"/>
          <p:cNvSpPr/>
          <p:nvPr/>
        </p:nvSpPr>
        <p:spPr>
          <a:xfrm>
            <a:off x="2962656" y="1481328"/>
            <a:ext cx="2103120" cy="960120"/>
          </a:xfrm>
          <a:prstGeom prst="roundRect">
            <a:avLst>
              <a:gd name="adj" fmla="val 5714"/>
            </a:avLst>
          </a:prstGeom>
          <a:solidFill>
            <a:srgbClr val="EDE7F7"/>
          </a:solidFill>
          <a:ln w="1270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10" name="Text 8"/>
          <p:cNvSpPr/>
          <p:nvPr/>
        </p:nvSpPr>
        <p:spPr>
          <a:xfrm>
            <a:off x="3072384" y="1481328"/>
            <a:ext cx="731520" cy="960120"/>
          </a:xfrm>
          <a:prstGeom prst="rect">
            <a:avLst/>
          </a:prstGeom>
          <a:noFill/>
          <a:ln/>
        </p:spPr>
        <p:txBody>
          <a:bodyPr wrap="square" lIns="0" tIns="0" rIns="0" bIns="0" rtlCol="0" anchor="ctr"/>
          <a:lstStyle/>
          <a:p>
            <a:pPr marL="0" indent="0" algn="ctr">
              <a:buNone/>
            </a:pPr>
            <a:r>
              <a:rPr lang="en-US" sz="4000" b="1" dirty="0">
                <a:solidFill>
                  <a:srgbClr val="A100FF"/>
                </a:solidFill>
                <a:latin typeface="Arial" pitchFamily="34" charset="0"/>
                <a:ea typeface="Arial" pitchFamily="34" charset="-122"/>
                <a:cs typeface="Arial" pitchFamily="34" charset="-120"/>
              </a:rPr>
              <a:t>R</a:t>
            </a:r>
            <a:endParaRPr lang="en-US" sz="4000" dirty="0"/>
          </a:p>
        </p:txBody>
      </p:sp>
      <p:sp>
        <p:nvSpPr>
          <p:cNvPr id="11" name="Text 9"/>
          <p:cNvSpPr/>
          <p:nvPr/>
        </p:nvSpPr>
        <p:spPr>
          <a:xfrm>
            <a:off x="3785616" y="1481328"/>
            <a:ext cx="1188720" cy="960120"/>
          </a:xfrm>
          <a:prstGeom prst="rect">
            <a:avLst/>
          </a:prstGeom>
          <a:noFill/>
          <a:ln/>
        </p:spPr>
        <p:txBody>
          <a:bodyPr wrap="square" lIns="0" tIns="0" rIns="0" bIns="0" rtlCol="0" anchor="ctr"/>
          <a:lstStyle/>
          <a:p>
            <a:pPr marL="0" indent="0">
              <a:buNone/>
            </a:pPr>
            <a:r>
              <a:rPr lang="en-US" sz="1350" b="1" dirty="0">
                <a:solidFill>
                  <a:srgbClr val="1A1526"/>
                </a:solidFill>
                <a:latin typeface="Calibri" pitchFamily="34" charset="0"/>
                <a:ea typeface="Calibri" pitchFamily="34" charset="-122"/>
                <a:cs typeface="Calibri" pitchFamily="34" charset="-120"/>
              </a:rPr>
              <a:t>Resource</a:t>
            </a:r>
            <a:endParaRPr lang="en-US" sz="1350" dirty="0"/>
          </a:p>
        </p:txBody>
      </p:sp>
      <p:sp>
        <p:nvSpPr>
          <p:cNvPr id="12" name="Shape 10"/>
          <p:cNvSpPr/>
          <p:nvPr/>
        </p:nvSpPr>
        <p:spPr>
          <a:xfrm>
            <a:off x="5239512" y="1481328"/>
            <a:ext cx="2103120" cy="960120"/>
          </a:xfrm>
          <a:prstGeom prst="roundRect">
            <a:avLst>
              <a:gd name="adj" fmla="val 5714"/>
            </a:avLst>
          </a:prstGeom>
          <a:solidFill>
            <a:srgbClr val="EDE7F7"/>
          </a:solidFill>
          <a:ln w="1270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13" name="Text 11"/>
          <p:cNvSpPr/>
          <p:nvPr/>
        </p:nvSpPr>
        <p:spPr>
          <a:xfrm>
            <a:off x="5349240" y="1481328"/>
            <a:ext cx="731520" cy="960120"/>
          </a:xfrm>
          <a:prstGeom prst="rect">
            <a:avLst/>
          </a:prstGeom>
          <a:noFill/>
          <a:ln/>
        </p:spPr>
        <p:txBody>
          <a:bodyPr wrap="square" lIns="0" tIns="0" rIns="0" bIns="0" rtlCol="0" anchor="ctr"/>
          <a:lstStyle/>
          <a:p>
            <a:pPr marL="0" indent="0" algn="ctr">
              <a:buNone/>
            </a:pPr>
            <a:r>
              <a:rPr lang="en-US" sz="4000" b="1" dirty="0">
                <a:solidFill>
                  <a:srgbClr val="A100FF"/>
                </a:solidFill>
                <a:latin typeface="Arial" pitchFamily="34" charset="0"/>
                <a:ea typeface="Arial" pitchFamily="34" charset="-122"/>
                <a:cs typeface="Arial" pitchFamily="34" charset="-120"/>
              </a:rPr>
              <a:t>I</a:t>
            </a:r>
            <a:endParaRPr lang="en-US" sz="4000" dirty="0"/>
          </a:p>
        </p:txBody>
      </p:sp>
      <p:sp>
        <p:nvSpPr>
          <p:cNvPr id="14" name="Text 12"/>
          <p:cNvSpPr/>
          <p:nvPr/>
        </p:nvSpPr>
        <p:spPr>
          <a:xfrm>
            <a:off x="6062472" y="1481328"/>
            <a:ext cx="1188720" cy="960120"/>
          </a:xfrm>
          <a:prstGeom prst="rect">
            <a:avLst/>
          </a:prstGeom>
          <a:noFill/>
          <a:ln/>
        </p:spPr>
        <p:txBody>
          <a:bodyPr wrap="square" lIns="0" tIns="0" rIns="0" bIns="0" rtlCol="0" anchor="ctr"/>
          <a:lstStyle/>
          <a:p>
            <a:pPr marL="0" indent="0">
              <a:buNone/>
            </a:pPr>
            <a:r>
              <a:rPr lang="en-US" sz="1350" b="1" dirty="0">
                <a:solidFill>
                  <a:srgbClr val="1A1526"/>
                </a:solidFill>
                <a:latin typeface="Calibri" pitchFamily="34" charset="0"/>
                <a:ea typeface="Calibri" pitchFamily="34" charset="-122"/>
                <a:cs typeface="Calibri" pitchFamily="34" charset="-120"/>
              </a:rPr>
              <a:t>Information</a:t>
            </a:r>
            <a:endParaRPr lang="en-US" sz="1350" dirty="0"/>
          </a:p>
        </p:txBody>
      </p:sp>
      <p:sp>
        <p:nvSpPr>
          <p:cNvPr id="15" name="Shape 13"/>
          <p:cNvSpPr/>
          <p:nvPr/>
        </p:nvSpPr>
        <p:spPr>
          <a:xfrm>
            <a:off x="7516368" y="1481328"/>
            <a:ext cx="2103120" cy="960120"/>
          </a:xfrm>
          <a:prstGeom prst="roundRect">
            <a:avLst>
              <a:gd name="adj" fmla="val 5714"/>
            </a:avLst>
          </a:prstGeom>
          <a:solidFill>
            <a:srgbClr val="EDE7F7"/>
          </a:solidFill>
          <a:ln w="1270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16" name="Text 14"/>
          <p:cNvSpPr/>
          <p:nvPr/>
        </p:nvSpPr>
        <p:spPr>
          <a:xfrm>
            <a:off x="7626096" y="1481328"/>
            <a:ext cx="731520" cy="960120"/>
          </a:xfrm>
          <a:prstGeom prst="rect">
            <a:avLst/>
          </a:prstGeom>
          <a:noFill/>
          <a:ln/>
        </p:spPr>
        <p:txBody>
          <a:bodyPr wrap="square" lIns="0" tIns="0" rIns="0" bIns="0" rtlCol="0" anchor="ctr"/>
          <a:lstStyle/>
          <a:p>
            <a:pPr marL="0" indent="0" algn="ctr">
              <a:buNone/>
            </a:pPr>
            <a:r>
              <a:rPr lang="en-US" sz="4000" b="1" dirty="0">
                <a:solidFill>
                  <a:srgbClr val="A100FF"/>
                </a:solidFill>
                <a:latin typeface="Arial" pitchFamily="34" charset="0"/>
                <a:ea typeface="Arial" pitchFamily="34" charset="-122"/>
                <a:cs typeface="Arial" pitchFamily="34" charset="-120"/>
              </a:rPr>
              <a:t>S</a:t>
            </a:r>
            <a:endParaRPr lang="en-US" sz="4000" dirty="0"/>
          </a:p>
        </p:txBody>
      </p:sp>
      <p:sp>
        <p:nvSpPr>
          <p:cNvPr id="17" name="Text 15"/>
          <p:cNvSpPr/>
          <p:nvPr/>
        </p:nvSpPr>
        <p:spPr>
          <a:xfrm>
            <a:off x="8339328" y="1481328"/>
            <a:ext cx="1188720" cy="960120"/>
          </a:xfrm>
          <a:prstGeom prst="rect">
            <a:avLst/>
          </a:prstGeom>
          <a:noFill/>
          <a:ln/>
        </p:spPr>
        <p:txBody>
          <a:bodyPr wrap="square" lIns="0" tIns="0" rIns="0" bIns="0" rtlCol="0" anchor="ctr"/>
          <a:lstStyle/>
          <a:p>
            <a:pPr marL="0" indent="0">
              <a:buNone/>
            </a:pPr>
            <a:r>
              <a:rPr lang="en-US" sz="1350" b="1" dirty="0">
                <a:solidFill>
                  <a:srgbClr val="1A1526"/>
                </a:solidFill>
                <a:latin typeface="Calibri" pitchFamily="34" charset="0"/>
                <a:ea typeface="Calibri" pitchFamily="34" charset="-122"/>
                <a:cs typeface="Calibri" pitchFamily="34" charset="-120"/>
              </a:rPr>
              <a:t>Search</a:t>
            </a:r>
            <a:endParaRPr lang="en-US" sz="1350" dirty="0"/>
          </a:p>
        </p:txBody>
      </p:sp>
      <p:sp>
        <p:nvSpPr>
          <p:cNvPr id="18" name="Shape 16"/>
          <p:cNvSpPr/>
          <p:nvPr/>
        </p:nvSpPr>
        <p:spPr>
          <a:xfrm>
            <a:off x="9793224" y="1481328"/>
            <a:ext cx="2103120" cy="960120"/>
          </a:xfrm>
          <a:prstGeom prst="roundRect">
            <a:avLst>
              <a:gd name="adj" fmla="val 5714"/>
            </a:avLst>
          </a:prstGeom>
          <a:solidFill>
            <a:srgbClr val="EDE7F7"/>
          </a:solidFill>
          <a:ln w="1270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19" name="Text 17"/>
          <p:cNvSpPr/>
          <p:nvPr/>
        </p:nvSpPr>
        <p:spPr>
          <a:xfrm>
            <a:off x="9902952" y="1481328"/>
            <a:ext cx="731520" cy="960120"/>
          </a:xfrm>
          <a:prstGeom prst="rect">
            <a:avLst/>
          </a:prstGeom>
          <a:noFill/>
          <a:ln/>
        </p:spPr>
        <p:txBody>
          <a:bodyPr wrap="square" lIns="0" tIns="0" rIns="0" bIns="0" rtlCol="0" anchor="ctr"/>
          <a:lstStyle/>
          <a:p>
            <a:pPr marL="0" indent="0" algn="ctr">
              <a:buNone/>
            </a:pPr>
            <a:r>
              <a:rPr lang="en-US" sz="4000" b="1" dirty="0">
                <a:solidFill>
                  <a:srgbClr val="A100FF"/>
                </a:solidFill>
                <a:latin typeface="Arial" pitchFamily="34" charset="0"/>
                <a:ea typeface="Arial" pitchFamily="34" charset="-122"/>
                <a:cs typeface="Arial" pitchFamily="34" charset="-120"/>
              </a:rPr>
              <a:t>M</a:t>
            </a:r>
            <a:endParaRPr lang="en-US" sz="4000" dirty="0"/>
          </a:p>
        </p:txBody>
      </p:sp>
      <p:sp>
        <p:nvSpPr>
          <p:cNvPr id="20" name="Text 18"/>
          <p:cNvSpPr/>
          <p:nvPr/>
        </p:nvSpPr>
        <p:spPr>
          <a:xfrm>
            <a:off x="10616184" y="1481328"/>
            <a:ext cx="1188720" cy="960120"/>
          </a:xfrm>
          <a:prstGeom prst="rect">
            <a:avLst/>
          </a:prstGeom>
          <a:noFill/>
          <a:ln/>
        </p:spPr>
        <p:txBody>
          <a:bodyPr wrap="square" lIns="0" tIns="0" rIns="0" bIns="0" rtlCol="0" anchor="ctr"/>
          <a:lstStyle/>
          <a:p>
            <a:pPr marL="0" indent="0">
              <a:buNone/>
            </a:pPr>
            <a:r>
              <a:rPr lang="en-US" sz="1350" b="1" dirty="0">
                <a:solidFill>
                  <a:srgbClr val="1A1526"/>
                </a:solidFill>
                <a:latin typeface="Calibri" pitchFamily="34" charset="0"/>
                <a:ea typeface="Calibri" pitchFamily="34" charset="-122"/>
                <a:cs typeface="Calibri" pitchFamily="34" charset="-120"/>
              </a:rPr>
              <a:t>Module</a:t>
            </a:r>
            <a:endParaRPr lang="en-US" sz="1350" dirty="0"/>
          </a:p>
        </p:txBody>
      </p:sp>
      <p:sp>
        <p:nvSpPr>
          <p:cNvPr id="21" name="Text 19"/>
          <p:cNvSpPr/>
          <p:nvPr/>
        </p:nvSpPr>
        <p:spPr>
          <a:xfrm>
            <a:off x="685800" y="2743200"/>
            <a:ext cx="5669280" cy="685800"/>
          </a:xfrm>
          <a:prstGeom prst="rect">
            <a:avLst/>
          </a:prstGeom>
          <a:noFill/>
          <a:ln/>
        </p:spPr>
        <p:txBody>
          <a:bodyPr wrap="square" lIns="0" tIns="0" rIns="0" bIns="0" rtlCol="0" anchor="ctr"/>
          <a:lstStyle/>
          <a:p>
            <a:pPr marL="0" indent="0">
              <a:lnSpc>
                <a:spcPct val="112000"/>
              </a:lnSpc>
              <a:buNone/>
            </a:pPr>
            <a:r>
              <a:rPr lang="en-US" sz="1350" dirty="0">
                <a:solidFill>
                  <a:srgbClr val="5A5568"/>
                </a:solidFill>
                <a:latin typeface="Calibri" pitchFamily="34" charset="0"/>
                <a:ea typeface="Calibri" pitchFamily="34" charset="-122"/>
                <a:cs typeface="Calibri" pitchFamily="34" charset="-120"/>
              </a:rPr>
              <a:t>An AI-powered assistant that lets anyone ask a question in plain language and get an accurate answer drawn from the company's own documents.</a:t>
            </a:r>
            <a:endParaRPr lang="en-US" sz="1350" dirty="0"/>
          </a:p>
        </p:txBody>
      </p:sp>
      <p:sp>
        <p:nvSpPr>
          <p:cNvPr id="22" name="Shape 20"/>
          <p:cNvSpPr/>
          <p:nvPr/>
        </p:nvSpPr>
        <p:spPr>
          <a:xfrm>
            <a:off x="685800" y="3520440"/>
            <a:ext cx="402336" cy="402336"/>
          </a:xfrm>
          <a:prstGeom prst="ellipse">
            <a:avLst/>
          </a:prstGeom>
          <a:solidFill>
            <a:srgbClr val="1D4ED8"/>
          </a:solidFill>
          <a:ln/>
        </p:spPr>
        <p:txBody>
          <a:bodyPr/>
          <a:lstStyle/>
          <a:p>
            <a:endParaRPr lang="en-US"/>
          </a:p>
        </p:txBody>
      </p:sp>
      <p:pic>
        <p:nvPicPr>
          <p:cNvPr id="23" name="Image 0" descr="preencoded.png"/>
          <p:cNvPicPr>
            <a:picLocks noChangeAspect="1"/>
          </p:cNvPicPr>
          <p:nvPr/>
        </p:nvPicPr>
        <p:blipFill>
          <a:blip r:embed="rId4"/>
          <a:stretch>
            <a:fillRect/>
          </a:stretch>
        </p:blipFill>
        <p:spPr>
          <a:xfrm>
            <a:off x="786384" y="3621024"/>
            <a:ext cx="201168" cy="201168"/>
          </a:xfrm>
          <a:prstGeom prst="rect">
            <a:avLst/>
          </a:prstGeom>
        </p:spPr>
      </p:pic>
      <p:sp>
        <p:nvSpPr>
          <p:cNvPr id="24" name="Text 21"/>
          <p:cNvSpPr/>
          <p:nvPr/>
        </p:nvSpPr>
        <p:spPr>
          <a:xfrm>
            <a:off x="1234440" y="3520440"/>
            <a:ext cx="5212080" cy="402336"/>
          </a:xfrm>
          <a:prstGeom prst="rect">
            <a:avLst/>
          </a:prstGeom>
          <a:noFill/>
          <a:ln/>
        </p:spPr>
        <p:txBody>
          <a:bodyPr wrap="square" lIns="0" tIns="0" rIns="0" bIns="0" rtlCol="0" anchor="ctr"/>
          <a:lstStyle/>
          <a:p>
            <a:pPr marL="0" indent="0">
              <a:buNone/>
            </a:pPr>
            <a:r>
              <a:rPr lang="en-US" sz="1250" b="1" dirty="0">
                <a:solidFill>
                  <a:srgbClr val="1A1526"/>
                </a:solidFill>
                <a:latin typeface="Calibri" pitchFamily="34" charset="0"/>
                <a:ea typeface="Calibri" pitchFamily="34" charset="-122"/>
                <a:cs typeface="Calibri" pitchFamily="34" charset="-120"/>
              </a:rPr>
              <a:t>Natural-language Q&amp;A  </a:t>
            </a:r>
            <a:r>
              <a:rPr lang="en-US" sz="1050" dirty="0">
                <a:solidFill>
                  <a:srgbClr val="5A5568"/>
                </a:solidFill>
                <a:latin typeface="Calibri" pitchFamily="34" charset="0"/>
                <a:ea typeface="Calibri" pitchFamily="34" charset="-122"/>
                <a:cs typeface="Calibri" pitchFamily="34" charset="-120"/>
              </a:rPr>
              <a:t>— ask the way you'd ask a colleague</a:t>
            </a:r>
            <a:endParaRPr lang="en-US" sz="1250" dirty="0"/>
          </a:p>
        </p:txBody>
      </p:sp>
      <p:sp>
        <p:nvSpPr>
          <p:cNvPr id="25" name="Shape 22"/>
          <p:cNvSpPr/>
          <p:nvPr/>
        </p:nvSpPr>
        <p:spPr>
          <a:xfrm>
            <a:off x="685800" y="4087368"/>
            <a:ext cx="402336" cy="402336"/>
          </a:xfrm>
          <a:prstGeom prst="ellipse">
            <a:avLst/>
          </a:prstGeom>
          <a:solidFill>
            <a:srgbClr val="1D4ED8"/>
          </a:solidFill>
          <a:ln/>
        </p:spPr>
        <p:txBody>
          <a:bodyPr/>
          <a:lstStyle/>
          <a:p>
            <a:endParaRPr lang="en-US"/>
          </a:p>
        </p:txBody>
      </p:sp>
      <p:pic>
        <p:nvPicPr>
          <p:cNvPr id="26" name="Image 1" descr="preencoded.png"/>
          <p:cNvPicPr>
            <a:picLocks noChangeAspect="1"/>
          </p:cNvPicPr>
          <p:nvPr/>
        </p:nvPicPr>
        <p:blipFill>
          <a:blip r:embed="rId5"/>
          <a:stretch>
            <a:fillRect/>
          </a:stretch>
        </p:blipFill>
        <p:spPr>
          <a:xfrm>
            <a:off x="786384" y="4187952"/>
            <a:ext cx="201168" cy="201168"/>
          </a:xfrm>
          <a:prstGeom prst="rect">
            <a:avLst/>
          </a:prstGeom>
        </p:spPr>
      </p:pic>
      <p:sp>
        <p:nvSpPr>
          <p:cNvPr id="27" name="Text 23"/>
          <p:cNvSpPr/>
          <p:nvPr/>
        </p:nvSpPr>
        <p:spPr>
          <a:xfrm>
            <a:off x="1234440" y="4087368"/>
            <a:ext cx="5212080" cy="402336"/>
          </a:xfrm>
          <a:prstGeom prst="rect">
            <a:avLst/>
          </a:prstGeom>
          <a:noFill/>
          <a:ln/>
        </p:spPr>
        <p:txBody>
          <a:bodyPr wrap="square" lIns="0" tIns="0" rIns="0" bIns="0" rtlCol="0" anchor="ctr"/>
          <a:lstStyle/>
          <a:p>
            <a:pPr marL="0" indent="0">
              <a:buNone/>
            </a:pPr>
            <a:r>
              <a:rPr lang="en-US" sz="1250" b="1" dirty="0">
                <a:solidFill>
                  <a:srgbClr val="1A1526"/>
                </a:solidFill>
                <a:latin typeface="Calibri" pitchFamily="34" charset="0"/>
                <a:ea typeface="Calibri" pitchFamily="34" charset="-122"/>
                <a:cs typeface="Calibri" pitchFamily="34" charset="-120"/>
              </a:rPr>
              <a:t>Enterprise document search  </a:t>
            </a:r>
            <a:r>
              <a:rPr lang="en-US" sz="1050" dirty="0">
                <a:solidFill>
                  <a:srgbClr val="5A5568"/>
                </a:solidFill>
                <a:latin typeface="Calibri" pitchFamily="34" charset="0"/>
                <a:ea typeface="Calibri" pitchFamily="34" charset="-122"/>
                <a:cs typeface="Calibri" pitchFamily="34" charset="-120"/>
              </a:rPr>
              <a:t>— retrieves the exact relevant passages</a:t>
            </a:r>
            <a:endParaRPr lang="en-US" sz="1250" dirty="0"/>
          </a:p>
        </p:txBody>
      </p:sp>
      <p:sp>
        <p:nvSpPr>
          <p:cNvPr id="28" name="Shape 24"/>
          <p:cNvSpPr/>
          <p:nvPr/>
        </p:nvSpPr>
        <p:spPr>
          <a:xfrm>
            <a:off x="685800" y="4654296"/>
            <a:ext cx="402336" cy="402336"/>
          </a:xfrm>
          <a:prstGeom prst="ellipse">
            <a:avLst/>
          </a:prstGeom>
          <a:solidFill>
            <a:srgbClr val="1D4ED8"/>
          </a:solidFill>
          <a:ln/>
        </p:spPr>
        <p:txBody>
          <a:bodyPr/>
          <a:lstStyle/>
          <a:p>
            <a:endParaRPr lang="en-US"/>
          </a:p>
        </p:txBody>
      </p:sp>
      <p:pic>
        <p:nvPicPr>
          <p:cNvPr id="29" name="Image 2" descr="preencoded.png"/>
          <p:cNvPicPr>
            <a:picLocks noChangeAspect="1"/>
          </p:cNvPicPr>
          <p:nvPr/>
        </p:nvPicPr>
        <p:blipFill>
          <a:blip r:embed="rId6"/>
          <a:stretch>
            <a:fillRect/>
          </a:stretch>
        </p:blipFill>
        <p:spPr>
          <a:xfrm>
            <a:off x="786384" y="4754880"/>
            <a:ext cx="201168" cy="201168"/>
          </a:xfrm>
          <a:prstGeom prst="rect">
            <a:avLst/>
          </a:prstGeom>
        </p:spPr>
      </p:pic>
      <p:sp>
        <p:nvSpPr>
          <p:cNvPr id="30" name="Text 25"/>
          <p:cNvSpPr/>
          <p:nvPr/>
        </p:nvSpPr>
        <p:spPr>
          <a:xfrm>
            <a:off x="1234440" y="4654296"/>
            <a:ext cx="5212080" cy="402336"/>
          </a:xfrm>
          <a:prstGeom prst="rect">
            <a:avLst/>
          </a:prstGeom>
          <a:noFill/>
          <a:ln/>
        </p:spPr>
        <p:txBody>
          <a:bodyPr wrap="square" lIns="0" tIns="0" rIns="0" bIns="0" rtlCol="0" anchor="ctr"/>
          <a:lstStyle/>
          <a:p>
            <a:pPr marL="0" indent="0">
              <a:buNone/>
            </a:pPr>
            <a:r>
              <a:rPr lang="en-US" sz="1250" b="1" dirty="0">
                <a:solidFill>
                  <a:srgbClr val="1A1526"/>
                </a:solidFill>
                <a:latin typeface="Calibri" pitchFamily="34" charset="0"/>
                <a:ea typeface="Calibri" pitchFamily="34" charset="-122"/>
                <a:cs typeface="Calibri" pitchFamily="34" charset="-120"/>
              </a:rPr>
              <a:t>Conversational experience  </a:t>
            </a:r>
            <a:r>
              <a:rPr lang="en-US" sz="1050" dirty="0">
                <a:solidFill>
                  <a:srgbClr val="5A5568"/>
                </a:solidFill>
                <a:latin typeface="Calibri" pitchFamily="34" charset="0"/>
                <a:ea typeface="Calibri" pitchFamily="34" charset="-122"/>
                <a:cs typeface="Calibri" pitchFamily="34" charset="-120"/>
              </a:rPr>
              <a:t>— understands follow-up questions in context</a:t>
            </a:r>
            <a:endParaRPr lang="en-US" sz="1250" dirty="0"/>
          </a:p>
        </p:txBody>
      </p:sp>
      <p:sp>
        <p:nvSpPr>
          <p:cNvPr id="31" name="Shape 26"/>
          <p:cNvSpPr/>
          <p:nvPr/>
        </p:nvSpPr>
        <p:spPr>
          <a:xfrm>
            <a:off x="685800" y="5221224"/>
            <a:ext cx="402336" cy="402336"/>
          </a:xfrm>
          <a:prstGeom prst="ellipse">
            <a:avLst/>
          </a:prstGeom>
          <a:solidFill>
            <a:srgbClr val="1D4ED8"/>
          </a:solidFill>
          <a:ln/>
        </p:spPr>
        <p:txBody>
          <a:bodyPr/>
          <a:lstStyle/>
          <a:p>
            <a:endParaRPr lang="en-US"/>
          </a:p>
        </p:txBody>
      </p:sp>
      <p:pic>
        <p:nvPicPr>
          <p:cNvPr id="32" name="Image 3" descr="preencoded.png"/>
          <p:cNvPicPr>
            <a:picLocks noChangeAspect="1"/>
          </p:cNvPicPr>
          <p:nvPr/>
        </p:nvPicPr>
        <p:blipFill>
          <a:blip r:embed="rId7"/>
          <a:stretch>
            <a:fillRect/>
          </a:stretch>
        </p:blipFill>
        <p:spPr>
          <a:xfrm>
            <a:off x="786384" y="5321808"/>
            <a:ext cx="201168" cy="201168"/>
          </a:xfrm>
          <a:prstGeom prst="rect">
            <a:avLst/>
          </a:prstGeom>
        </p:spPr>
      </p:pic>
      <p:sp>
        <p:nvSpPr>
          <p:cNvPr id="33" name="Text 27"/>
          <p:cNvSpPr/>
          <p:nvPr/>
        </p:nvSpPr>
        <p:spPr>
          <a:xfrm>
            <a:off x="1234440" y="5221224"/>
            <a:ext cx="5212080" cy="402336"/>
          </a:xfrm>
          <a:prstGeom prst="rect">
            <a:avLst/>
          </a:prstGeom>
          <a:noFill/>
          <a:ln/>
        </p:spPr>
        <p:txBody>
          <a:bodyPr wrap="square" lIns="0" tIns="0" rIns="0" bIns="0" rtlCol="0" anchor="ctr"/>
          <a:lstStyle/>
          <a:p>
            <a:pPr marL="0" indent="0">
              <a:buNone/>
            </a:pPr>
            <a:r>
              <a:rPr lang="en-US" sz="1250" b="1" dirty="0">
                <a:solidFill>
                  <a:srgbClr val="1A1526"/>
                </a:solidFill>
                <a:latin typeface="Calibri" pitchFamily="34" charset="0"/>
                <a:ea typeface="Calibri" pitchFamily="34" charset="-122"/>
                <a:cs typeface="Calibri" pitchFamily="34" charset="-120"/>
              </a:rPr>
              <a:t>Persistent knowledge  </a:t>
            </a:r>
            <a:r>
              <a:rPr lang="en-US" sz="1050" dirty="0">
                <a:solidFill>
                  <a:srgbClr val="5A5568"/>
                </a:solidFill>
                <a:latin typeface="Calibri" pitchFamily="34" charset="0"/>
                <a:ea typeface="Calibri" pitchFamily="34" charset="-122"/>
                <a:cs typeface="Calibri" pitchFamily="34" charset="-120"/>
              </a:rPr>
              <a:t>— documents stay searchable over time</a:t>
            </a:r>
            <a:endParaRPr lang="en-US" sz="1250" dirty="0"/>
          </a:p>
        </p:txBody>
      </p:sp>
      <p:sp>
        <p:nvSpPr>
          <p:cNvPr id="34" name="Shape 28"/>
          <p:cNvSpPr/>
          <p:nvPr/>
        </p:nvSpPr>
        <p:spPr>
          <a:xfrm>
            <a:off x="6720840" y="2743200"/>
            <a:ext cx="5385816" cy="3364992"/>
          </a:xfrm>
          <a:prstGeom prst="roundRect">
            <a:avLst>
              <a:gd name="adj" fmla="val 1630"/>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35" name="Text 29"/>
          <p:cNvSpPr/>
          <p:nvPr/>
        </p:nvSpPr>
        <p:spPr>
          <a:xfrm>
            <a:off x="7086600" y="2944368"/>
            <a:ext cx="4069080" cy="320040"/>
          </a:xfrm>
          <a:prstGeom prst="rect">
            <a:avLst/>
          </a:prstGeom>
          <a:noFill/>
          <a:ln/>
        </p:spPr>
        <p:txBody>
          <a:bodyPr wrap="square" lIns="0" tIns="0" rIns="0" bIns="0" rtlCol="0" anchor="ctr"/>
          <a:lstStyle/>
          <a:p>
            <a:pPr marL="0" indent="0">
              <a:buNone/>
            </a:pPr>
            <a:r>
              <a:rPr lang="en-US" sz="1100" b="1" kern="0" spc="150" dirty="0">
                <a:solidFill>
                  <a:srgbClr val="D9C4FF"/>
                </a:solidFill>
                <a:latin typeface="Arial" pitchFamily="34" charset="0"/>
                <a:ea typeface="Arial" pitchFamily="34" charset="-122"/>
                <a:cs typeface="Arial" pitchFamily="34" charset="-120"/>
              </a:rPr>
              <a:t>THE EXPERIENCE, SIMPLIFIED</a:t>
            </a:r>
            <a:endParaRPr lang="en-US" sz="1100" dirty="0"/>
          </a:p>
        </p:txBody>
      </p:sp>
      <p:sp>
        <p:nvSpPr>
          <p:cNvPr id="36" name="Shape 30"/>
          <p:cNvSpPr/>
          <p:nvPr/>
        </p:nvSpPr>
        <p:spPr>
          <a:xfrm>
            <a:off x="7132320" y="3657600"/>
            <a:ext cx="1234440" cy="1554480"/>
          </a:xfrm>
          <a:prstGeom prst="roundRect">
            <a:avLst>
              <a:gd name="adj" fmla="val 4444"/>
            </a:avLst>
          </a:prstGeom>
          <a:solidFill>
            <a:srgbClr val="23064A"/>
          </a:solidFill>
          <a:ln w="12700">
            <a:solidFill>
              <a:srgbClr val="A100FF"/>
            </a:solidFill>
            <a:prstDash val="solid"/>
          </a:ln>
        </p:spPr>
        <p:txBody>
          <a:bodyPr/>
          <a:lstStyle/>
          <a:p>
            <a:endParaRPr lang="en-US"/>
          </a:p>
        </p:txBody>
      </p:sp>
      <p:sp>
        <p:nvSpPr>
          <p:cNvPr id="37" name="Shape 31"/>
          <p:cNvSpPr/>
          <p:nvPr/>
        </p:nvSpPr>
        <p:spPr>
          <a:xfrm>
            <a:off x="7456932" y="3877056"/>
            <a:ext cx="585216" cy="585216"/>
          </a:xfrm>
          <a:prstGeom prst="ellipse">
            <a:avLst/>
          </a:prstGeom>
          <a:solidFill>
            <a:srgbClr val="A100FF"/>
          </a:solidFill>
          <a:ln/>
        </p:spPr>
        <p:txBody>
          <a:bodyPr/>
          <a:lstStyle/>
          <a:p>
            <a:endParaRPr lang="en-US"/>
          </a:p>
        </p:txBody>
      </p:sp>
      <p:pic>
        <p:nvPicPr>
          <p:cNvPr id="38" name="Image 4" descr="preencoded.png"/>
          <p:cNvPicPr>
            <a:picLocks noChangeAspect="1"/>
          </p:cNvPicPr>
          <p:nvPr/>
        </p:nvPicPr>
        <p:blipFill>
          <a:blip r:embed="rId8"/>
          <a:stretch>
            <a:fillRect/>
          </a:stretch>
        </p:blipFill>
        <p:spPr>
          <a:xfrm>
            <a:off x="7603236" y="4023360"/>
            <a:ext cx="292608" cy="292608"/>
          </a:xfrm>
          <a:prstGeom prst="rect">
            <a:avLst/>
          </a:prstGeom>
        </p:spPr>
      </p:pic>
      <p:sp>
        <p:nvSpPr>
          <p:cNvPr id="39" name="Text 32"/>
          <p:cNvSpPr/>
          <p:nvPr/>
        </p:nvSpPr>
        <p:spPr>
          <a:xfrm>
            <a:off x="7132320" y="4590288"/>
            <a:ext cx="1234440" cy="54864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Employee</a:t>
            </a:r>
            <a:endParaRPr lang="en-US" sz="1200" dirty="0"/>
          </a:p>
        </p:txBody>
      </p:sp>
      <p:pic>
        <p:nvPicPr>
          <p:cNvPr id="40" name="Image 5" descr="preencoded.png"/>
          <p:cNvPicPr>
            <a:picLocks noChangeAspect="1"/>
          </p:cNvPicPr>
          <p:nvPr/>
        </p:nvPicPr>
        <p:blipFill>
          <a:blip r:embed="rId9"/>
          <a:stretch>
            <a:fillRect/>
          </a:stretch>
        </p:blipFill>
        <p:spPr>
          <a:xfrm>
            <a:off x="8494776" y="4315968"/>
            <a:ext cx="237744" cy="237744"/>
          </a:xfrm>
          <a:prstGeom prst="rect">
            <a:avLst/>
          </a:prstGeom>
        </p:spPr>
      </p:pic>
      <p:sp>
        <p:nvSpPr>
          <p:cNvPr id="41" name="Shape 33"/>
          <p:cNvSpPr/>
          <p:nvPr/>
        </p:nvSpPr>
        <p:spPr>
          <a:xfrm>
            <a:off x="8869680" y="3657600"/>
            <a:ext cx="1234440" cy="1554480"/>
          </a:xfrm>
          <a:prstGeom prst="roundRect">
            <a:avLst>
              <a:gd name="adj" fmla="val 4444"/>
            </a:avLst>
          </a:prstGeom>
          <a:solidFill>
            <a:srgbClr val="23064A"/>
          </a:solidFill>
          <a:ln w="12700">
            <a:solidFill>
              <a:srgbClr val="E6197E"/>
            </a:solidFill>
            <a:prstDash val="solid"/>
          </a:ln>
        </p:spPr>
        <p:txBody>
          <a:bodyPr/>
          <a:lstStyle/>
          <a:p>
            <a:endParaRPr lang="en-US" dirty="0"/>
          </a:p>
        </p:txBody>
      </p:sp>
      <p:sp>
        <p:nvSpPr>
          <p:cNvPr id="42" name="Shape 34"/>
          <p:cNvSpPr/>
          <p:nvPr/>
        </p:nvSpPr>
        <p:spPr>
          <a:xfrm>
            <a:off x="9194292" y="3877056"/>
            <a:ext cx="585216" cy="585216"/>
          </a:xfrm>
          <a:prstGeom prst="ellipse">
            <a:avLst/>
          </a:prstGeom>
          <a:solidFill>
            <a:srgbClr val="E6197E"/>
          </a:solidFill>
          <a:ln/>
        </p:spPr>
        <p:txBody>
          <a:bodyPr/>
          <a:lstStyle/>
          <a:p>
            <a:endParaRPr lang="en-US"/>
          </a:p>
        </p:txBody>
      </p:sp>
      <p:pic>
        <p:nvPicPr>
          <p:cNvPr id="43" name="Image 6" descr="preencoded.png"/>
          <p:cNvPicPr>
            <a:picLocks noChangeAspect="1"/>
          </p:cNvPicPr>
          <p:nvPr/>
        </p:nvPicPr>
        <p:blipFill>
          <a:blip r:embed="rId10"/>
          <a:stretch>
            <a:fillRect/>
          </a:stretch>
        </p:blipFill>
        <p:spPr>
          <a:xfrm>
            <a:off x="9340596" y="4023360"/>
            <a:ext cx="292608" cy="292608"/>
          </a:xfrm>
          <a:prstGeom prst="rect">
            <a:avLst/>
          </a:prstGeom>
        </p:spPr>
      </p:pic>
      <p:sp>
        <p:nvSpPr>
          <p:cNvPr id="44" name="Text 35"/>
          <p:cNvSpPr/>
          <p:nvPr/>
        </p:nvSpPr>
        <p:spPr>
          <a:xfrm>
            <a:off x="8869680" y="4590288"/>
            <a:ext cx="1234440" cy="54864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PRISM</a:t>
            </a:r>
            <a:endParaRPr lang="en-US" sz="1200" dirty="0"/>
          </a:p>
        </p:txBody>
      </p:sp>
      <p:pic>
        <p:nvPicPr>
          <p:cNvPr id="45" name="Image 7" descr="preencoded.png"/>
          <p:cNvPicPr>
            <a:picLocks noChangeAspect="1"/>
          </p:cNvPicPr>
          <p:nvPr/>
        </p:nvPicPr>
        <p:blipFill>
          <a:blip r:embed="rId9"/>
          <a:stretch>
            <a:fillRect/>
          </a:stretch>
        </p:blipFill>
        <p:spPr>
          <a:xfrm>
            <a:off x="10232136" y="4315968"/>
            <a:ext cx="237744" cy="237744"/>
          </a:xfrm>
          <a:prstGeom prst="rect">
            <a:avLst/>
          </a:prstGeom>
        </p:spPr>
      </p:pic>
      <p:sp>
        <p:nvSpPr>
          <p:cNvPr id="46" name="Shape 36"/>
          <p:cNvSpPr/>
          <p:nvPr/>
        </p:nvSpPr>
        <p:spPr>
          <a:xfrm>
            <a:off x="10607040" y="3657600"/>
            <a:ext cx="1234440" cy="1554480"/>
          </a:xfrm>
          <a:prstGeom prst="roundRect">
            <a:avLst>
              <a:gd name="adj" fmla="val 4444"/>
            </a:avLst>
          </a:prstGeom>
          <a:solidFill>
            <a:srgbClr val="23064A"/>
          </a:solidFill>
          <a:ln w="12700">
            <a:solidFill>
              <a:srgbClr val="1D4ED8"/>
            </a:solidFill>
            <a:prstDash val="solid"/>
          </a:ln>
        </p:spPr>
        <p:txBody>
          <a:bodyPr/>
          <a:lstStyle/>
          <a:p>
            <a:endParaRPr lang="en-US"/>
          </a:p>
        </p:txBody>
      </p:sp>
      <p:sp>
        <p:nvSpPr>
          <p:cNvPr id="47" name="Shape 37"/>
          <p:cNvSpPr/>
          <p:nvPr/>
        </p:nvSpPr>
        <p:spPr>
          <a:xfrm>
            <a:off x="10931652" y="3877056"/>
            <a:ext cx="585216" cy="585216"/>
          </a:xfrm>
          <a:prstGeom prst="ellipse">
            <a:avLst/>
          </a:prstGeom>
          <a:solidFill>
            <a:srgbClr val="1D4ED8"/>
          </a:solidFill>
          <a:ln/>
        </p:spPr>
        <p:txBody>
          <a:bodyPr/>
          <a:lstStyle/>
          <a:p>
            <a:endParaRPr lang="en-US"/>
          </a:p>
        </p:txBody>
      </p:sp>
      <p:pic>
        <p:nvPicPr>
          <p:cNvPr id="48" name="Image 8" descr="preencoded.png"/>
          <p:cNvPicPr>
            <a:picLocks noChangeAspect="1"/>
          </p:cNvPicPr>
          <p:nvPr/>
        </p:nvPicPr>
        <p:blipFill>
          <a:blip r:embed="rId11"/>
          <a:stretch>
            <a:fillRect/>
          </a:stretch>
        </p:blipFill>
        <p:spPr>
          <a:xfrm>
            <a:off x="11077956" y="4023360"/>
            <a:ext cx="292608" cy="292608"/>
          </a:xfrm>
          <a:prstGeom prst="rect">
            <a:avLst/>
          </a:prstGeom>
        </p:spPr>
      </p:pic>
      <p:sp>
        <p:nvSpPr>
          <p:cNvPr id="49" name="Text 38"/>
          <p:cNvSpPr/>
          <p:nvPr/>
        </p:nvSpPr>
        <p:spPr>
          <a:xfrm>
            <a:off x="10607040" y="4590288"/>
            <a:ext cx="1234440" cy="54864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Instant Answer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BUSINESS VALUE</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The Value Delivered</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07</a:t>
            </a:r>
            <a:endParaRPr lang="en-US" sz="1000" dirty="0"/>
          </a:p>
        </p:txBody>
      </p:sp>
      <p:sp>
        <p:nvSpPr>
          <p:cNvPr id="6" name="Text 4"/>
          <p:cNvSpPr/>
          <p:nvPr/>
        </p:nvSpPr>
        <p:spPr>
          <a:xfrm>
            <a:off x="685800" y="1481328"/>
            <a:ext cx="10789920" cy="457200"/>
          </a:xfrm>
          <a:prstGeom prst="rect">
            <a:avLst/>
          </a:prstGeom>
          <a:noFill/>
          <a:ln/>
        </p:spPr>
        <p:txBody>
          <a:bodyPr wrap="square" lIns="0" tIns="0" rIns="0" bIns="0" rtlCol="0" anchor="ctr"/>
          <a:lstStyle/>
          <a:p>
            <a:pPr marL="0" indent="0">
              <a:buNone/>
            </a:pPr>
            <a:r>
              <a:rPr lang="en-US" sz="1350" dirty="0">
                <a:solidFill>
                  <a:srgbClr val="5A5568"/>
                </a:solidFill>
                <a:latin typeface="Calibri" pitchFamily="34" charset="0"/>
                <a:ea typeface="Calibri" pitchFamily="34" charset="-122"/>
                <a:cs typeface="Calibri" pitchFamily="34" charset="-120"/>
              </a:rPr>
              <a:t>PRISM creates value on three levels at once — a better day for employees, a lighter load for HR, and compounding gains for the organization.</a:t>
            </a:r>
            <a:endParaRPr lang="en-US" sz="1350" dirty="0"/>
          </a:p>
        </p:txBody>
      </p:sp>
      <p:sp>
        <p:nvSpPr>
          <p:cNvPr id="7" name="Shape 5"/>
          <p:cNvSpPr/>
          <p:nvPr/>
        </p:nvSpPr>
        <p:spPr>
          <a:xfrm>
            <a:off x="685800" y="2057400"/>
            <a:ext cx="3520440" cy="3977640"/>
          </a:xfrm>
          <a:prstGeom prst="roundRect">
            <a:avLst>
              <a:gd name="adj" fmla="val 155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2034540" y="2350008"/>
            <a:ext cx="822960" cy="822960"/>
          </a:xfrm>
          <a:prstGeom prst="ellipse">
            <a:avLst/>
          </a:prstGeom>
          <a:solidFill>
            <a:srgbClr val="A100FF"/>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2240280" y="2555748"/>
            <a:ext cx="411480" cy="411480"/>
          </a:xfrm>
          <a:prstGeom prst="rect">
            <a:avLst/>
          </a:prstGeom>
        </p:spPr>
      </p:pic>
      <p:sp>
        <p:nvSpPr>
          <p:cNvPr id="10" name="Text 7"/>
          <p:cNvSpPr/>
          <p:nvPr/>
        </p:nvSpPr>
        <p:spPr>
          <a:xfrm>
            <a:off x="960120" y="3291840"/>
            <a:ext cx="2971800" cy="411480"/>
          </a:xfrm>
          <a:prstGeom prst="rect">
            <a:avLst/>
          </a:prstGeom>
          <a:noFill/>
          <a:ln/>
        </p:spPr>
        <p:txBody>
          <a:bodyPr wrap="square" lIns="0" tIns="0" rIns="0" bIns="0" rtlCol="0" anchor="ctr"/>
          <a:lstStyle/>
          <a:p>
            <a:pPr marL="0" indent="0" algn="ctr">
              <a:buNone/>
            </a:pPr>
            <a:r>
              <a:rPr lang="en-US" sz="1600" b="1" dirty="0">
                <a:solidFill>
                  <a:srgbClr val="A100FF"/>
                </a:solidFill>
                <a:latin typeface="Arial" pitchFamily="34" charset="0"/>
                <a:ea typeface="Arial" pitchFamily="34" charset="-122"/>
                <a:cs typeface="Arial" pitchFamily="34" charset="-120"/>
              </a:rPr>
              <a:t>Employees</a:t>
            </a:r>
            <a:endParaRPr lang="en-US" sz="1600" dirty="0"/>
          </a:p>
        </p:txBody>
      </p:sp>
      <p:sp>
        <p:nvSpPr>
          <p:cNvPr id="11" name="Text 8"/>
          <p:cNvSpPr/>
          <p:nvPr/>
        </p:nvSpPr>
        <p:spPr>
          <a:xfrm>
            <a:off x="1005840" y="3840480"/>
            <a:ext cx="2926080" cy="2011680"/>
          </a:xfrm>
          <a:prstGeom prst="rect">
            <a:avLst/>
          </a:prstGeom>
          <a:noFill/>
          <a:ln/>
        </p:spPr>
        <p:txBody>
          <a:bodyPr wrap="square" lIns="0" tIns="0" rIns="0" bIns="0" rtlCol="0" anchor="t"/>
          <a:lstStyle/>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Instant retrieval</a:t>
            </a:r>
            <a:r>
              <a:rPr lang="en-US" sz="1150" dirty="0">
                <a:solidFill>
                  <a:srgbClr val="5A5568"/>
                </a:solidFill>
                <a:latin typeface="Calibri" pitchFamily="34" charset="0"/>
                <a:ea typeface="Calibri" pitchFamily="34" charset="-122"/>
                <a:cs typeface="Calibri" pitchFamily="34" charset="-120"/>
              </a:rPr>
              <a:t>  —  answers in seconds, not searches</a:t>
            </a:r>
            <a:endParaRPr lang="en-US" sz="1150" dirty="0"/>
          </a:p>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Better experience</a:t>
            </a:r>
            <a:r>
              <a:rPr lang="en-US" sz="1150" dirty="0">
                <a:solidFill>
                  <a:srgbClr val="5A5568"/>
                </a:solidFill>
                <a:latin typeface="Calibri" pitchFamily="34" charset="0"/>
                <a:ea typeface="Calibri" pitchFamily="34" charset="-122"/>
                <a:cs typeface="Calibri" pitchFamily="34" charset="-120"/>
              </a:rPr>
              <a:t>  —  self-serve, no waiting on a reply</a:t>
            </a:r>
            <a:endParaRPr lang="en-US" sz="1150" dirty="0"/>
          </a:p>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Less effort</a:t>
            </a:r>
            <a:r>
              <a:rPr lang="en-US" sz="1150" dirty="0">
                <a:solidFill>
                  <a:srgbClr val="5A5568"/>
                </a:solidFill>
                <a:latin typeface="Calibri" pitchFamily="34" charset="0"/>
                <a:ea typeface="Calibri" pitchFamily="34" charset="-122"/>
                <a:cs typeface="Calibri" pitchFamily="34" charset="-120"/>
              </a:rPr>
              <a:t>  —  one question replaces reading a policy</a:t>
            </a:r>
            <a:endParaRPr lang="en-US" sz="1150" dirty="0"/>
          </a:p>
        </p:txBody>
      </p:sp>
      <p:sp>
        <p:nvSpPr>
          <p:cNvPr id="12" name="Shape 9"/>
          <p:cNvSpPr/>
          <p:nvPr/>
        </p:nvSpPr>
        <p:spPr>
          <a:xfrm>
            <a:off x="4526280" y="2057400"/>
            <a:ext cx="3520440" cy="3977640"/>
          </a:xfrm>
          <a:prstGeom prst="roundRect">
            <a:avLst>
              <a:gd name="adj" fmla="val 155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3" name="Shape 10"/>
          <p:cNvSpPr/>
          <p:nvPr/>
        </p:nvSpPr>
        <p:spPr>
          <a:xfrm>
            <a:off x="5875020" y="2350008"/>
            <a:ext cx="822960" cy="822960"/>
          </a:xfrm>
          <a:prstGeom prst="ellipse">
            <a:avLst/>
          </a:prstGeom>
          <a:solidFill>
            <a:srgbClr val="E6197E"/>
          </a:solidFill>
          <a:ln/>
        </p:spPr>
        <p:txBody>
          <a:bodyPr/>
          <a:lstStyle/>
          <a:p>
            <a:endParaRPr lang="en-US"/>
          </a:p>
        </p:txBody>
      </p:sp>
      <p:pic>
        <p:nvPicPr>
          <p:cNvPr id="14" name="Image 1" descr="preencoded.png"/>
          <p:cNvPicPr>
            <a:picLocks noChangeAspect="1"/>
          </p:cNvPicPr>
          <p:nvPr/>
        </p:nvPicPr>
        <p:blipFill>
          <a:blip r:embed="rId5"/>
          <a:stretch>
            <a:fillRect/>
          </a:stretch>
        </p:blipFill>
        <p:spPr>
          <a:xfrm>
            <a:off x="6080760" y="2555748"/>
            <a:ext cx="411480" cy="411480"/>
          </a:xfrm>
          <a:prstGeom prst="rect">
            <a:avLst/>
          </a:prstGeom>
        </p:spPr>
      </p:pic>
      <p:sp>
        <p:nvSpPr>
          <p:cNvPr id="15" name="Text 11"/>
          <p:cNvSpPr/>
          <p:nvPr/>
        </p:nvSpPr>
        <p:spPr>
          <a:xfrm>
            <a:off x="4800600" y="3291840"/>
            <a:ext cx="2971800" cy="411480"/>
          </a:xfrm>
          <a:prstGeom prst="rect">
            <a:avLst/>
          </a:prstGeom>
          <a:noFill/>
          <a:ln/>
        </p:spPr>
        <p:txBody>
          <a:bodyPr wrap="square" lIns="0" tIns="0" rIns="0" bIns="0" rtlCol="0" anchor="ctr"/>
          <a:lstStyle/>
          <a:p>
            <a:pPr marL="0" indent="0" algn="ctr">
              <a:buNone/>
            </a:pPr>
            <a:r>
              <a:rPr lang="en-US" sz="1600" b="1" dirty="0">
                <a:solidFill>
                  <a:srgbClr val="E6197E"/>
                </a:solidFill>
                <a:latin typeface="Arial" pitchFamily="34" charset="0"/>
                <a:ea typeface="Arial" pitchFamily="34" charset="-122"/>
                <a:cs typeface="Arial" pitchFamily="34" charset="-120"/>
              </a:rPr>
              <a:t>HR Teams</a:t>
            </a:r>
            <a:endParaRPr lang="en-US" sz="1600" dirty="0"/>
          </a:p>
        </p:txBody>
      </p:sp>
      <p:sp>
        <p:nvSpPr>
          <p:cNvPr id="16" name="Text 12"/>
          <p:cNvSpPr/>
          <p:nvPr/>
        </p:nvSpPr>
        <p:spPr>
          <a:xfrm>
            <a:off x="4846320" y="3840480"/>
            <a:ext cx="2926080" cy="2011680"/>
          </a:xfrm>
          <a:prstGeom prst="rect">
            <a:avLst/>
          </a:prstGeom>
          <a:noFill/>
          <a:ln/>
        </p:spPr>
        <p:txBody>
          <a:bodyPr wrap="square" lIns="0" tIns="0" rIns="0" bIns="0" rtlCol="0" anchor="t"/>
          <a:lstStyle/>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Fewer repeat questions</a:t>
            </a:r>
            <a:r>
              <a:rPr lang="en-US" sz="1150" dirty="0">
                <a:solidFill>
                  <a:srgbClr val="5A5568"/>
                </a:solidFill>
                <a:latin typeface="Calibri" pitchFamily="34" charset="0"/>
                <a:ea typeface="Calibri" pitchFamily="34" charset="-122"/>
                <a:cs typeface="Calibri" pitchFamily="34" charset="-120"/>
              </a:rPr>
              <a:t>  —  routine queries are deflected automatically</a:t>
            </a:r>
            <a:endParaRPr lang="en-US" sz="1150" dirty="0"/>
          </a:p>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Lighter workload</a:t>
            </a:r>
            <a:r>
              <a:rPr lang="en-US" sz="1150" dirty="0">
                <a:solidFill>
                  <a:srgbClr val="5A5568"/>
                </a:solidFill>
                <a:latin typeface="Calibri" pitchFamily="34" charset="0"/>
                <a:ea typeface="Calibri" pitchFamily="34" charset="-122"/>
                <a:cs typeface="Calibri" pitchFamily="34" charset="-120"/>
              </a:rPr>
              <a:t>  —  support time drops significantly</a:t>
            </a:r>
            <a:endParaRPr lang="en-US" sz="1150" dirty="0"/>
          </a:p>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Focus on strategy</a:t>
            </a:r>
            <a:r>
              <a:rPr lang="en-US" sz="1150" dirty="0">
                <a:solidFill>
                  <a:srgbClr val="5A5568"/>
                </a:solidFill>
                <a:latin typeface="Calibri" pitchFamily="34" charset="0"/>
                <a:ea typeface="Calibri" pitchFamily="34" charset="-122"/>
                <a:cs typeface="Calibri" pitchFamily="34" charset="-120"/>
              </a:rPr>
              <a:t>  —  time for higher-value work</a:t>
            </a:r>
            <a:endParaRPr lang="en-US" sz="1150" dirty="0"/>
          </a:p>
        </p:txBody>
      </p:sp>
      <p:sp>
        <p:nvSpPr>
          <p:cNvPr id="17" name="Shape 13"/>
          <p:cNvSpPr/>
          <p:nvPr/>
        </p:nvSpPr>
        <p:spPr>
          <a:xfrm>
            <a:off x="8366760" y="2057400"/>
            <a:ext cx="3520440" cy="3977640"/>
          </a:xfrm>
          <a:prstGeom prst="roundRect">
            <a:avLst>
              <a:gd name="adj" fmla="val 155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8" name="Shape 14"/>
          <p:cNvSpPr/>
          <p:nvPr/>
        </p:nvSpPr>
        <p:spPr>
          <a:xfrm>
            <a:off x="9715500" y="2350008"/>
            <a:ext cx="822960" cy="822960"/>
          </a:xfrm>
          <a:prstGeom prst="ellipse">
            <a:avLst/>
          </a:prstGeom>
          <a:solidFill>
            <a:srgbClr val="1D4ED8"/>
          </a:solidFill>
          <a:ln/>
        </p:spPr>
        <p:txBody>
          <a:bodyPr/>
          <a:lstStyle/>
          <a:p>
            <a:endParaRPr lang="en-US"/>
          </a:p>
        </p:txBody>
      </p:sp>
      <p:pic>
        <p:nvPicPr>
          <p:cNvPr id="19" name="Image 2" descr="preencoded.png"/>
          <p:cNvPicPr>
            <a:picLocks noChangeAspect="1"/>
          </p:cNvPicPr>
          <p:nvPr/>
        </p:nvPicPr>
        <p:blipFill>
          <a:blip r:embed="rId6"/>
          <a:stretch>
            <a:fillRect/>
          </a:stretch>
        </p:blipFill>
        <p:spPr>
          <a:xfrm>
            <a:off x="9921240" y="2555748"/>
            <a:ext cx="411480" cy="411480"/>
          </a:xfrm>
          <a:prstGeom prst="rect">
            <a:avLst/>
          </a:prstGeom>
        </p:spPr>
      </p:pic>
      <p:sp>
        <p:nvSpPr>
          <p:cNvPr id="20" name="Text 15"/>
          <p:cNvSpPr/>
          <p:nvPr/>
        </p:nvSpPr>
        <p:spPr>
          <a:xfrm>
            <a:off x="8641080" y="3291840"/>
            <a:ext cx="2971800" cy="411480"/>
          </a:xfrm>
          <a:prstGeom prst="rect">
            <a:avLst/>
          </a:prstGeom>
          <a:noFill/>
          <a:ln/>
        </p:spPr>
        <p:txBody>
          <a:bodyPr wrap="square" lIns="0" tIns="0" rIns="0" bIns="0" rtlCol="0" anchor="ctr"/>
          <a:lstStyle/>
          <a:p>
            <a:pPr marL="0" indent="0" algn="ctr">
              <a:buNone/>
            </a:pPr>
            <a:r>
              <a:rPr lang="en-US" sz="1600" b="1" dirty="0">
                <a:solidFill>
                  <a:srgbClr val="1D4ED8"/>
                </a:solidFill>
                <a:latin typeface="Arial" pitchFamily="34" charset="0"/>
                <a:ea typeface="Arial" pitchFamily="34" charset="-122"/>
                <a:cs typeface="Arial" pitchFamily="34" charset="-120"/>
              </a:rPr>
              <a:t>Organization</a:t>
            </a:r>
            <a:endParaRPr lang="en-US" sz="1600" dirty="0"/>
          </a:p>
        </p:txBody>
      </p:sp>
      <p:sp>
        <p:nvSpPr>
          <p:cNvPr id="21" name="Text 16"/>
          <p:cNvSpPr/>
          <p:nvPr/>
        </p:nvSpPr>
        <p:spPr>
          <a:xfrm>
            <a:off x="8686800" y="3840480"/>
            <a:ext cx="2926080" cy="2011680"/>
          </a:xfrm>
          <a:prstGeom prst="rect">
            <a:avLst/>
          </a:prstGeom>
          <a:noFill/>
          <a:ln/>
        </p:spPr>
        <p:txBody>
          <a:bodyPr wrap="square" lIns="0" tIns="0" rIns="0" bIns="0" rtlCol="0" anchor="t"/>
          <a:lstStyle/>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Knowledge reuse</a:t>
            </a:r>
            <a:r>
              <a:rPr lang="en-US" sz="1150" dirty="0">
                <a:solidFill>
                  <a:srgbClr val="5A5568"/>
                </a:solidFill>
                <a:latin typeface="Calibri" pitchFamily="34" charset="0"/>
                <a:ea typeface="Calibri" pitchFamily="34" charset="-122"/>
                <a:cs typeface="Calibri" pitchFamily="34" charset="-120"/>
              </a:rPr>
              <a:t>  —  documents become an active asset</a:t>
            </a:r>
            <a:endParaRPr lang="en-US" sz="1150" dirty="0"/>
          </a:p>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Higher productivity</a:t>
            </a:r>
            <a:r>
              <a:rPr lang="en-US" sz="1150" dirty="0">
                <a:solidFill>
                  <a:srgbClr val="5A5568"/>
                </a:solidFill>
                <a:latin typeface="Calibri" pitchFamily="34" charset="0"/>
                <a:ea typeface="Calibri" pitchFamily="34" charset="-122"/>
                <a:cs typeface="Calibri" pitchFamily="34" charset="-120"/>
              </a:rPr>
              <a:t>  —  faster answers across the board</a:t>
            </a:r>
            <a:endParaRPr lang="en-US" sz="1150" dirty="0"/>
          </a:p>
          <a:p>
            <a:pPr marL="203200" indent="-203200">
              <a:lnSpc>
                <a:spcPct val="102000"/>
              </a:lnSpc>
              <a:buSzPct val="100000"/>
              <a:buChar char="•"/>
            </a:pPr>
            <a:r>
              <a:rPr lang="en-US" sz="1150" b="1" dirty="0">
                <a:solidFill>
                  <a:srgbClr val="1A1526"/>
                </a:solidFill>
                <a:latin typeface="Calibri" pitchFamily="34" charset="0"/>
                <a:ea typeface="Calibri" pitchFamily="34" charset="-122"/>
                <a:cs typeface="Calibri" pitchFamily="34" charset="-120"/>
              </a:rPr>
              <a:t>Consistency</a:t>
            </a:r>
            <a:r>
              <a:rPr lang="en-US" sz="1150" dirty="0">
                <a:solidFill>
                  <a:srgbClr val="5A5568"/>
                </a:solidFill>
                <a:latin typeface="Calibri" pitchFamily="34" charset="0"/>
                <a:ea typeface="Calibri" pitchFamily="34" charset="-122"/>
                <a:cs typeface="Calibri" pitchFamily="34" charset="-120"/>
              </a:rPr>
              <a:t>  —  everyone gets the same correct answer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SYSTEM ARCHITECTURE</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High-Level Solution Architecture</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08</a:t>
            </a:r>
            <a:endParaRPr lang="en-US" sz="1000" dirty="0"/>
          </a:p>
        </p:txBody>
      </p:sp>
      <p:sp>
        <p:nvSpPr>
          <p:cNvPr id="6" name="Text 4"/>
          <p:cNvSpPr/>
          <p:nvPr/>
        </p:nvSpPr>
        <p:spPr>
          <a:xfrm>
            <a:off x="685800" y="1417320"/>
            <a:ext cx="10881360" cy="502920"/>
          </a:xfrm>
          <a:prstGeom prst="rect">
            <a:avLst/>
          </a:prstGeom>
          <a:noFill/>
          <a:ln/>
        </p:spPr>
        <p:txBody>
          <a:bodyPr wrap="square" lIns="0" tIns="0" rIns="0" bIns="0" rtlCol="0" anchor="ctr"/>
          <a:lstStyle/>
          <a:p>
            <a:pPr marL="0" indent="0">
              <a:buNone/>
            </a:pPr>
            <a:r>
              <a:rPr lang="en-US" sz="1250" dirty="0">
                <a:solidFill>
                  <a:srgbClr val="5A5568"/>
                </a:solidFill>
                <a:latin typeface="Calibri" pitchFamily="34" charset="0"/>
                <a:ea typeface="Calibri" pitchFamily="34" charset="-122"/>
                <a:cs typeface="Calibri" pitchFamily="34" charset="-120"/>
              </a:rPr>
              <a:t>A clean, layered design: the browser talks to a FastAPI service, which coordinates a relational store for user data and a vector store for document knowledge, then calls the LLM to compose a grounded answer.</a:t>
            </a:r>
            <a:endParaRPr lang="en-US" sz="1250" dirty="0"/>
          </a:p>
        </p:txBody>
      </p:sp>
      <p:sp>
        <p:nvSpPr>
          <p:cNvPr id="7" name="Shape 5"/>
          <p:cNvSpPr/>
          <p:nvPr/>
        </p:nvSpPr>
        <p:spPr>
          <a:xfrm>
            <a:off x="868680" y="2148840"/>
            <a:ext cx="2743200" cy="822960"/>
          </a:xfrm>
          <a:prstGeom prst="roundRect">
            <a:avLst>
              <a:gd name="adj" fmla="val 6667"/>
            </a:avLst>
          </a:prstGeom>
          <a:solidFill>
            <a:srgbClr val="F5F2FA"/>
          </a:solidFill>
          <a:ln w="1651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1014984" y="2322576"/>
            <a:ext cx="475488" cy="475488"/>
          </a:xfrm>
          <a:prstGeom prst="ellipse">
            <a:avLst/>
          </a:prstGeom>
          <a:solidFill>
            <a:srgbClr val="A100FF"/>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1133856" y="2441448"/>
            <a:ext cx="237744" cy="237744"/>
          </a:xfrm>
          <a:prstGeom prst="rect">
            <a:avLst/>
          </a:prstGeom>
        </p:spPr>
      </p:pic>
      <p:sp>
        <p:nvSpPr>
          <p:cNvPr id="10" name="Text 7"/>
          <p:cNvSpPr/>
          <p:nvPr/>
        </p:nvSpPr>
        <p:spPr>
          <a:xfrm>
            <a:off x="1581912" y="2148840"/>
            <a:ext cx="1938528" cy="82296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User</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asks a question</a:t>
            </a:r>
            <a:endParaRPr lang="en-US" sz="1250" dirty="0"/>
          </a:p>
        </p:txBody>
      </p:sp>
      <p:sp>
        <p:nvSpPr>
          <p:cNvPr id="11" name="Shape 8"/>
          <p:cNvSpPr/>
          <p:nvPr/>
        </p:nvSpPr>
        <p:spPr>
          <a:xfrm>
            <a:off x="4727448" y="2148840"/>
            <a:ext cx="2743200" cy="822960"/>
          </a:xfrm>
          <a:prstGeom prst="roundRect">
            <a:avLst>
              <a:gd name="adj" fmla="val 6667"/>
            </a:avLst>
          </a:prstGeom>
          <a:solidFill>
            <a:srgbClr val="F5F2FA"/>
          </a:solidFill>
          <a:ln w="1651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12" name="Shape 9"/>
          <p:cNvSpPr/>
          <p:nvPr/>
        </p:nvSpPr>
        <p:spPr>
          <a:xfrm>
            <a:off x="4873752" y="2322576"/>
            <a:ext cx="475488" cy="475488"/>
          </a:xfrm>
          <a:prstGeom prst="ellipse">
            <a:avLst/>
          </a:prstGeom>
          <a:solidFill>
            <a:srgbClr val="A100FF"/>
          </a:solidFill>
          <a:ln/>
        </p:spPr>
        <p:txBody>
          <a:bodyPr/>
          <a:lstStyle/>
          <a:p>
            <a:endParaRPr lang="en-US"/>
          </a:p>
        </p:txBody>
      </p:sp>
      <p:pic>
        <p:nvPicPr>
          <p:cNvPr id="13" name="Image 1" descr="preencoded.png"/>
          <p:cNvPicPr>
            <a:picLocks noChangeAspect="1"/>
          </p:cNvPicPr>
          <p:nvPr/>
        </p:nvPicPr>
        <p:blipFill>
          <a:blip r:embed="rId5"/>
          <a:stretch>
            <a:fillRect/>
          </a:stretch>
        </p:blipFill>
        <p:spPr>
          <a:xfrm>
            <a:off x="4992624" y="2441448"/>
            <a:ext cx="237744" cy="237744"/>
          </a:xfrm>
          <a:prstGeom prst="rect">
            <a:avLst/>
          </a:prstGeom>
        </p:spPr>
      </p:pic>
      <p:sp>
        <p:nvSpPr>
          <p:cNvPr id="14" name="Text 10"/>
          <p:cNvSpPr/>
          <p:nvPr/>
        </p:nvSpPr>
        <p:spPr>
          <a:xfrm>
            <a:off x="5440680" y="2148840"/>
            <a:ext cx="1938528" cy="82296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React Frontend</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chat interface</a:t>
            </a:r>
            <a:endParaRPr lang="en-US" sz="1250" dirty="0"/>
          </a:p>
        </p:txBody>
      </p:sp>
      <p:sp>
        <p:nvSpPr>
          <p:cNvPr id="15" name="Shape 11"/>
          <p:cNvSpPr/>
          <p:nvPr/>
        </p:nvSpPr>
        <p:spPr>
          <a:xfrm>
            <a:off x="8586216" y="2148840"/>
            <a:ext cx="2743200" cy="822960"/>
          </a:xfrm>
          <a:prstGeom prst="roundRect">
            <a:avLst>
              <a:gd name="adj" fmla="val 6667"/>
            </a:avLst>
          </a:prstGeom>
          <a:solidFill>
            <a:srgbClr val="F5F2FA"/>
          </a:solidFill>
          <a:ln w="16510">
            <a:solidFill>
              <a:srgbClr val="E6197E"/>
            </a:solidFill>
            <a:prstDash val="solid"/>
          </a:ln>
          <a:effectLst>
            <a:outerShdw blurRad="88900" dist="25400" dir="5400000" algn="bl" rotWithShape="0">
              <a:srgbClr val="C9BEE0">
                <a:alpha val="50000"/>
              </a:srgbClr>
            </a:outerShdw>
          </a:effectLst>
        </p:spPr>
        <p:txBody>
          <a:bodyPr/>
          <a:lstStyle/>
          <a:p>
            <a:endParaRPr lang="en-US"/>
          </a:p>
        </p:txBody>
      </p:sp>
      <p:sp>
        <p:nvSpPr>
          <p:cNvPr id="16" name="Shape 12"/>
          <p:cNvSpPr/>
          <p:nvPr/>
        </p:nvSpPr>
        <p:spPr>
          <a:xfrm>
            <a:off x="8732520" y="2322576"/>
            <a:ext cx="475488" cy="475488"/>
          </a:xfrm>
          <a:prstGeom prst="ellipse">
            <a:avLst/>
          </a:prstGeom>
          <a:solidFill>
            <a:srgbClr val="E6197E"/>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8851392" y="2441448"/>
            <a:ext cx="237744" cy="237744"/>
          </a:xfrm>
          <a:prstGeom prst="rect">
            <a:avLst/>
          </a:prstGeom>
        </p:spPr>
      </p:pic>
      <p:sp>
        <p:nvSpPr>
          <p:cNvPr id="18" name="Text 13"/>
          <p:cNvSpPr/>
          <p:nvPr/>
        </p:nvSpPr>
        <p:spPr>
          <a:xfrm>
            <a:off x="9299448" y="2148840"/>
            <a:ext cx="1938528" cy="82296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FastAPI Backend</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orchestration layer</a:t>
            </a:r>
            <a:endParaRPr lang="en-US" sz="1250" dirty="0"/>
          </a:p>
        </p:txBody>
      </p:sp>
      <p:pic>
        <p:nvPicPr>
          <p:cNvPr id="19" name="Image 3" descr="preencoded.png"/>
          <p:cNvPicPr>
            <a:picLocks noChangeAspect="1"/>
          </p:cNvPicPr>
          <p:nvPr/>
        </p:nvPicPr>
        <p:blipFill>
          <a:blip r:embed="rId7"/>
          <a:stretch>
            <a:fillRect/>
          </a:stretch>
        </p:blipFill>
        <p:spPr>
          <a:xfrm>
            <a:off x="3639312" y="2441448"/>
            <a:ext cx="237744" cy="237744"/>
          </a:xfrm>
          <a:prstGeom prst="rect">
            <a:avLst/>
          </a:prstGeom>
        </p:spPr>
      </p:pic>
      <p:pic>
        <p:nvPicPr>
          <p:cNvPr id="20" name="Image 4" descr="preencoded.png"/>
          <p:cNvPicPr>
            <a:picLocks noChangeAspect="1"/>
          </p:cNvPicPr>
          <p:nvPr/>
        </p:nvPicPr>
        <p:blipFill>
          <a:blip r:embed="rId7"/>
          <a:stretch>
            <a:fillRect/>
          </a:stretch>
        </p:blipFill>
        <p:spPr>
          <a:xfrm>
            <a:off x="7498080" y="2441448"/>
            <a:ext cx="237744" cy="237744"/>
          </a:xfrm>
          <a:prstGeom prst="rect">
            <a:avLst/>
          </a:prstGeom>
        </p:spPr>
      </p:pic>
      <p:sp>
        <p:nvSpPr>
          <p:cNvPr id="21" name="Shape 14"/>
          <p:cNvSpPr/>
          <p:nvPr/>
        </p:nvSpPr>
        <p:spPr>
          <a:xfrm>
            <a:off x="2971800" y="3520440"/>
            <a:ext cx="3063240" cy="914400"/>
          </a:xfrm>
          <a:prstGeom prst="roundRect">
            <a:avLst>
              <a:gd name="adj" fmla="val 6000"/>
            </a:avLst>
          </a:prstGeom>
          <a:solidFill>
            <a:srgbClr val="F5F2FA"/>
          </a:solidFill>
          <a:ln w="16510">
            <a:solidFill>
              <a:srgbClr val="1D4ED8"/>
            </a:solidFill>
            <a:prstDash val="solid"/>
          </a:ln>
          <a:effectLst>
            <a:outerShdw blurRad="88900" dist="25400" dir="5400000" algn="bl" rotWithShape="0">
              <a:srgbClr val="C9BEE0">
                <a:alpha val="50000"/>
              </a:srgbClr>
            </a:outerShdw>
          </a:effectLst>
        </p:spPr>
        <p:txBody>
          <a:bodyPr/>
          <a:lstStyle/>
          <a:p>
            <a:endParaRPr lang="en-US"/>
          </a:p>
        </p:txBody>
      </p:sp>
      <p:sp>
        <p:nvSpPr>
          <p:cNvPr id="22" name="Shape 15"/>
          <p:cNvSpPr/>
          <p:nvPr/>
        </p:nvSpPr>
        <p:spPr>
          <a:xfrm>
            <a:off x="3118104" y="3739896"/>
            <a:ext cx="475488" cy="475488"/>
          </a:xfrm>
          <a:prstGeom prst="ellipse">
            <a:avLst/>
          </a:prstGeom>
          <a:solidFill>
            <a:srgbClr val="1D4ED8"/>
          </a:solidFill>
          <a:ln/>
        </p:spPr>
        <p:txBody>
          <a:bodyPr/>
          <a:lstStyle/>
          <a:p>
            <a:endParaRPr lang="en-US"/>
          </a:p>
        </p:txBody>
      </p:sp>
      <p:pic>
        <p:nvPicPr>
          <p:cNvPr id="23" name="Image 5" descr="preencoded.png"/>
          <p:cNvPicPr>
            <a:picLocks noChangeAspect="1"/>
          </p:cNvPicPr>
          <p:nvPr/>
        </p:nvPicPr>
        <p:blipFill>
          <a:blip r:embed="rId8"/>
          <a:stretch>
            <a:fillRect/>
          </a:stretch>
        </p:blipFill>
        <p:spPr>
          <a:xfrm>
            <a:off x="3236976" y="3858768"/>
            <a:ext cx="237744" cy="237744"/>
          </a:xfrm>
          <a:prstGeom prst="rect">
            <a:avLst/>
          </a:prstGeom>
        </p:spPr>
      </p:pic>
      <p:sp>
        <p:nvSpPr>
          <p:cNvPr id="24" name="Text 16"/>
          <p:cNvSpPr/>
          <p:nvPr/>
        </p:nvSpPr>
        <p:spPr>
          <a:xfrm>
            <a:off x="3685032" y="3520440"/>
            <a:ext cx="2258568" cy="91440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SQLite Database</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users · auth · chat history</a:t>
            </a:r>
            <a:endParaRPr lang="en-US" sz="1250" dirty="0"/>
          </a:p>
        </p:txBody>
      </p:sp>
      <p:sp>
        <p:nvSpPr>
          <p:cNvPr id="25" name="Shape 17"/>
          <p:cNvSpPr/>
          <p:nvPr/>
        </p:nvSpPr>
        <p:spPr>
          <a:xfrm>
            <a:off x="6309360" y="3520440"/>
            <a:ext cx="3063240" cy="914400"/>
          </a:xfrm>
          <a:prstGeom prst="roundRect">
            <a:avLst>
              <a:gd name="adj" fmla="val 6000"/>
            </a:avLst>
          </a:prstGeom>
          <a:solidFill>
            <a:srgbClr val="F5F2FA"/>
          </a:solidFill>
          <a:ln w="16510">
            <a:solidFill>
              <a:srgbClr val="1D4ED8"/>
            </a:solidFill>
            <a:prstDash val="solid"/>
          </a:ln>
          <a:effectLst>
            <a:outerShdw blurRad="88900" dist="25400" dir="5400000" algn="bl" rotWithShape="0">
              <a:srgbClr val="C9BEE0">
                <a:alpha val="50000"/>
              </a:srgbClr>
            </a:outerShdw>
          </a:effectLst>
        </p:spPr>
        <p:txBody>
          <a:bodyPr/>
          <a:lstStyle/>
          <a:p>
            <a:endParaRPr lang="en-US"/>
          </a:p>
        </p:txBody>
      </p:sp>
      <p:sp>
        <p:nvSpPr>
          <p:cNvPr id="26" name="Shape 18"/>
          <p:cNvSpPr/>
          <p:nvPr/>
        </p:nvSpPr>
        <p:spPr>
          <a:xfrm>
            <a:off x="6455664" y="3739896"/>
            <a:ext cx="475488" cy="475488"/>
          </a:xfrm>
          <a:prstGeom prst="ellipse">
            <a:avLst/>
          </a:prstGeom>
          <a:solidFill>
            <a:srgbClr val="1D4ED8"/>
          </a:solidFill>
          <a:ln/>
        </p:spPr>
        <p:txBody>
          <a:bodyPr/>
          <a:lstStyle/>
          <a:p>
            <a:endParaRPr lang="en-US"/>
          </a:p>
        </p:txBody>
      </p:sp>
      <p:pic>
        <p:nvPicPr>
          <p:cNvPr id="27" name="Image 6" descr="preencoded.png"/>
          <p:cNvPicPr>
            <a:picLocks noChangeAspect="1"/>
          </p:cNvPicPr>
          <p:nvPr/>
        </p:nvPicPr>
        <p:blipFill>
          <a:blip r:embed="rId9"/>
          <a:stretch>
            <a:fillRect/>
          </a:stretch>
        </p:blipFill>
        <p:spPr>
          <a:xfrm>
            <a:off x="6574536" y="3858768"/>
            <a:ext cx="237744" cy="237744"/>
          </a:xfrm>
          <a:prstGeom prst="rect">
            <a:avLst/>
          </a:prstGeom>
        </p:spPr>
      </p:pic>
      <p:sp>
        <p:nvSpPr>
          <p:cNvPr id="28" name="Text 19"/>
          <p:cNvSpPr/>
          <p:nvPr/>
        </p:nvSpPr>
        <p:spPr>
          <a:xfrm>
            <a:off x="7022592" y="3520440"/>
            <a:ext cx="2258568" cy="91440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FAISS Vector DB</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document knowledge repository</a:t>
            </a:r>
            <a:endParaRPr lang="en-US" sz="1250" dirty="0"/>
          </a:p>
        </p:txBody>
      </p:sp>
      <p:sp>
        <p:nvSpPr>
          <p:cNvPr id="29" name="Shape 20"/>
          <p:cNvSpPr/>
          <p:nvPr/>
        </p:nvSpPr>
        <p:spPr>
          <a:xfrm>
            <a:off x="9957816" y="2971800"/>
            <a:ext cx="0" cy="320040"/>
          </a:xfrm>
          <a:prstGeom prst="line">
            <a:avLst/>
          </a:prstGeom>
          <a:noFill/>
          <a:ln w="15240">
            <a:solidFill>
              <a:srgbClr val="7500C0"/>
            </a:solidFill>
            <a:prstDash val="solid"/>
          </a:ln>
        </p:spPr>
        <p:txBody>
          <a:bodyPr/>
          <a:lstStyle/>
          <a:p>
            <a:endParaRPr lang="en-US"/>
          </a:p>
        </p:txBody>
      </p:sp>
      <p:sp>
        <p:nvSpPr>
          <p:cNvPr id="30" name="Shape 21"/>
          <p:cNvSpPr/>
          <p:nvPr/>
        </p:nvSpPr>
        <p:spPr>
          <a:xfrm>
            <a:off x="4503420" y="3291840"/>
            <a:ext cx="5454396" cy="0"/>
          </a:xfrm>
          <a:prstGeom prst="line">
            <a:avLst/>
          </a:prstGeom>
          <a:noFill/>
          <a:ln w="15240">
            <a:solidFill>
              <a:srgbClr val="7500C0"/>
            </a:solidFill>
            <a:prstDash val="solid"/>
          </a:ln>
        </p:spPr>
        <p:txBody>
          <a:bodyPr/>
          <a:lstStyle/>
          <a:p>
            <a:endParaRPr lang="en-US"/>
          </a:p>
        </p:txBody>
      </p:sp>
      <p:sp>
        <p:nvSpPr>
          <p:cNvPr id="31" name="Shape 22"/>
          <p:cNvSpPr/>
          <p:nvPr/>
        </p:nvSpPr>
        <p:spPr>
          <a:xfrm>
            <a:off x="4503420" y="3291840"/>
            <a:ext cx="0" cy="228600"/>
          </a:xfrm>
          <a:prstGeom prst="line">
            <a:avLst/>
          </a:prstGeom>
          <a:noFill/>
          <a:ln w="15240">
            <a:solidFill>
              <a:srgbClr val="7500C0"/>
            </a:solidFill>
            <a:prstDash val="solid"/>
            <a:tailEnd type="triangle"/>
          </a:ln>
        </p:spPr>
        <p:txBody>
          <a:bodyPr/>
          <a:lstStyle/>
          <a:p>
            <a:endParaRPr lang="en-US"/>
          </a:p>
        </p:txBody>
      </p:sp>
      <p:sp>
        <p:nvSpPr>
          <p:cNvPr id="32" name="Shape 23"/>
          <p:cNvSpPr/>
          <p:nvPr/>
        </p:nvSpPr>
        <p:spPr>
          <a:xfrm>
            <a:off x="7840980" y="3291840"/>
            <a:ext cx="0" cy="228600"/>
          </a:xfrm>
          <a:prstGeom prst="line">
            <a:avLst/>
          </a:prstGeom>
          <a:noFill/>
          <a:ln w="15240">
            <a:solidFill>
              <a:srgbClr val="7500C0"/>
            </a:solidFill>
            <a:prstDash val="solid"/>
            <a:tailEnd type="triangle"/>
          </a:ln>
        </p:spPr>
        <p:txBody>
          <a:bodyPr/>
          <a:lstStyle/>
          <a:p>
            <a:endParaRPr lang="en-US"/>
          </a:p>
        </p:txBody>
      </p:sp>
      <p:sp>
        <p:nvSpPr>
          <p:cNvPr id="33" name="Shape 24"/>
          <p:cNvSpPr/>
          <p:nvPr/>
        </p:nvSpPr>
        <p:spPr>
          <a:xfrm>
            <a:off x="2971800" y="5029200"/>
            <a:ext cx="3063240" cy="868680"/>
          </a:xfrm>
          <a:prstGeom prst="roundRect">
            <a:avLst>
              <a:gd name="adj" fmla="val 6316"/>
            </a:avLst>
          </a:prstGeom>
          <a:solidFill>
            <a:srgbClr val="F5F2FA"/>
          </a:solidFill>
          <a:ln w="16510">
            <a:solidFill>
              <a:srgbClr val="E6197E"/>
            </a:solidFill>
            <a:prstDash val="solid"/>
          </a:ln>
          <a:effectLst>
            <a:outerShdw blurRad="88900" dist="25400" dir="5400000" algn="bl" rotWithShape="0">
              <a:srgbClr val="C9BEE0">
                <a:alpha val="50000"/>
              </a:srgbClr>
            </a:outerShdw>
          </a:effectLst>
        </p:spPr>
        <p:txBody>
          <a:bodyPr/>
          <a:lstStyle/>
          <a:p>
            <a:endParaRPr lang="en-US"/>
          </a:p>
        </p:txBody>
      </p:sp>
      <p:sp>
        <p:nvSpPr>
          <p:cNvPr id="34" name="Shape 25"/>
          <p:cNvSpPr/>
          <p:nvPr/>
        </p:nvSpPr>
        <p:spPr>
          <a:xfrm>
            <a:off x="3118104" y="5225796"/>
            <a:ext cx="475488" cy="475488"/>
          </a:xfrm>
          <a:prstGeom prst="ellipse">
            <a:avLst/>
          </a:prstGeom>
          <a:solidFill>
            <a:srgbClr val="E6197E"/>
          </a:solidFill>
          <a:ln/>
        </p:spPr>
        <p:txBody>
          <a:bodyPr/>
          <a:lstStyle/>
          <a:p>
            <a:endParaRPr lang="en-US"/>
          </a:p>
        </p:txBody>
      </p:sp>
      <p:pic>
        <p:nvPicPr>
          <p:cNvPr id="35" name="Image 7" descr="preencoded.png"/>
          <p:cNvPicPr>
            <a:picLocks noChangeAspect="1"/>
          </p:cNvPicPr>
          <p:nvPr/>
        </p:nvPicPr>
        <p:blipFill>
          <a:blip r:embed="rId10"/>
          <a:stretch>
            <a:fillRect/>
          </a:stretch>
        </p:blipFill>
        <p:spPr>
          <a:xfrm>
            <a:off x="3236976" y="5344668"/>
            <a:ext cx="237744" cy="237744"/>
          </a:xfrm>
          <a:prstGeom prst="rect">
            <a:avLst/>
          </a:prstGeom>
        </p:spPr>
      </p:pic>
      <p:sp>
        <p:nvSpPr>
          <p:cNvPr id="36" name="Text 26"/>
          <p:cNvSpPr/>
          <p:nvPr/>
        </p:nvSpPr>
        <p:spPr>
          <a:xfrm>
            <a:off x="3685032" y="5029200"/>
            <a:ext cx="2258568" cy="86868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LLM</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reasons over retrieved context</a:t>
            </a:r>
            <a:endParaRPr lang="en-US" sz="1250" dirty="0"/>
          </a:p>
        </p:txBody>
      </p:sp>
      <p:sp>
        <p:nvSpPr>
          <p:cNvPr id="37" name="Shape 27"/>
          <p:cNvSpPr/>
          <p:nvPr/>
        </p:nvSpPr>
        <p:spPr>
          <a:xfrm>
            <a:off x="6309360" y="5029200"/>
            <a:ext cx="3063240" cy="868680"/>
          </a:xfrm>
          <a:prstGeom prst="roundRect">
            <a:avLst>
              <a:gd name="adj" fmla="val 6316"/>
            </a:avLst>
          </a:prstGeom>
          <a:solidFill>
            <a:srgbClr val="F5F2FA"/>
          </a:solidFill>
          <a:ln w="1651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38" name="Shape 28"/>
          <p:cNvSpPr/>
          <p:nvPr/>
        </p:nvSpPr>
        <p:spPr>
          <a:xfrm>
            <a:off x="6455664" y="5225796"/>
            <a:ext cx="475488" cy="475488"/>
          </a:xfrm>
          <a:prstGeom prst="ellipse">
            <a:avLst/>
          </a:prstGeom>
          <a:solidFill>
            <a:srgbClr val="A100FF"/>
          </a:solidFill>
          <a:ln/>
        </p:spPr>
        <p:txBody>
          <a:bodyPr/>
          <a:lstStyle/>
          <a:p>
            <a:endParaRPr lang="en-US"/>
          </a:p>
        </p:txBody>
      </p:sp>
      <p:pic>
        <p:nvPicPr>
          <p:cNvPr id="39" name="Image 8" descr="preencoded.png"/>
          <p:cNvPicPr>
            <a:picLocks noChangeAspect="1"/>
          </p:cNvPicPr>
          <p:nvPr/>
        </p:nvPicPr>
        <p:blipFill>
          <a:blip r:embed="rId11"/>
          <a:stretch>
            <a:fillRect/>
          </a:stretch>
        </p:blipFill>
        <p:spPr>
          <a:xfrm>
            <a:off x="6574536" y="5344668"/>
            <a:ext cx="237744" cy="237744"/>
          </a:xfrm>
          <a:prstGeom prst="rect">
            <a:avLst/>
          </a:prstGeom>
        </p:spPr>
      </p:pic>
      <p:sp>
        <p:nvSpPr>
          <p:cNvPr id="40" name="Text 29"/>
          <p:cNvSpPr/>
          <p:nvPr/>
        </p:nvSpPr>
        <p:spPr>
          <a:xfrm>
            <a:off x="7022592" y="5029200"/>
            <a:ext cx="2258568" cy="868680"/>
          </a:xfrm>
          <a:prstGeom prst="rect">
            <a:avLst/>
          </a:prstGeom>
          <a:noFill/>
          <a:ln/>
        </p:spPr>
        <p:txBody>
          <a:bodyPr wrap="square" lIns="0" tIns="0" rIns="0" bIns="0" rtlCol="0" anchor="ctr"/>
          <a:lstStyle/>
          <a:p>
            <a:pPr marL="0" indent="0">
              <a:lnSpc>
                <a:spcPct val="100000"/>
              </a:lnSpc>
              <a:buNone/>
            </a:pPr>
            <a:r>
              <a:rPr lang="en-US" sz="1250" b="1" dirty="0">
                <a:solidFill>
                  <a:srgbClr val="1A1526"/>
                </a:solidFill>
                <a:latin typeface="Calibri" pitchFamily="34" charset="0"/>
                <a:ea typeface="Calibri" pitchFamily="34" charset="-122"/>
                <a:cs typeface="Calibri" pitchFamily="34" charset="-120"/>
              </a:rPr>
              <a:t>Response</a:t>
            </a:r>
            <a:endParaRPr lang="en-US" sz="1250" dirty="0"/>
          </a:p>
          <a:p>
            <a:pPr marL="0" indent="0">
              <a:lnSpc>
                <a:spcPct val="100000"/>
              </a:lnSpc>
              <a:buNone/>
            </a:pPr>
            <a:r>
              <a:rPr lang="en-US" sz="900" dirty="0">
                <a:solidFill>
                  <a:srgbClr val="5A5568"/>
                </a:solidFill>
                <a:latin typeface="Calibri" pitchFamily="34" charset="0"/>
                <a:ea typeface="Calibri" pitchFamily="34" charset="-122"/>
                <a:cs typeface="Calibri" pitchFamily="34" charset="-120"/>
              </a:rPr>
              <a:t>grounded, cited answer</a:t>
            </a:r>
            <a:endParaRPr lang="en-US" sz="1250" dirty="0"/>
          </a:p>
        </p:txBody>
      </p:sp>
      <p:sp>
        <p:nvSpPr>
          <p:cNvPr id="41" name="Shape 30"/>
          <p:cNvSpPr/>
          <p:nvPr/>
        </p:nvSpPr>
        <p:spPr>
          <a:xfrm>
            <a:off x="4503420" y="4434840"/>
            <a:ext cx="0" cy="320040"/>
          </a:xfrm>
          <a:prstGeom prst="line">
            <a:avLst/>
          </a:prstGeom>
          <a:noFill/>
          <a:ln w="15240">
            <a:solidFill>
              <a:srgbClr val="7500C0"/>
            </a:solidFill>
            <a:prstDash val="solid"/>
          </a:ln>
        </p:spPr>
        <p:txBody>
          <a:bodyPr/>
          <a:lstStyle/>
          <a:p>
            <a:endParaRPr lang="en-US"/>
          </a:p>
        </p:txBody>
      </p:sp>
      <p:sp>
        <p:nvSpPr>
          <p:cNvPr id="42" name="Shape 31"/>
          <p:cNvSpPr/>
          <p:nvPr/>
        </p:nvSpPr>
        <p:spPr>
          <a:xfrm>
            <a:off x="7840980" y="4434840"/>
            <a:ext cx="0" cy="320040"/>
          </a:xfrm>
          <a:prstGeom prst="line">
            <a:avLst/>
          </a:prstGeom>
          <a:noFill/>
          <a:ln w="15240">
            <a:solidFill>
              <a:srgbClr val="7500C0"/>
            </a:solidFill>
            <a:prstDash val="solid"/>
          </a:ln>
        </p:spPr>
        <p:txBody>
          <a:bodyPr/>
          <a:lstStyle/>
          <a:p>
            <a:endParaRPr lang="en-US"/>
          </a:p>
        </p:txBody>
      </p:sp>
      <p:sp>
        <p:nvSpPr>
          <p:cNvPr id="43" name="Shape 32"/>
          <p:cNvSpPr/>
          <p:nvPr/>
        </p:nvSpPr>
        <p:spPr>
          <a:xfrm>
            <a:off x="4503420" y="4754880"/>
            <a:ext cx="3337560" cy="0"/>
          </a:xfrm>
          <a:prstGeom prst="line">
            <a:avLst/>
          </a:prstGeom>
          <a:noFill/>
          <a:ln w="15240">
            <a:solidFill>
              <a:srgbClr val="7500C0"/>
            </a:solidFill>
            <a:prstDash val="solid"/>
          </a:ln>
        </p:spPr>
        <p:txBody>
          <a:bodyPr/>
          <a:lstStyle/>
          <a:p>
            <a:endParaRPr lang="en-US"/>
          </a:p>
        </p:txBody>
      </p:sp>
      <p:sp>
        <p:nvSpPr>
          <p:cNvPr id="44" name="Shape 33"/>
          <p:cNvSpPr/>
          <p:nvPr/>
        </p:nvSpPr>
        <p:spPr>
          <a:xfrm>
            <a:off x="4503420" y="4754880"/>
            <a:ext cx="0" cy="274320"/>
          </a:xfrm>
          <a:prstGeom prst="line">
            <a:avLst/>
          </a:prstGeom>
          <a:noFill/>
          <a:ln w="15240">
            <a:solidFill>
              <a:srgbClr val="7500C0"/>
            </a:solidFill>
            <a:prstDash val="solid"/>
            <a:tailEnd type="triangle"/>
          </a:ln>
        </p:spPr>
        <p:txBody>
          <a:bodyPr/>
          <a:lstStyle/>
          <a:p>
            <a:endParaRPr lang="en-US"/>
          </a:p>
        </p:txBody>
      </p:sp>
      <p:pic>
        <p:nvPicPr>
          <p:cNvPr id="45" name="Image 9" descr="preencoded.png"/>
          <p:cNvPicPr>
            <a:picLocks noChangeAspect="1"/>
          </p:cNvPicPr>
          <p:nvPr/>
        </p:nvPicPr>
        <p:blipFill>
          <a:blip r:embed="rId7"/>
          <a:stretch>
            <a:fillRect/>
          </a:stretch>
        </p:blipFill>
        <p:spPr>
          <a:xfrm>
            <a:off x="6062472" y="5330952"/>
            <a:ext cx="237744" cy="2377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DOCUMENT PROCESSING PIPELINE</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How Knowledge Is Created</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09</a:t>
            </a:r>
            <a:endParaRPr lang="en-US" sz="1000" dirty="0"/>
          </a:p>
        </p:txBody>
      </p:sp>
      <p:sp>
        <p:nvSpPr>
          <p:cNvPr id="6" name="Text 4"/>
          <p:cNvSpPr/>
          <p:nvPr/>
        </p:nvSpPr>
        <p:spPr>
          <a:xfrm>
            <a:off x="685800" y="1481328"/>
            <a:ext cx="10881360" cy="45720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Before PRISM can answer anything, each uploaded document is transformed into a searchable, meaning-aware knowledge base through a five-stage pipeline.</a:t>
            </a:r>
            <a:endParaRPr lang="en-US" sz="1300" dirty="0"/>
          </a:p>
        </p:txBody>
      </p:sp>
      <p:sp>
        <p:nvSpPr>
          <p:cNvPr id="7" name="Shape 5"/>
          <p:cNvSpPr/>
          <p:nvPr/>
        </p:nvSpPr>
        <p:spPr>
          <a:xfrm>
            <a:off x="502920" y="228600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1026643" y="2487168"/>
            <a:ext cx="512064" cy="512064"/>
          </a:xfrm>
          <a:prstGeom prst="ellipse">
            <a:avLst/>
          </a:prstGeom>
          <a:solidFill>
            <a:srgbClr val="A100FF"/>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1154659" y="2615184"/>
            <a:ext cx="256032" cy="256032"/>
          </a:xfrm>
          <a:prstGeom prst="rect">
            <a:avLst/>
          </a:prstGeom>
        </p:spPr>
      </p:pic>
      <p:sp>
        <p:nvSpPr>
          <p:cNvPr id="10" name="Text 7"/>
          <p:cNvSpPr/>
          <p:nvPr/>
        </p:nvSpPr>
        <p:spPr>
          <a:xfrm>
            <a:off x="557784" y="307238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PDF Upload</a:t>
            </a:r>
            <a:endParaRPr lang="en-US" sz="1100" dirty="0"/>
          </a:p>
        </p:txBody>
      </p:sp>
      <p:sp>
        <p:nvSpPr>
          <p:cNvPr id="11" name="Text 8"/>
          <p:cNvSpPr/>
          <p:nvPr/>
        </p:nvSpPr>
        <p:spPr>
          <a:xfrm>
            <a:off x="557784" y="354787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admin adds a policy document</a:t>
            </a:r>
            <a:endParaRPr lang="en-US" sz="850" dirty="0"/>
          </a:p>
        </p:txBody>
      </p:sp>
      <p:pic>
        <p:nvPicPr>
          <p:cNvPr id="12" name="Image 1" descr="preencoded.png"/>
          <p:cNvPicPr>
            <a:picLocks noChangeAspect="1"/>
          </p:cNvPicPr>
          <p:nvPr/>
        </p:nvPicPr>
        <p:blipFill>
          <a:blip r:embed="rId5"/>
          <a:stretch>
            <a:fillRect/>
          </a:stretch>
        </p:blipFill>
        <p:spPr>
          <a:xfrm>
            <a:off x="2080717" y="3081528"/>
            <a:ext cx="237744" cy="237744"/>
          </a:xfrm>
          <a:prstGeom prst="rect">
            <a:avLst/>
          </a:prstGeom>
        </p:spPr>
      </p:pic>
      <p:sp>
        <p:nvSpPr>
          <p:cNvPr id="13" name="Shape 9"/>
          <p:cNvSpPr/>
          <p:nvPr/>
        </p:nvSpPr>
        <p:spPr>
          <a:xfrm>
            <a:off x="2428189" y="228600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0"/>
          <p:cNvSpPr/>
          <p:nvPr/>
        </p:nvSpPr>
        <p:spPr>
          <a:xfrm>
            <a:off x="2951912" y="2487168"/>
            <a:ext cx="512064" cy="512064"/>
          </a:xfrm>
          <a:prstGeom prst="ellipse">
            <a:avLst/>
          </a:prstGeom>
          <a:solidFill>
            <a:srgbClr val="A100FF"/>
          </a:solidFill>
          <a:ln/>
        </p:spPr>
        <p:txBody>
          <a:bodyPr/>
          <a:lstStyle/>
          <a:p>
            <a:endParaRPr lang="en-US"/>
          </a:p>
        </p:txBody>
      </p:sp>
      <p:pic>
        <p:nvPicPr>
          <p:cNvPr id="15" name="Image 2" descr="preencoded.png"/>
          <p:cNvPicPr>
            <a:picLocks noChangeAspect="1"/>
          </p:cNvPicPr>
          <p:nvPr/>
        </p:nvPicPr>
        <p:blipFill>
          <a:blip r:embed="rId6"/>
          <a:stretch>
            <a:fillRect/>
          </a:stretch>
        </p:blipFill>
        <p:spPr>
          <a:xfrm>
            <a:off x="3079928" y="2615184"/>
            <a:ext cx="256032" cy="256032"/>
          </a:xfrm>
          <a:prstGeom prst="rect">
            <a:avLst/>
          </a:prstGeom>
        </p:spPr>
      </p:pic>
      <p:sp>
        <p:nvSpPr>
          <p:cNvPr id="16" name="Text 11"/>
          <p:cNvSpPr/>
          <p:nvPr/>
        </p:nvSpPr>
        <p:spPr>
          <a:xfrm>
            <a:off x="2483053" y="307238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Text Extraction</a:t>
            </a:r>
            <a:endParaRPr lang="en-US" sz="1100" dirty="0"/>
          </a:p>
        </p:txBody>
      </p:sp>
      <p:sp>
        <p:nvSpPr>
          <p:cNvPr id="17" name="Text 12"/>
          <p:cNvSpPr/>
          <p:nvPr/>
        </p:nvSpPr>
        <p:spPr>
          <a:xfrm>
            <a:off x="2483053" y="354787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raw text pulled from the PDF</a:t>
            </a:r>
            <a:endParaRPr lang="en-US" sz="850" dirty="0"/>
          </a:p>
        </p:txBody>
      </p:sp>
      <p:pic>
        <p:nvPicPr>
          <p:cNvPr id="18" name="Image 3" descr="preencoded.png"/>
          <p:cNvPicPr>
            <a:picLocks noChangeAspect="1"/>
          </p:cNvPicPr>
          <p:nvPr/>
        </p:nvPicPr>
        <p:blipFill>
          <a:blip r:embed="rId5"/>
          <a:stretch>
            <a:fillRect/>
          </a:stretch>
        </p:blipFill>
        <p:spPr>
          <a:xfrm>
            <a:off x="4005986" y="3081528"/>
            <a:ext cx="237744" cy="237744"/>
          </a:xfrm>
          <a:prstGeom prst="rect">
            <a:avLst/>
          </a:prstGeom>
        </p:spPr>
      </p:pic>
      <p:sp>
        <p:nvSpPr>
          <p:cNvPr id="19" name="Shape 13"/>
          <p:cNvSpPr/>
          <p:nvPr/>
        </p:nvSpPr>
        <p:spPr>
          <a:xfrm>
            <a:off x="4353458" y="228600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0" name="Shape 14"/>
          <p:cNvSpPr/>
          <p:nvPr/>
        </p:nvSpPr>
        <p:spPr>
          <a:xfrm>
            <a:off x="4877181" y="2487168"/>
            <a:ext cx="512064" cy="512064"/>
          </a:xfrm>
          <a:prstGeom prst="ellipse">
            <a:avLst/>
          </a:prstGeom>
          <a:solidFill>
            <a:srgbClr val="A100FF"/>
          </a:solidFill>
          <a:ln/>
        </p:spPr>
        <p:txBody>
          <a:bodyPr/>
          <a:lstStyle/>
          <a:p>
            <a:endParaRPr lang="en-US"/>
          </a:p>
        </p:txBody>
      </p:sp>
      <p:pic>
        <p:nvPicPr>
          <p:cNvPr id="21" name="Image 4" descr="preencoded.png"/>
          <p:cNvPicPr>
            <a:picLocks noChangeAspect="1"/>
          </p:cNvPicPr>
          <p:nvPr/>
        </p:nvPicPr>
        <p:blipFill>
          <a:blip r:embed="rId7"/>
          <a:stretch>
            <a:fillRect/>
          </a:stretch>
        </p:blipFill>
        <p:spPr>
          <a:xfrm>
            <a:off x="5005197" y="2615184"/>
            <a:ext cx="256032" cy="256032"/>
          </a:xfrm>
          <a:prstGeom prst="rect">
            <a:avLst/>
          </a:prstGeom>
        </p:spPr>
      </p:pic>
      <p:sp>
        <p:nvSpPr>
          <p:cNvPr id="22" name="Text 15"/>
          <p:cNvSpPr/>
          <p:nvPr/>
        </p:nvSpPr>
        <p:spPr>
          <a:xfrm>
            <a:off x="4408322" y="307238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Chunking</a:t>
            </a:r>
            <a:endParaRPr lang="en-US" sz="1100" dirty="0"/>
          </a:p>
        </p:txBody>
      </p:sp>
      <p:sp>
        <p:nvSpPr>
          <p:cNvPr id="23" name="Text 16"/>
          <p:cNvSpPr/>
          <p:nvPr/>
        </p:nvSpPr>
        <p:spPr>
          <a:xfrm>
            <a:off x="4408322" y="354787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split into passage-sized pieces</a:t>
            </a:r>
            <a:endParaRPr lang="en-US" sz="850" dirty="0"/>
          </a:p>
        </p:txBody>
      </p:sp>
      <p:pic>
        <p:nvPicPr>
          <p:cNvPr id="24" name="Image 5" descr="preencoded.png"/>
          <p:cNvPicPr>
            <a:picLocks noChangeAspect="1"/>
          </p:cNvPicPr>
          <p:nvPr/>
        </p:nvPicPr>
        <p:blipFill>
          <a:blip r:embed="rId5"/>
          <a:stretch>
            <a:fillRect/>
          </a:stretch>
        </p:blipFill>
        <p:spPr>
          <a:xfrm>
            <a:off x="5931256" y="3081528"/>
            <a:ext cx="237744" cy="237744"/>
          </a:xfrm>
          <a:prstGeom prst="rect">
            <a:avLst/>
          </a:prstGeom>
        </p:spPr>
      </p:pic>
      <p:sp>
        <p:nvSpPr>
          <p:cNvPr id="25" name="Shape 17"/>
          <p:cNvSpPr/>
          <p:nvPr/>
        </p:nvSpPr>
        <p:spPr>
          <a:xfrm>
            <a:off x="6278728" y="228600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6" name="Shape 18"/>
          <p:cNvSpPr/>
          <p:nvPr/>
        </p:nvSpPr>
        <p:spPr>
          <a:xfrm>
            <a:off x="6802450" y="2487168"/>
            <a:ext cx="512064" cy="512064"/>
          </a:xfrm>
          <a:prstGeom prst="ellipse">
            <a:avLst/>
          </a:prstGeom>
          <a:solidFill>
            <a:srgbClr val="A100FF"/>
          </a:solidFill>
          <a:ln/>
        </p:spPr>
        <p:txBody>
          <a:bodyPr/>
          <a:lstStyle/>
          <a:p>
            <a:endParaRPr lang="en-US"/>
          </a:p>
        </p:txBody>
      </p:sp>
      <p:pic>
        <p:nvPicPr>
          <p:cNvPr id="27" name="Image 6" descr="preencoded.png"/>
          <p:cNvPicPr>
            <a:picLocks noChangeAspect="1"/>
          </p:cNvPicPr>
          <p:nvPr/>
        </p:nvPicPr>
        <p:blipFill>
          <a:blip r:embed="rId8"/>
          <a:stretch>
            <a:fillRect/>
          </a:stretch>
        </p:blipFill>
        <p:spPr>
          <a:xfrm>
            <a:off x="6930466" y="2615184"/>
            <a:ext cx="256032" cy="256032"/>
          </a:xfrm>
          <a:prstGeom prst="rect">
            <a:avLst/>
          </a:prstGeom>
        </p:spPr>
      </p:pic>
      <p:sp>
        <p:nvSpPr>
          <p:cNvPr id="28" name="Text 19"/>
          <p:cNvSpPr/>
          <p:nvPr/>
        </p:nvSpPr>
        <p:spPr>
          <a:xfrm>
            <a:off x="6333592" y="307238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Embeddings</a:t>
            </a:r>
            <a:endParaRPr lang="en-US" sz="1100" dirty="0"/>
          </a:p>
        </p:txBody>
      </p:sp>
      <p:sp>
        <p:nvSpPr>
          <p:cNvPr id="29" name="Text 20"/>
          <p:cNvSpPr/>
          <p:nvPr/>
        </p:nvSpPr>
        <p:spPr>
          <a:xfrm>
            <a:off x="6333592" y="354787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each chunk becomes a vector</a:t>
            </a:r>
            <a:endParaRPr lang="en-US" sz="850" dirty="0"/>
          </a:p>
        </p:txBody>
      </p:sp>
      <p:pic>
        <p:nvPicPr>
          <p:cNvPr id="30" name="Image 7" descr="preencoded.png"/>
          <p:cNvPicPr>
            <a:picLocks noChangeAspect="1"/>
          </p:cNvPicPr>
          <p:nvPr/>
        </p:nvPicPr>
        <p:blipFill>
          <a:blip r:embed="rId5"/>
          <a:stretch>
            <a:fillRect/>
          </a:stretch>
        </p:blipFill>
        <p:spPr>
          <a:xfrm>
            <a:off x="7856525" y="3081528"/>
            <a:ext cx="237744" cy="237744"/>
          </a:xfrm>
          <a:prstGeom prst="rect">
            <a:avLst/>
          </a:prstGeom>
        </p:spPr>
      </p:pic>
      <p:sp>
        <p:nvSpPr>
          <p:cNvPr id="31" name="Shape 21"/>
          <p:cNvSpPr/>
          <p:nvPr/>
        </p:nvSpPr>
        <p:spPr>
          <a:xfrm>
            <a:off x="8203997" y="228600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2" name="Shape 22"/>
          <p:cNvSpPr/>
          <p:nvPr/>
        </p:nvSpPr>
        <p:spPr>
          <a:xfrm>
            <a:off x="8727719" y="2487168"/>
            <a:ext cx="512064" cy="512064"/>
          </a:xfrm>
          <a:prstGeom prst="ellipse">
            <a:avLst/>
          </a:prstGeom>
          <a:solidFill>
            <a:srgbClr val="A100FF"/>
          </a:solidFill>
          <a:ln/>
        </p:spPr>
        <p:txBody>
          <a:bodyPr/>
          <a:lstStyle/>
          <a:p>
            <a:endParaRPr lang="en-US"/>
          </a:p>
        </p:txBody>
      </p:sp>
      <p:pic>
        <p:nvPicPr>
          <p:cNvPr id="33" name="Image 8" descr="preencoded.png"/>
          <p:cNvPicPr>
            <a:picLocks noChangeAspect="1"/>
          </p:cNvPicPr>
          <p:nvPr/>
        </p:nvPicPr>
        <p:blipFill>
          <a:blip r:embed="rId9"/>
          <a:stretch>
            <a:fillRect/>
          </a:stretch>
        </p:blipFill>
        <p:spPr>
          <a:xfrm>
            <a:off x="8855735" y="2615184"/>
            <a:ext cx="256032" cy="256032"/>
          </a:xfrm>
          <a:prstGeom prst="rect">
            <a:avLst/>
          </a:prstGeom>
        </p:spPr>
      </p:pic>
      <p:sp>
        <p:nvSpPr>
          <p:cNvPr id="34" name="Text 23"/>
          <p:cNvSpPr/>
          <p:nvPr/>
        </p:nvSpPr>
        <p:spPr>
          <a:xfrm>
            <a:off x="8258861" y="307238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Store in FAISS</a:t>
            </a:r>
            <a:endParaRPr lang="en-US" sz="1100" dirty="0"/>
          </a:p>
        </p:txBody>
      </p:sp>
      <p:sp>
        <p:nvSpPr>
          <p:cNvPr id="35" name="Text 24"/>
          <p:cNvSpPr/>
          <p:nvPr/>
        </p:nvSpPr>
        <p:spPr>
          <a:xfrm>
            <a:off x="8258861" y="354787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vectors indexed for search</a:t>
            </a:r>
            <a:endParaRPr lang="en-US" sz="850" dirty="0"/>
          </a:p>
        </p:txBody>
      </p:sp>
      <p:pic>
        <p:nvPicPr>
          <p:cNvPr id="36" name="Image 9" descr="preencoded.png"/>
          <p:cNvPicPr>
            <a:picLocks noChangeAspect="1"/>
          </p:cNvPicPr>
          <p:nvPr/>
        </p:nvPicPr>
        <p:blipFill>
          <a:blip r:embed="rId5"/>
          <a:stretch>
            <a:fillRect/>
          </a:stretch>
        </p:blipFill>
        <p:spPr>
          <a:xfrm>
            <a:off x="9781794" y="3081528"/>
            <a:ext cx="237744" cy="237744"/>
          </a:xfrm>
          <a:prstGeom prst="rect">
            <a:avLst/>
          </a:prstGeom>
        </p:spPr>
      </p:pic>
      <p:sp>
        <p:nvSpPr>
          <p:cNvPr id="37" name="Shape 25"/>
          <p:cNvSpPr/>
          <p:nvPr/>
        </p:nvSpPr>
        <p:spPr>
          <a:xfrm>
            <a:off x="10129266" y="2286000"/>
            <a:ext cx="1559509" cy="1828800"/>
          </a:xfrm>
          <a:prstGeom prst="roundRect">
            <a:avLst>
              <a:gd name="adj" fmla="val 3518"/>
            </a:avLst>
          </a:prstGeom>
          <a:solidFill>
            <a:srgbClr val="EDE7F7"/>
          </a:solidFill>
          <a:ln w="1905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38" name="Shape 26"/>
          <p:cNvSpPr/>
          <p:nvPr/>
        </p:nvSpPr>
        <p:spPr>
          <a:xfrm>
            <a:off x="10652989" y="2487168"/>
            <a:ext cx="512064" cy="512064"/>
          </a:xfrm>
          <a:prstGeom prst="ellipse">
            <a:avLst/>
          </a:prstGeom>
          <a:solidFill>
            <a:srgbClr val="A100FF"/>
          </a:solidFill>
          <a:ln/>
        </p:spPr>
        <p:txBody>
          <a:bodyPr/>
          <a:lstStyle/>
          <a:p>
            <a:endParaRPr lang="en-US"/>
          </a:p>
        </p:txBody>
      </p:sp>
      <p:pic>
        <p:nvPicPr>
          <p:cNvPr id="39" name="Image 10" descr="preencoded.png"/>
          <p:cNvPicPr>
            <a:picLocks noChangeAspect="1"/>
          </p:cNvPicPr>
          <p:nvPr/>
        </p:nvPicPr>
        <p:blipFill>
          <a:blip r:embed="rId10"/>
          <a:stretch>
            <a:fillRect/>
          </a:stretch>
        </p:blipFill>
        <p:spPr>
          <a:xfrm>
            <a:off x="10781005" y="2615184"/>
            <a:ext cx="256032" cy="256032"/>
          </a:xfrm>
          <a:prstGeom prst="rect">
            <a:avLst/>
          </a:prstGeom>
        </p:spPr>
      </p:pic>
      <p:sp>
        <p:nvSpPr>
          <p:cNvPr id="40" name="Text 27"/>
          <p:cNvSpPr/>
          <p:nvPr/>
        </p:nvSpPr>
        <p:spPr>
          <a:xfrm>
            <a:off x="10184130" y="307238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KB Ready</a:t>
            </a:r>
            <a:endParaRPr lang="en-US" sz="1100" dirty="0"/>
          </a:p>
        </p:txBody>
      </p:sp>
      <p:sp>
        <p:nvSpPr>
          <p:cNvPr id="41" name="Text 28"/>
          <p:cNvSpPr/>
          <p:nvPr/>
        </p:nvSpPr>
        <p:spPr>
          <a:xfrm>
            <a:off x="10184130" y="354787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document is now queryable</a:t>
            </a:r>
            <a:endParaRPr lang="en-US" sz="850" dirty="0"/>
          </a:p>
        </p:txBody>
      </p:sp>
      <p:sp>
        <p:nvSpPr>
          <p:cNvPr id="42" name="Shape 29"/>
          <p:cNvSpPr/>
          <p:nvPr/>
        </p:nvSpPr>
        <p:spPr>
          <a:xfrm>
            <a:off x="685800" y="4709160"/>
            <a:ext cx="10820095" cy="1234440"/>
          </a:xfrm>
          <a:prstGeom prst="roundRect">
            <a:avLst>
              <a:gd name="adj" fmla="val 4444"/>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43" name="Shape 30"/>
          <p:cNvSpPr/>
          <p:nvPr/>
        </p:nvSpPr>
        <p:spPr>
          <a:xfrm>
            <a:off x="960120" y="5074920"/>
            <a:ext cx="548640" cy="548640"/>
          </a:xfrm>
          <a:prstGeom prst="ellipse">
            <a:avLst/>
          </a:prstGeom>
          <a:solidFill>
            <a:srgbClr val="A100FF"/>
          </a:solidFill>
          <a:ln/>
        </p:spPr>
        <p:txBody>
          <a:bodyPr/>
          <a:lstStyle/>
          <a:p>
            <a:endParaRPr lang="en-US"/>
          </a:p>
        </p:txBody>
      </p:sp>
      <p:pic>
        <p:nvPicPr>
          <p:cNvPr id="44" name="Image 11" descr="preencoded.png"/>
          <p:cNvPicPr>
            <a:picLocks noChangeAspect="1"/>
          </p:cNvPicPr>
          <p:nvPr/>
        </p:nvPicPr>
        <p:blipFill>
          <a:blip r:embed="rId11"/>
          <a:stretch>
            <a:fillRect/>
          </a:stretch>
        </p:blipFill>
        <p:spPr>
          <a:xfrm>
            <a:off x="1097280" y="5212080"/>
            <a:ext cx="274320" cy="274320"/>
          </a:xfrm>
          <a:prstGeom prst="rect">
            <a:avLst/>
          </a:prstGeom>
        </p:spPr>
      </p:pic>
      <p:sp>
        <p:nvSpPr>
          <p:cNvPr id="45" name="Text 31"/>
          <p:cNvSpPr/>
          <p:nvPr/>
        </p:nvSpPr>
        <p:spPr>
          <a:xfrm>
            <a:off x="1691640" y="4709160"/>
            <a:ext cx="9539935" cy="123444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Semantic, not keyword.  </a:t>
            </a:r>
            <a:r>
              <a:rPr lang="en-US" sz="1350" dirty="0">
                <a:solidFill>
                  <a:srgbClr val="D9C4FF"/>
                </a:solidFill>
                <a:latin typeface="Calibri" pitchFamily="34" charset="0"/>
                <a:ea typeface="Calibri" pitchFamily="34" charset="-122"/>
                <a:cs typeface="Calibri" pitchFamily="34" charset="-120"/>
              </a:rPr>
              <a:t>Because every chunk is stored as an embedding, PRISM matches on meaning and context — so “how much sick leave do I get?” finds the right clause even if the document never uses those exact words.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QUERY PROCESSING FLOW</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How Questions Are Answered</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10</a:t>
            </a:r>
            <a:endParaRPr lang="en-US" sz="1000" dirty="0"/>
          </a:p>
        </p:txBody>
      </p:sp>
      <p:sp>
        <p:nvSpPr>
          <p:cNvPr id="6" name="Shape 4"/>
          <p:cNvSpPr/>
          <p:nvPr/>
        </p:nvSpPr>
        <p:spPr>
          <a:xfrm>
            <a:off x="685800" y="1508760"/>
            <a:ext cx="10820095" cy="868680"/>
          </a:xfrm>
          <a:prstGeom prst="roundRect">
            <a:avLst>
              <a:gd name="adj" fmla="val 6316"/>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7" name="Shape 5"/>
          <p:cNvSpPr/>
          <p:nvPr/>
        </p:nvSpPr>
        <p:spPr>
          <a:xfrm>
            <a:off x="685800" y="1508760"/>
            <a:ext cx="73152" cy="868680"/>
          </a:xfrm>
          <a:prstGeom prst="rect">
            <a:avLst/>
          </a:prstGeom>
          <a:solidFill>
            <a:srgbClr val="E6197E"/>
          </a:solidFill>
          <a:ln/>
        </p:spPr>
        <p:txBody>
          <a:bodyPr/>
          <a:lstStyle/>
          <a:p>
            <a:endParaRPr lang="en-US"/>
          </a:p>
        </p:txBody>
      </p:sp>
      <p:sp>
        <p:nvSpPr>
          <p:cNvPr id="8" name="Shape 6"/>
          <p:cNvSpPr/>
          <p:nvPr/>
        </p:nvSpPr>
        <p:spPr>
          <a:xfrm>
            <a:off x="960120" y="1719072"/>
            <a:ext cx="457200" cy="457200"/>
          </a:xfrm>
          <a:prstGeom prst="ellipse">
            <a:avLst/>
          </a:prstGeom>
          <a:solidFill>
            <a:srgbClr val="E6197E"/>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1074420" y="1833372"/>
            <a:ext cx="228600" cy="228600"/>
          </a:xfrm>
          <a:prstGeom prst="rect">
            <a:avLst/>
          </a:prstGeom>
        </p:spPr>
      </p:pic>
      <p:sp>
        <p:nvSpPr>
          <p:cNvPr id="10" name="Text 7"/>
          <p:cNvSpPr/>
          <p:nvPr/>
        </p:nvSpPr>
        <p:spPr>
          <a:xfrm>
            <a:off x="1600200" y="1508760"/>
            <a:ext cx="9631375" cy="868680"/>
          </a:xfrm>
          <a:prstGeom prst="rect">
            <a:avLst/>
          </a:prstGeom>
          <a:noFill/>
          <a:ln/>
        </p:spPr>
        <p:txBody>
          <a:bodyPr wrap="square" lIns="0" tIns="0" rIns="0" bIns="0" rtlCol="0" anchor="ctr"/>
          <a:lstStyle/>
          <a:p>
            <a:pPr marL="0" indent="0">
              <a:buNone/>
            </a:pPr>
            <a:r>
              <a:rPr lang="en-US" sz="1100" b="1" kern="0" spc="150" dirty="0">
                <a:solidFill>
                  <a:srgbClr val="E6197E"/>
                </a:solidFill>
                <a:latin typeface="Arial" pitchFamily="34" charset="0"/>
                <a:ea typeface="Arial" pitchFamily="34" charset="-122"/>
                <a:cs typeface="Arial" pitchFamily="34" charset="-120"/>
              </a:rPr>
              <a:t>Example    </a:t>
            </a:r>
            <a:r>
              <a:rPr lang="en-US" sz="1800" b="1" dirty="0">
                <a:solidFill>
                  <a:srgbClr val="1A1526"/>
                </a:solidFill>
                <a:latin typeface="Arial" pitchFamily="34" charset="0"/>
                <a:ea typeface="Arial" pitchFamily="34" charset="-122"/>
                <a:cs typeface="Arial" pitchFamily="34" charset="-120"/>
              </a:rPr>
              <a:t>“How many casual leaves am I allowed?”</a:t>
            </a:r>
            <a:endParaRPr lang="en-US" sz="1100" dirty="0"/>
          </a:p>
        </p:txBody>
      </p:sp>
      <p:sp>
        <p:nvSpPr>
          <p:cNvPr id="11" name="Shape 8"/>
          <p:cNvSpPr/>
          <p:nvPr/>
        </p:nvSpPr>
        <p:spPr>
          <a:xfrm>
            <a:off x="502920" y="288036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2" name="Shape 9"/>
          <p:cNvSpPr/>
          <p:nvPr/>
        </p:nvSpPr>
        <p:spPr>
          <a:xfrm>
            <a:off x="1026643" y="3081528"/>
            <a:ext cx="512064" cy="512064"/>
          </a:xfrm>
          <a:prstGeom prst="ellipse">
            <a:avLst/>
          </a:prstGeom>
          <a:solidFill>
            <a:srgbClr val="A100FF"/>
          </a:solidFill>
          <a:ln/>
        </p:spPr>
        <p:txBody>
          <a:bodyPr/>
          <a:lstStyle/>
          <a:p>
            <a:endParaRPr lang="en-US"/>
          </a:p>
        </p:txBody>
      </p:sp>
      <p:pic>
        <p:nvPicPr>
          <p:cNvPr id="13" name="Image 1" descr="preencoded.png"/>
          <p:cNvPicPr>
            <a:picLocks noChangeAspect="1"/>
          </p:cNvPicPr>
          <p:nvPr/>
        </p:nvPicPr>
        <p:blipFill>
          <a:blip r:embed="rId5"/>
          <a:stretch>
            <a:fillRect/>
          </a:stretch>
        </p:blipFill>
        <p:spPr>
          <a:xfrm>
            <a:off x="1154659" y="3209544"/>
            <a:ext cx="256032" cy="256032"/>
          </a:xfrm>
          <a:prstGeom prst="rect">
            <a:avLst/>
          </a:prstGeom>
        </p:spPr>
      </p:pic>
      <p:sp>
        <p:nvSpPr>
          <p:cNvPr id="14" name="Text 10"/>
          <p:cNvSpPr/>
          <p:nvPr/>
        </p:nvSpPr>
        <p:spPr>
          <a:xfrm>
            <a:off x="557784" y="366674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User Question</a:t>
            </a:r>
            <a:endParaRPr lang="en-US" sz="1100" dirty="0"/>
          </a:p>
        </p:txBody>
      </p:sp>
      <p:sp>
        <p:nvSpPr>
          <p:cNvPr id="15" name="Text 11"/>
          <p:cNvSpPr/>
          <p:nvPr/>
        </p:nvSpPr>
        <p:spPr>
          <a:xfrm>
            <a:off x="557784" y="414223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typed in natural language</a:t>
            </a:r>
            <a:endParaRPr lang="en-US" sz="850" dirty="0"/>
          </a:p>
        </p:txBody>
      </p:sp>
      <p:pic>
        <p:nvPicPr>
          <p:cNvPr id="16" name="Image 2" descr="preencoded.png"/>
          <p:cNvPicPr>
            <a:picLocks noChangeAspect="1"/>
          </p:cNvPicPr>
          <p:nvPr/>
        </p:nvPicPr>
        <p:blipFill>
          <a:blip r:embed="rId6"/>
          <a:stretch>
            <a:fillRect/>
          </a:stretch>
        </p:blipFill>
        <p:spPr>
          <a:xfrm>
            <a:off x="2080717" y="3675888"/>
            <a:ext cx="237744" cy="237744"/>
          </a:xfrm>
          <a:prstGeom prst="rect">
            <a:avLst/>
          </a:prstGeom>
        </p:spPr>
      </p:pic>
      <p:sp>
        <p:nvSpPr>
          <p:cNvPr id="17" name="Shape 12"/>
          <p:cNvSpPr/>
          <p:nvPr/>
        </p:nvSpPr>
        <p:spPr>
          <a:xfrm>
            <a:off x="2428189" y="288036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8" name="Shape 13"/>
          <p:cNvSpPr/>
          <p:nvPr/>
        </p:nvSpPr>
        <p:spPr>
          <a:xfrm>
            <a:off x="2951912" y="3081528"/>
            <a:ext cx="512064" cy="512064"/>
          </a:xfrm>
          <a:prstGeom prst="ellipse">
            <a:avLst/>
          </a:prstGeom>
          <a:solidFill>
            <a:srgbClr val="A100FF"/>
          </a:solidFill>
          <a:ln/>
        </p:spPr>
        <p:txBody>
          <a:bodyPr/>
          <a:lstStyle/>
          <a:p>
            <a:endParaRPr lang="en-US"/>
          </a:p>
        </p:txBody>
      </p:sp>
      <p:pic>
        <p:nvPicPr>
          <p:cNvPr id="19" name="Image 3" descr="preencoded.png"/>
          <p:cNvPicPr>
            <a:picLocks noChangeAspect="1"/>
          </p:cNvPicPr>
          <p:nvPr/>
        </p:nvPicPr>
        <p:blipFill>
          <a:blip r:embed="rId7"/>
          <a:stretch>
            <a:fillRect/>
          </a:stretch>
        </p:blipFill>
        <p:spPr>
          <a:xfrm>
            <a:off x="3079928" y="3209544"/>
            <a:ext cx="256032" cy="256032"/>
          </a:xfrm>
          <a:prstGeom prst="rect">
            <a:avLst/>
          </a:prstGeom>
        </p:spPr>
      </p:pic>
      <p:sp>
        <p:nvSpPr>
          <p:cNvPr id="20" name="Text 14"/>
          <p:cNvSpPr/>
          <p:nvPr/>
        </p:nvSpPr>
        <p:spPr>
          <a:xfrm>
            <a:off x="2483053" y="366674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Embedding</a:t>
            </a:r>
            <a:endParaRPr lang="en-US" sz="1100" dirty="0"/>
          </a:p>
        </p:txBody>
      </p:sp>
      <p:sp>
        <p:nvSpPr>
          <p:cNvPr id="21" name="Text 15"/>
          <p:cNvSpPr/>
          <p:nvPr/>
        </p:nvSpPr>
        <p:spPr>
          <a:xfrm>
            <a:off x="2483053" y="414223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question becomes a vector</a:t>
            </a:r>
            <a:endParaRPr lang="en-US" sz="850" dirty="0"/>
          </a:p>
        </p:txBody>
      </p:sp>
      <p:pic>
        <p:nvPicPr>
          <p:cNvPr id="22" name="Image 4" descr="preencoded.png"/>
          <p:cNvPicPr>
            <a:picLocks noChangeAspect="1"/>
          </p:cNvPicPr>
          <p:nvPr/>
        </p:nvPicPr>
        <p:blipFill>
          <a:blip r:embed="rId6"/>
          <a:stretch>
            <a:fillRect/>
          </a:stretch>
        </p:blipFill>
        <p:spPr>
          <a:xfrm>
            <a:off x="4005986" y="3675888"/>
            <a:ext cx="237744" cy="237744"/>
          </a:xfrm>
          <a:prstGeom prst="rect">
            <a:avLst/>
          </a:prstGeom>
        </p:spPr>
      </p:pic>
      <p:sp>
        <p:nvSpPr>
          <p:cNvPr id="23" name="Shape 16"/>
          <p:cNvSpPr/>
          <p:nvPr/>
        </p:nvSpPr>
        <p:spPr>
          <a:xfrm>
            <a:off x="4353458" y="288036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4" name="Shape 17"/>
          <p:cNvSpPr/>
          <p:nvPr/>
        </p:nvSpPr>
        <p:spPr>
          <a:xfrm>
            <a:off x="4877181" y="3081528"/>
            <a:ext cx="512064" cy="512064"/>
          </a:xfrm>
          <a:prstGeom prst="ellipse">
            <a:avLst/>
          </a:prstGeom>
          <a:solidFill>
            <a:srgbClr val="A100FF"/>
          </a:solidFill>
          <a:ln/>
        </p:spPr>
        <p:txBody>
          <a:bodyPr/>
          <a:lstStyle/>
          <a:p>
            <a:endParaRPr lang="en-US"/>
          </a:p>
        </p:txBody>
      </p:sp>
      <p:pic>
        <p:nvPicPr>
          <p:cNvPr id="25" name="Image 5" descr="preencoded.png"/>
          <p:cNvPicPr>
            <a:picLocks noChangeAspect="1"/>
          </p:cNvPicPr>
          <p:nvPr/>
        </p:nvPicPr>
        <p:blipFill>
          <a:blip r:embed="rId8"/>
          <a:stretch>
            <a:fillRect/>
          </a:stretch>
        </p:blipFill>
        <p:spPr>
          <a:xfrm>
            <a:off x="5005197" y="3209544"/>
            <a:ext cx="256032" cy="256032"/>
          </a:xfrm>
          <a:prstGeom prst="rect">
            <a:avLst/>
          </a:prstGeom>
        </p:spPr>
      </p:pic>
      <p:sp>
        <p:nvSpPr>
          <p:cNvPr id="26" name="Text 18"/>
          <p:cNvSpPr/>
          <p:nvPr/>
        </p:nvSpPr>
        <p:spPr>
          <a:xfrm>
            <a:off x="4408322" y="366674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Similarity Search</a:t>
            </a:r>
            <a:endParaRPr lang="en-US" sz="1100" dirty="0"/>
          </a:p>
        </p:txBody>
      </p:sp>
      <p:sp>
        <p:nvSpPr>
          <p:cNvPr id="27" name="Text 19"/>
          <p:cNvSpPr/>
          <p:nvPr/>
        </p:nvSpPr>
        <p:spPr>
          <a:xfrm>
            <a:off x="4408322" y="414223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FAISS finds nearest chunks</a:t>
            </a:r>
            <a:endParaRPr lang="en-US" sz="850" dirty="0"/>
          </a:p>
        </p:txBody>
      </p:sp>
      <p:pic>
        <p:nvPicPr>
          <p:cNvPr id="28" name="Image 6" descr="preencoded.png"/>
          <p:cNvPicPr>
            <a:picLocks noChangeAspect="1"/>
          </p:cNvPicPr>
          <p:nvPr/>
        </p:nvPicPr>
        <p:blipFill>
          <a:blip r:embed="rId6"/>
          <a:stretch>
            <a:fillRect/>
          </a:stretch>
        </p:blipFill>
        <p:spPr>
          <a:xfrm>
            <a:off x="5931256" y="3675888"/>
            <a:ext cx="237744" cy="237744"/>
          </a:xfrm>
          <a:prstGeom prst="rect">
            <a:avLst/>
          </a:prstGeom>
        </p:spPr>
      </p:pic>
      <p:sp>
        <p:nvSpPr>
          <p:cNvPr id="29" name="Shape 20"/>
          <p:cNvSpPr/>
          <p:nvPr/>
        </p:nvSpPr>
        <p:spPr>
          <a:xfrm>
            <a:off x="6278728" y="288036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0" name="Shape 21"/>
          <p:cNvSpPr/>
          <p:nvPr/>
        </p:nvSpPr>
        <p:spPr>
          <a:xfrm>
            <a:off x="6802450" y="3081528"/>
            <a:ext cx="512064" cy="512064"/>
          </a:xfrm>
          <a:prstGeom prst="ellipse">
            <a:avLst/>
          </a:prstGeom>
          <a:solidFill>
            <a:srgbClr val="A100FF"/>
          </a:solidFill>
          <a:ln/>
        </p:spPr>
        <p:txBody>
          <a:bodyPr/>
          <a:lstStyle/>
          <a:p>
            <a:endParaRPr lang="en-US"/>
          </a:p>
        </p:txBody>
      </p:sp>
      <p:pic>
        <p:nvPicPr>
          <p:cNvPr id="31" name="Image 7" descr="preencoded.png"/>
          <p:cNvPicPr>
            <a:picLocks noChangeAspect="1"/>
          </p:cNvPicPr>
          <p:nvPr/>
        </p:nvPicPr>
        <p:blipFill>
          <a:blip r:embed="rId9"/>
          <a:stretch>
            <a:fillRect/>
          </a:stretch>
        </p:blipFill>
        <p:spPr>
          <a:xfrm>
            <a:off x="6930466" y="3209544"/>
            <a:ext cx="256032" cy="256032"/>
          </a:xfrm>
          <a:prstGeom prst="rect">
            <a:avLst/>
          </a:prstGeom>
        </p:spPr>
      </p:pic>
      <p:sp>
        <p:nvSpPr>
          <p:cNvPr id="32" name="Text 22"/>
          <p:cNvSpPr/>
          <p:nvPr/>
        </p:nvSpPr>
        <p:spPr>
          <a:xfrm>
            <a:off x="6333592" y="366674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Retrieve Context</a:t>
            </a:r>
            <a:endParaRPr lang="en-US" sz="1100" dirty="0"/>
          </a:p>
        </p:txBody>
      </p:sp>
      <p:sp>
        <p:nvSpPr>
          <p:cNvPr id="33" name="Text 23"/>
          <p:cNvSpPr/>
          <p:nvPr/>
        </p:nvSpPr>
        <p:spPr>
          <a:xfrm>
            <a:off x="6333592" y="414223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top relevant passages returned</a:t>
            </a:r>
            <a:endParaRPr lang="en-US" sz="850" dirty="0"/>
          </a:p>
        </p:txBody>
      </p:sp>
      <p:pic>
        <p:nvPicPr>
          <p:cNvPr id="34" name="Image 8" descr="preencoded.png"/>
          <p:cNvPicPr>
            <a:picLocks noChangeAspect="1"/>
          </p:cNvPicPr>
          <p:nvPr/>
        </p:nvPicPr>
        <p:blipFill>
          <a:blip r:embed="rId6"/>
          <a:stretch>
            <a:fillRect/>
          </a:stretch>
        </p:blipFill>
        <p:spPr>
          <a:xfrm>
            <a:off x="7856525" y="3675888"/>
            <a:ext cx="237744" cy="237744"/>
          </a:xfrm>
          <a:prstGeom prst="rect">
            <a:avLst/>
          </a:prstGeom>
        </p:spPr>
      </p:pic>
      <p:sp>
        <p:nvSpPr>
          <p:cNvPr id="35" name="Shape 24"/>
          <p:cNvSpPr/>
          <p:nvPr/>
        </p:nvSpPr>
        <p:spPr>
          <a:xfrm>
            <a:off x="8203997" y="2880360"/>
            <a:ext cx="1559509" cy="1828800"/>
          </a:xfrm>
          <a:prstGeom prst="roundRect">
            <a:avLst>
              <a:gd name="adj" fmla="val 351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6" name="Shape 25"/>
          <p:cNvSpPr/>
          <p:nvPr/>
        </p:nvSpPr>
        <p:spPr>
          <a:xfrm>
            <a:off x="8727719" y="3081528"/>
            <a:ext cx="512064" cy="512064"/>
          </a:xfrm>
          <a:prstGeom prst="ellipse">
            <a:avLst/>
          </a:prstGeom>
          <a:solidFill>
            <a:srgbClr val="A100FF"/>
          </a:solidFill>
          <a:ln/>
        </p:spPr>
        <p:txBody>
          <a:bodyPr/>
          <a:lstStyle/>
          <a:p>
            <a:endParaRPr lang="en-US"/>
          </a:p>
        </p:txBody>
      </p:sp>
      <p:pic>
        <p:nvPicPr>
          <p:cNvPr id="37" name="Image 9" descr="preencoded.png"/>
          <p:cNvPicPr>
            <a:picLocks noChangeAspect="1"/>
          </p:cNvPicPr>
          <p:nvPr/>
        </p:nvPicPr>
        <p:blipFill>
          <a:blip r:embed="rId10"/>
          <a:stretch>
            <a:fillRect/>
          </a:stretch>
        </p:blipFill>
        <p:spPr>
          <a:xfrm>
            <a:off x="8855735" y="3209544"/>
            <a:ext cx="256032" cy="256032"/>
          </a:xfrm>
          <a:prstGeom prst="rect">
            <a:avLst/>
          </a:prstGeom>
        </p:spPr>
      </p:pic>
      <p:sp>
        <p:nvSpPr>
          <p:cNvPr id="38" name="Text 26"/>
          <p:cNvSpPr/>
          <p:nvPr/>
        </p:nvSpPr>
        <p:spPr>
          <a:xfrm>
            <a:off x="8258861" y="366674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LLM Processing</a:t>
            </a:r>
            <a:endParaRPr lang="en-US" sz="1100" dirty="0"/>
          </a:p>
        </p:txBody>
      </p:sp>
      <p:sp>
        <p:nvSpPr>
          <p:cNvPr id="39" name="Text 27"/>
          <p:cNvSpPr/>
          <p:nvPr/>
        </p:nvSpPr>
        <p:spPr>
          <a:xfrm>
            <a:off x="8258861" y="414223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reasons over that context</a:t>
            </a:r>
            <a:endParaRPr lang="en-US" sz="850" dirty="0"/>
          </a:p>
        </p:txBody>
      </p:sp>
      <p:pic>
        <p:nvPicPr>
          <p:cNvPr id="40" name="Image 10" descr="preencoded.png"/>
          <p:cNvPicPr>
            <a:picLocks noChangeAspect="1"/>
          </p:cNvPicPr>
          <p:nvPr/>
        </p:nvPicPr>
        <p:blipFill>
          <a:blip r:embed="rId6"/>
          <a:stretch>
            <a:fillRect/>
          </a:stretch>
        </p:blipFill>
        <p:spPr>
          <a:xfrm>
            <a:off x="9781794" y="3675888"/>
            <a:ext cx="237744" cy="237744"/>
          </a:xfrm>
          <a:prstGeom prst="rect">
            <a:avLst/>
          </a:prstGeom>
        </p:spPr>
      </p:pic>
      <p:sp>
        <p:nvSpPr>
          <p:cNvPr id="41" name="Shape 28"/>
          <p:cNvSpPr/>
          <p:nvPr/>
        </p:nvSpPr>
        <p:spPr>
          <a:xfrm>
            <a:off x="10129266" y="2880360"/>
            <a:ext cx="1559509" cy="1828800"/>
          </a:xfrm>
          <a:prstGeom prst="roundRect">
            <a:avLst>
              <a:gd name="adj" fmla="val 3518"/>
            </a:avLst>
          </a:prstGeom>
          <a:solidFill>
            <a:srgbClr val="EDE7F7"/>
          </a:solidFill>
          <a:ln w="19050">
            <a:solidFill>
              <a:srgbClr val="A100FF"/>
            </a:solidFill>
            <a:prstDash val="solid"/>
          </a:ln>
          <a:effectLst>
            <a:outerShdw blurRad="88900" dist="25400" dir="5400000" algn="bl" rotWithShape="0">
              <a:srgbClr val="C9BEE0">
                <a:alpha val="50000"/>
              </a:srgbClr>
            </a:outerShdw>
          </a:effectLst>
        </p:spPr>
        <p:txBody>
          <a:bodyPr/>
          <a:lstStyle/>
          <a:p>
            <a:endParaRPr lang="en-US"/>
          </a:p>
        </p:txBody>
      </p:sp>
      <p:sp>
        <p:nvSpPr>
          <p:cNvPr id="42" name="Shape 29"/>
          <p:cNvSpPr/>
          <p:nvPr/>
        </p:nvSpPr>
        <p:spPr>
          <a:xfrm>
            <a:off x="10652989" y="3081528"/>
            <a:ext cx="512064" cy="512064"/>
          </a:xfrm>
          <a:prstGeom prst="ellipse">
            <a:avLst/>
          </a:prstGeom>
          <a:solidFill>
            <a:srgbClr val="A100FF"/>
          </a:solidFill>
          <a:ln/>
        </p:spPr>
        <p:txBody>
          <a:bodyPr/>
          <a:lstStyle/>
          <a:p>
            <a:endParaRPr lang="en-US"/>
          </a:p>
        </p:txBody>
      </p:sp>
      <p:pic>
        <p:nvPicPr>
          <p:cNvPr id="43" name="Image 11" descr="preencoded.png"/>
          <p:cNvPicPr>
            <a:picLocks noChangeAspect="1"/>
          </p:cNvPicPr>
          <p:nvPr/>
        </p:nvPicPr>
        <p:blipFill>
          <a:blip r:embed="rId11"/>
          <a:stretch>
            <a:fillRect/>
          </a:stretch>
        </p:blipFill>
        <p:spPr>
          <a:xfrm>
            <a:off x="10781005" y="3209544"/>
            <a:ext cx="256032" cy="256032"/>
          </a:xfrm>
          <a:prstGeom prst="rect">
            <a:avLst/>
          </a:prstGeom>
        </p:spPr>
      </p:pic>
      <p:sp>
        <p:nvSpPr>
          <p:cNvPr id="44" name="Text 30"/>
          <p:cNvSpPr/>
          <p:nvPr/>
        </p:nvSpPr>
        <p:spPr>
          <a:xfrm>
            <a:off x="10184130" y="3666744"/>
            <a:ext cx="1449781" cy="457200"/>
          </a:xfrm>
          <a:prstGeom prst="rect">
            <a:avLst/>
          </a:prstGeom>
          <a:noFill/>
          <a:ln/>
        </p:spPr>
        <p:txBody>
          <a:bodyPr wrap="square" lIns="0" tIns="0" rIns="0" bIns="0" rtlCol="0" anchor="t"/>
          <a:lstStyle/>
          <a:p>
            <a:pPr marL="0" indent="0" algn="ctr">
              <a:lnSpc>
                <a:spcPct val="95000"/>
              </a:lnSpc>
              <a:buNone/>
            </a:pPr>
            <a:r>
              <a:rPr lang="en-US" sz="1100" b="1" dirty="0">
                <a:solidFill>
                  <a:srgbClr val="1A1526"/>
                </a:solidFill>
                <a:latin typeface="Calibri" pitchFamily="34" charset="0"/>
                <a:ea typeface="Calibri" pitchFamily="34" charset="-122"/>
                <a:cs typeface="Calibri" pitchFamily="34" charset="-120"/>
              </a:rPr>
              <a:t>Answer Shown</a:t>
            </a:r>
            <a:endParaRPr lang="en-US" sz="1100" dirty="0"/>
          </a:p>
        </p:txBody>
      </p:sp>
      <p:sp>
        <p:nvSpPr>
          <p:cNvPr id="45" name="Text 31"/>
          <p:cNvSpPr/>
          <p:nvPr/>
        </p:nvSpPr>
        <p:spPr>
          <a:xfrm>
            <a:off x="10184130" y="4142232"/>
            <a:ext cx="1449781" cy="530352"/>
          </a:xfrm>
          <a:prstGeom prst="rect">
            <a:avLst/>
          </a:prstGeom>
          <a:noFill/>
          <a:ln/>
        </p:spPr>
        <p:txBody>
          <a:bodyPr wrap="square" lIns="0" tIns="0" rIns="0" bIns="0" rtlCol="0" anchor="t"/>
          <a:lstStyle/>
          <a:p>
            <a:pPr marL="0" indent="0" algn="ctr">
              <a:lnSpc>
                <a:spcPct val="95000"/>
              </a:lnSpc>
              <a:buNone/>
            </a:pPr>
            <a:r>
              <a:rPr lang="en-US" sz="850" dirty="0">
                <a:solidFill>
                  <a:srgbClr val="5A5568"/>
                </a:solidFill>
                <a:latin typeface="Calibri" pitchFamily="34" charset="0"/>
                <a:ea typeface="Calibri" pitchFamily="34" charset="-122"/>
                <a:cs typeface="Calibri" pitchFamily="34" charset="-120"/>
              </a:rPr>
              <a:t>grounded reply displayed</a:t>
            </a:r>
            <a:endParaRPr lang="en-US" sz="850" dirty="0"/>
          </a:p>
        </p:txBody>
      </p:sp>
      <p:sp>
        <p:nvSpPr>
          <p:cNvPr id="46" name="Text 32"/>
          <p:cNvSpPr/>
          <p:nvPr/>
        </p:nvSpPr>
        <p:spPr>
          <a:xfrm>
            <a:off x="685800" y="4983480"/>
            <a:ext cx="10820095" cy="548640"/>
          </a:xfrm>
          <a:prstGeom prst="rect">
            <a:avLst/>
          </a:prstGeom>
          <a:noFill/>
          <a:ln/>
        </p:spPr>
        <p:txBody>
          <a:bodyPr wrap="square" lIns="0" tIns="0" rIns="0" bIns="0" rtlCol="0" anchor="ctr"/>
          <a:lstStyle/>
          <a:p>
            <a:pPr marL="0" indent="0" algn="ctr">
              <a:buNone/>
            </a:pPr>
            <a:r>
              <a:rPr lang="en-US" sz="1300" i="1" dirty="0">
                <a:solidFill>
                  <a:srgbClr val="5A5568"/>
                </a:solidFill>
                <a:latin typeface="Calibri" pitchFamily="34" charset="0"/>
                <a:ea typeface="Calibri" pitchFamily="34" charset="-122"/>
                <a:cs typeface="Calibri" pitchFamily="34" charset="-120"/>
              </a:rPr>
              <a:t>Retrieval-augmented generation grounds every answer in the company's own documents — dramatically reducing the risk of a confident but wrong response.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PRISM VS GENERIC CHATBOTS</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Why Not Just Use ChatGPT?</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11</a:t>
            </a:r>
            <a:endParaRPr lang="en-US" sz="1000" dirty="0"/>
          </a:p>
        </p:txBody>
      </p:sp>
      <p:sp>
        <p:nvSpPr>
          <p:cNvPr id="6" name="Text 4"/>
          <p:cNvSpPr/>
          <p:nvPr/>
        </p:nvSpPr>
        <p:spPr>
          <a:xfrm>
            <a:off x="685800" y="1463040"/>
            <a:ext cx="10881360" cy="45720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A fair question — and the difference is architectural, not cosmetic. A general chatbot is built for individual, throwaway sessions; PRISM is built as shared organizational infrastructure.</a:t>
            </a:r>
            <a:endParaRPr lang="en-US" sz="1300" dirty="0"/>
          </a:p>
        </p:txBody>
      </p:sp>
      <p:sp>
        <p:nvSpPr>
          <p:cNvPr id="7" name="Shape 5"/>
          <p:cNvSpPr/>
          <p:nvPr/>
        </p:nvSpPr>
        <p:spPr>
          <a:xfrm>
            <a:off x="685800" y="2057400"/>
            <a:ext cx="5394960" cy="3246120"/>
          </a:xfrm>
          <a:prstGeom prst="roundRect">
            <a:avLst>
              <a:gd name="adj" fmla="val 1690"/>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2057400"/>
            <a:ext cx="73152" cy="3246120"/>
          </a:xfrm>
          <a:prstGeom prst="rect">
            <a:avLst/>
          </a:prstGeom>
          <a:solidFill>
            <a:srgbClr val="5A5568"/>
          </a:solidFill>
          <a:ln/>
        </p:spPr>
        <p:txBody>
          <a:bodyPr/>
          <a:lstStyle/>
          <a:p>
            <a:endParaRPr lang="en-US"/>
          </a:p>
        </p:txBody>
      </p:sp>
      <p:sp>
        <p:nvSpPr>
          <p:cNvPr id="9" name="Shape 7"/>
          <p:cNvSpPr/>
          <p:nvPr/>
        </p:nvSpPr>
        <p:spPr>
          <a:xfrm>
            <a:off x="978408" y="2350008"/>
            <a:ext cx="603504" cy="603504"/>
          </a:xfrm>
          <a:prstGeom prst="ellipse">
            <a:avLst/>
          </a:prstGeom>
          <a:solidFill>
            <a:srgbClr val="5A5568"/>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129284" y="2500884"/>
            <a:ext cx="301752" cy="301752"/>
          </a:xfrm>
          <a:prstGeom prst="rect">
            <a:avLst/>
          </a:prstGeom>
        </p:spPr>
      </p:pic>
      <p:sp>
        <p:nvSpPr>
          <p:cNvPr id="11" name="Text 8"/>
          <p:cNvSpPr/>
          <p:nvPr/>
        </p:nvSpPr>
        <p:spPr>
          <a:xfrm>
            <a:off x="1691640" y="2350008"/>
            <a:ext cx="4206240" cy="603504"/>
          </a:xfrm>
          <a:prstGeom prst="rect">
            <a:avLst/>
          </a:prstGeom>
          <a:noFill/>
          <a:ln/>
        </p:spPr>
        <p:txBody>
          <a:bodyPr wrap="square" lIns="0" tIns="0" rIns="0" bIns="0" rtlCol="0" anchor="ctr"/>
          <a:lstStyle/>
          <a:p>
            <a:pPr marL="0" indent="0">
              <a:buNone/>
            </a:pPr>
            <a:r>
              <a:rPr lang="en-US" sz="1700" b="1" dirty="0">
                <a:solidFill>
                  <a:srgbClr val="1A1526"/>
                </a:solidFill>
                <a:latin typeface="Arial" pitchFamily="34" charset="0"/>
                <a:ea typeface="Arial" pitchFamily="34" charset="-122"/>
                <a:cs typeface="Arial" pitchFamily="34" charset="-120"/>
              </a:rPr>
              <a:t>Generic Chatbot</a:t>
            </a:r>
            <a:endParaRPr lang="en-US" sz="1700" dirty="0"/>
          </a:p>
        </p:txBody>
      </p:sp>
      <p:sp>
        <p:nvSpPr>
          <p:cNvPr id="12" name="Text 9"/>
          <p:cNvSpPr/>
          <p:nvPr/>
        </p:nvSpPr>
        <p:spPr>
          <a:xfrm>
            <a:off x="978408" y="3154680"/>
            <a:ext cx="4846320" cy="1965960"/>
          </a:xfrm>
          <a:prstGeom prst="rect">
            <a:avLst/>
          </a:prstGeom>
          <a:noFill/>
          <a:ln/>
        </p:spPr>
        <p:txBody>
          <a:bodyPr wrap="square" lIns="0" tIns="0" rIns="0" bIns="0" rtlCol="0" anchor="t"/>
          <a:lstStyle/>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Session-based</a:t>
            </a:r>
            <a:r>
              <a:rPr lang="en-US" sz="1250" dirty="0">
                <a:solidFill>
                  <a:srgbClr val="5A5568"/>
                </a:solidFill>
                <a:latin typeface="Calibri" pitchFamily="34" charset="0"/>
                <a:ea typeface="Calibri" pitchFamily="34" charset="-122"/>
                <a:cs typeface="Calibri" pitchFamily="34" charset="-120"/>
              </a:rPr>
              <a:t>  —  forgets everything when the tab closes</a:t>
            </a:r>
            <a:endParaRPr lang="en-US" sz="1250" dirty="0"/>
          </a:p>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Temporary uploads</a:t>
            </a:r>
            <a:r>
              <a:rPr lang="en-US" sz="1250" dirty="0">
                <a:solidFill>
                  <a:srgbClr val="5A5568"/>
                </a:solidFill>
                <a:latin typeface="Calibri" pitchFamily="34" charset="0"/>
                <a:ea typeface="Calibri" pitchFamily="34" charset="-122"/>
                <a:cs typeface="Calibri" pitchFamily="34" charset="-120"/>
              </a:rPr>
              <a:t>  —  re-upload the document every time</a:t>
            </a:r>
            <a:endParaRPr lang="en-US" sz="1250" dirty="0"/>
          </a:p>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No shared repository</a:t>
            </a:r>
            <a:r>
              <a:rPr lang="en-US" sz="1250" dirty="0">
                <a:solidFill>
                  <a:srgbClr val="5A5568"/>
                </a:solidFill>
                <a:latin typeface="Calibri" pitchFamily="34" charset="0"/>
                <a:ea typeface="Calibri" pitchFamily="34" charset="-122"/>
                <a:cs typeface="Calibri" pitchFamily="34" charset="-120"/>
              </a:rPr>
              <a:t>  —  knowledge isn't retained for the team</a:t>
            </a:r>
            <a:endParaRPr lang="en-US" sz="1250" dirty="0"/>
          </a:p>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Individual use</a:t>
            </a:r>
            <a:r>
              <a:rPr lang="en-US" sz="1250" dirty="0">
                <a:solidFill>
                  <a:srgbClr val="5A5568"/>
                </a:solidFill>
                <a:latin typeface="Calibri" pitchFamily="34" charset="0"/>
                <a:ea typeface="Calibri" pitchFamily="34" charset="-122"/>
                <a:cs typeface="Calibri" pitchFamily="34" charset="-120"/>
              </a:rPr>
              <a:t>  —  not designed for many users</a:t>
            </a:r>
            <a:endParaRPr lang="en-US" sz="1250" dirty="0"/>
          </a:p>
        </p:txBody>
      </p:sp>
      <p:sp>
        <p:nvSpPr>
          <p:cNvPr id="13" name="Shape 10"/>
          <p:cNvSpPr/>
          <p:nvPr/>
        </p:nvSpPr>
        <p:spPr>
          <a:xfrm>
            <a:off x="6400800" y="2057400"/>
            <a:ext cx="5394960" cy="3246120"/>
          </a:xfrm>
          <a:prstGeom prst="roundRect">
            <a:avLst>
              <a:gd name="adj" fmla="val 1690"/>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6400800" y="2057400"/>
            <a:ext cx="73152" cy="3246120"/>
          </a:xfrm>
          <a:prstGeom prst="rect">
            <a:avLst/>
          </a:prstGeom>
          <a:solidFill>
            <a:srgbClr val="A100FF"/>
          </a:solidFill>
          <a:ln/>
        </p:spPr>
        <p:txBody>
          <a:bodyPr/>
          <a:lstStyle/>
          <a:p>
            <a:endParaRPr lang="en-US"/>
          </a:p>
        </p:txBody>
      </p:sp>
      <p:sp>
        <p:nvSpPr>
          <p:cNvPr id="15" name="Shape 12"/>
          <p:cNvSpPr/>
          <p:nvPr/>
        </p:nvSpPr>
        <p:spPr>
          <a:xfrm>
            <a:off x="6693408" y="2350008"/>
            <a:ext cx="603504" cy="603504"/>
          </a:xfrm>
          <a:prstGeom prst="ellipse">
            <a:avLst/>
          </a:prstGeom>
          <a:solidFill>
            <a:srgbClr val="A100FF"/>
          </a:solidFill>
          <a:ln/>
        </p:spPr>
        <p:txBody>
          <a:bodyPr/>
          <a:lstStyle/>
          <a:p>
            <a:endParaRPr lang="en-US"/>
          </a:p>
        </p:txBody>
      </p:sp>
      <p:pic>
        <p:nvPicPr>
          <p:cNvPr id="16" name="Image 1" descr="preencoded.png"/>
          <p:cNvPicPr>
            <a:picLocks noChangeAspect="1"/>
          </p:cNvPicPr>
          <p:nvPr/>
        </p:nvPicPr>
        <p:blipFill>
          <a:blip r:embed="rId5"/>
          <a:stretch>
            <a:fillRect/>
          </a:stretch>
        </p:blipFill>
        <p:spPr>
          <a:xfrm>
            <a:off x="6844284" y="2500884"/>
            <a:ext cx="301752" cy="301752"/>
          </a:xfrm>
          <a:prstGeom prst="rect">
            <a:avLst/>
          </a:prstGeom>
        </p:spPr>
      </p:pic>
      <p:sp>
        <p:nvSpPr>
          <p:cNvPr id="17" name="Text 13"/>
          <p:cNvSpPr/>
          <p:nvPr/>
        </p:nvSpPr>
        <p:spPr>
          <a:xfrm>
            <a:off x="7406640" y="2350008"/>
            <a:ext cx="4206240" cy="603504"/>
          </a:xfrm>
          <a:prstGeom prst="rect">
            <a:avLst/>
          </a:prstGeom>
          <a:noFill/>
          <a:ln/>
        </p:spPr>
        <p:txBody>
          <a:bodyPr wrap="square" lIns="0" tIns="0" rIns="0" bIns="0" rtlCol="0" anchor="ctr"/>
          <a:lstStyle/>
          <a:p>
            <a:pPr marL="0" indent="0">
              <a:buNone/>
            </a:pPr>
            <a:r>
              <a:rPr lang="en-US" sz="1700" b="1" dirty="0">
                <a:solidFill>
                  <a:srgbClr val="A100FF"/>
                </a:solidFill>
                <a:latin typeface="Arial" pitchFamily="34" charset="0"/>
                <a:ea typeface="Arial" pitchFamily="34" charset="-122"/>
                <a:cs typeface="Arial" pitchFamily="34" charset="-120"/>
              </a:rPr>
              <a:t>PRISM</a:t>
            </a:r>
            <a:endParaRPr lang="en-US" sz="1700" dirty="0"/>
          </a:p>
        </p:txBody>
      </p:sp>
      <p:sp>
        <p:nvSpPr>
          <p:cNvPr id="18" name="Text 14"/>
          <p:cNvSpPr/>
          <p:nvPr/>
        </p:nvSpPr>
        <p:spPr>
          <a:xfrm>
            <a:off x="6693408" y="3154680"/>
            <a:ext cx="4846320" cy="1965960"/>
          </a:xfrm>
          <a:prstGeom prst="rect">
            <a:avLst/>
          </a:prstGeom>
          <a:noFill/>
          <a:ln/>
        </p:spPr>
        <p:txBody>
          <a:bodyPr wrap="square" lIns="0" tIns="0" rIns="0" bIns="0" rtlCol="0" anchor="t"/>
          <a:lstStyle/>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Persistent storage</a:t>
            </a:r>
            <a:r>
              <a:rPr lang="en-US" sz="1250" dirty="0">
                <a:solidFill>
                  <a:srgbClr val="5A5568"/>
                </a:solidFill>
                <a:latin typeface="Calibri" pitchFamily="34" charset="0"/>
                <a:ea typeface="Calibri" pitchFamily="34" charset="-122"/>
                <a:cs typeface="Calibri" pitchFamily="34" charset="-120"/>
              </a:rPr>
              <a:t>  —  knowledge lives on beyond any session</a:t>
            </a:r>
            <a:endParaRPr lang="en-US" sz="1250" dirty="0"/>
          </a:p>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Upload once, use forever</a:t>
            </a:r>
            <a:r>
              <a:rPr lang="en-US" sz="1250" dirty="0">
                <a:solidFill>
                  <a:srgbClr val="5A5568"/>
                </a:solidFill>
                <a:latin typeface="Calibri" pitchFamily="34" charset="0"/>
                <a:ea typeface="Calibri" pitchFamily="34" charset="-122"/>
                <a:cs typeface="Calibri" pitchFamily="34" charset="-120"/>
              </a:rPr>
              <a:t>  —  documents stay indexed and reusable</a:t>
            </a:r>
            <a:endParaRPr lang="en-US" sz="1250" dirty="0"/>
          </a:p>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Centralized knowledge</a:t>
            </a:r>
            <a:r>
              <a:rPr lang="en-US" sz="1250" dirty="0">
                <a:solidFill>
                  <a:srgbClr val="5A5568"/>
                </a:solidFill>
                <a:latin typeface="Calibri" pitchFamily="34" charset="0"/>
                <a:ea typeface="Calibri" pitchFamily="34" charset="-122"/>
                <a:cs typeface="Calibri" pitchFamily="34" charset="-120"/>
              </a:rPr>
              <a:t>  —  one shared organizational source of truth</a:t>
            </a:r>
            <a:endParaRPr lang="en-US" sz="1250" dirty="0"/>
          </a:p>
          <a:p>
            <a:pPr marL="203200" indent="-203200">
              <a:buSzPct val="100000"/>
              <a:buChar char="•"/>
            </a:pPr>
            <a:r>
              <a:rPr lang="en-US" sz="1250" b="1" dirty="0">
                <a:solidFill>
                  <a:srgbClr val="1A1526"/>
                </a:solidFill>
                <a:latin typeface="Calibri" pitchFamily="34" charset="0"/>
                <a:ea typeface="Calibri" pitchFamily="34" charset="-122"/>
                <a:cs typeface="Calibri" pitchFamily="34" charset="-120"/>
              </a:rPr>
              <a:t>Multi-user + management</a:t>
            </a:r>
            <a:r>
              <a:rPr lang="en-US" sz="1250" dirty="0">
                <a:solidFill>
                  <a:srgbClr val="5A5568"/>
                </a:solidFill>
                <a:latin typeface="Calibri" pitchFamily="34" charset="0"/>
                <a:ea typeface="Calibri" pitchFamily="34" charset="-122"/>
                <a:cs typeface="Calibri" pitchFamily="34" charset="-120"/>
              </a:rPr>
              <a:t>  —  many users, with document controls</a:t>
            </a:r>
            <a:endParaRPr lang="en-US" sz="1250" dirty="0"/>
          </a:p>
        </p:txBody>
      </p:sp>
      <p:sp>
        <p:nvSpPr>
          <p:cNvPr id="19" name="Shape 15"/>
          <p:cNvSpPr/>
          <p:nvPr/>
        </p:nvSpPr>
        <p:spPr>
          <a:xfrm>
            <a:off x="685800" y="5486400"/>
            <a:ext cx="10820095" cy="685800"/>
          </a:xfrm>
          <a:prstGeom prst="roundRect">
            <a:avLst>
              <a:gd name="adj" fmla="val 8000"/>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20" name="Text 16"/>
          <p:cNvSpPr/>
          <p:nvPr/>
        </p:nvSpPr>
        <p:spPr>
          <a:xfrm>
            <a:off x="960120" y="5486400"/>
            <a:ext cx="10271455" cy="685800"/>
          </a:xfrm>
          <a:prstGeom prst="rect">
            <a:avLst/>
          </a:prstGeom>
          <a:noFill/>
          <a:ln/>
        </p:spPr>
        <p:txBody>
          <a:bodyPr wrap="square" lIns="0" tIns="0" rIns="0" bIns="0" rtlCol="0" anchor="ctr"/>
          <a:lstStyle/>
          <a:p>
            <a:pPr marL="0" indent="0" algn="ctr">
              <a:buNone/>
            </a:pPr>
            <a:r>
              <a:rPr lang="en-US" sz="1400" b="1" dirty="0">
                <a:solidFill>
                  <a:srgbClr val="A100FF"/>
                </a:solidFill>
                <a:latin typeface="Calibri" pitchFamily="34" charset="0"/>
                <a:ea typeface="Calibri" pitchFamily="34" charset="-122"/>
                <a:cs typeface="Calibri" pitchFamily="34" charset="-120"/>
              </a:rPr>
              <a:t>Bottom line:  </a:t>
            </a:r>
            <a:r>
              <a:rPr lang="en-US" sz="1400" dirty="0">
                <a:solidFill>
                  <a:srgbClr val="FFFFFF"/>
                </a:solidFill>
                <a:latin typeface="Calibri" pitchFamily="34" charset="0"/>
                <a:ea typeface="Calibri" pitchFamily="34" charset="-122"/>
                <a:cs typeface="Calibri" pitchFamily="34" charset="-120"/>
              </a:rPr>
              <a:t>PRISM turns organizational knowledge into a reusable enterprise asset — not a one-off chat.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FEATURES IMPLEMENTED</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Key Features</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12</a:t>
            </a:r>
            <a:endParaRPr lang="en-US" sz="1000" dirty="0"/>
          </a:p>
        </p:txBody>
      </p:sp>
      <p:sp>
        <p:nvSpPr>
          <p:cNvPr id="6" name="Text 4"/>
          <p:cNvSpPr/>
          <p:nvPr/>
        </p:nvSpPr>
        <p:spPr>
          <a:xfrm>
            <a:off x="685800" y="1234440"/>
            <a:ext cx="10881360" cy="41148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The delivered product spans four areas — from secure access, to knowledge management, to the AI core, to a polished everyday experience.</a:t>
            </a:r>
            <a:endParaRPr lang="en-US" sz="1300" dirty="0"/>
          </a:p>
        </p:txBody>
      </p:sp>
      <p:grpSp>
        <p:nvGrpSpPr>
          <p:cNvPr id="31" name="Group 30">
            <a:extLst>
              <a:ext uri="{FF2B5EF4-FFF2-40B4-BE49-F238E27FC236}">
                <a16:creationId xmlns:a16="http://schemas.microsoft.com/office/drawing/2014/main" id="{7922698A-8476-2842-8888-13D608F1D6E6}"/>
              </a:ext>
            </a:extLst>
          </p:cNvPr>
          <p:cNvGrpSpPr/>
          <p:nvPr/>
        </p:nvGrpSpPr>
        <p:grpSpPr>
          <a:xfrm>
            <a:off x="130302" y="2011680"/>
            <a:ext cx="2697480" cy="4023360"/>
            <a:chOff x="685800" y="2011680"/>
            <a:chExt cx="2697480" cy="4023360"/>
          </a:xfrm>
        </p:grpSpPr>
        <p:sp>
          <p:nvSpPr>
            <p:cNvPr id="7" name="Shape 5"/>
            <p:cNvSpPr/>
            <p:nvPr/>
          </p:nvSpPr>
          <p:spPr>
            <a:xfrm>
              <a:off x="685800" y="2011680"/>
              <a:ext cx="2697480" cy="4023360"/>
            </a:xfrm>
            <a:prstGeom prst="roundRect">
              <a:avLst>
                <a:gd name="adj" fmla="val 203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2011680"/>
              <a:ext cx="73152" cy="4023360"/>
            </a:xfrm>
            <a:prstGeom prst="rect">
              <a:avLst/>
            </a:prstGeom>
            <a:solidFill>
              <a:srgbClr val="A100FF"/>
            </a:solidFill>
            <a:ln/>
          </p:spPr>
          <p:txBody>
            <a:bodyPr/>
            <a:lstStyle/>
            <a:p>
              <a:endParaRPr lang="en-US"/>
            </a:p>
          </p:txBody>
        </p:sp>
        <p:sp>
          <p:nvSpPr>
            <p:cNvPr id="9" name="Shape 7"/>
            <p:cNvSpPr/>
            <p:nvPr/>
          </p:nvSpPr>
          <p:spPr>
            <a:xfrm>
              <a:off x="1668780" y="2304288"/>
              <a:ext cx="731520" cy="731520"/>
            </a:xfrm>
            <a:prstGeom prst="ellipse">
              <a:avLst/>
            </a:prstGeom>
            <a:solidFill>
              <a:srgbClr val="A100FF"/>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851660" y="2487168"/>
              <a:ext cx="365760" cy="365760"/>
            </a:xfrm>
            <a:prstGeom prst="rect">
              <a:avLst/>
            </a:prstGeom>
          </p:spPr>
        </p:pic>
        <p:sp>
          <p:nvSpPr>
            <p:cNvPr id="11" name="Text 8"/>
            <p:cNvSpPr/>
            <p:nvPr/>
          </p:nvSpPr>
          <p:spPr>
            <a:xfrm>
              <a:off x="868680" y="3154680"/>
              <a:ext cx="2331720" cy="411480"/>
            </a:xfrm>
            <a:prstGeom prst="rect">
              <a:avLst/>
            </a:prstGeom>
            <a:noFill/>
            <a:ln/>
          </p:spPr>
          <p:txBody>
            <a:bodyPr wrap="square" lIns="0" tIns="0" rIns="0" bIns="0" rtlCol="0" anchor="ctr"/>
            <a:lstStyle/>
            <a:p>
              <a:pPr marL="0" indent="0" algn="ctr">
                <a:buNone/>
              </a:pPr>
              <a:r>
                <a:rPr lang="en-US" sz="1450" b="1" dirty="0">
                  <a:solidFill>
                    <a:srgbClr val="1A1526"/>
                  </a:solidFill>
                  <a:latin typeface="Arial" pitchFamily="34" charset="0"/>
                  <a:ea typeface="Arial" pitchFamily="34" charset="-122"/>
                  <a:cs typeface="Arial" pitchFamily="34" charset="-120"/>
                </a:rPr>
                <a:t>User &amp; Access</a:t>
              </a:r>
              <a:endParaRPr lang="en-US" sz="1450" dirty="0"/>
            </a:p>
          </p:txBody>
        </p:sp>
        <p:sp>
          <p:nvSpPr>
            <p:cNvPr id="12" name="Text 9"/>
            <p:cNvSpPr/>
            <p:nvPr/>
          </p:nvSpPr>
          <p:spPr>
            <a:xfrm>
              <a:off x="941832" y="3703320"/>
              <a:ext cx="2240280" cy="2148840"/>
            </a:xfrm>
            <a:prstGeom prst="rect">
              <a:avLst/>
            </a:prstGeom>
            <a:noFill/>
            <a:ln/>
          </p:spPr>
          <p:txBody>
            <a:bodyPr wrap="square" lIns="0" tIns="0" rIns="0" bIns="0" rtlCol="0" anchor="t"/>
            <a:lstStyle/>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Registration</a:t>
              </a:r>
              <a:r>
                <a:rPr lang="en-US" sz="1080" dirty="0">
                  <a:solidFill>
                    <a:srgbClr val="5A5568"/>
                  </a:solidFill>
                  <a:latin typeface="Calibri" pitchFamily="34" charset="0"/>
                  <a:ea typeface="Calibri" pitchFamily="34" charset="-122"/>
                  <a:cs typeface="Calibri" pitchFamily="34" charset="-120"/>
                </a:rPr>
                <a:t>  —  self-service onboarding</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Login</a:t>
              </a:r>
              <a:r>
                <a:rPr lang="en-US" sz="1080" dirty="0">
                  <a:solidFill>
                    <a:srgbClr val="5A5568"/>
                  </a:solidFill>
                  <a:latin typeface="Calibri" pitchFamily="34" charset="0"/>
                  <a:ea typeface="Calibri" pitchFamily="34" charset="-122"/>
                  <a:cs typeface="Calibri" pitchFamily="34" charset="-120"/>
                </a:rPr>
                <a:t>  —  returning-user sign-in</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Secure auth</a:t>
              </a:r>
              <a:r>
                <a:rPr lang="en-US" sz="1080" dirty="0">
                  <a:solidFill>
                    <a:srgbClr val="5A5568"/>
                  </a:solidFill>
                  <a:latin typeface="Calibri" pitchFamily="34" charset="0"/>
                  <a:ea typeface="Calibri" pitchFamily="34" charset="-122"/>
                  <a:cs typeface="Calibri" pitchFamily="34" charset="-120"/>
                </a:rPr>
                <a:t>  —  token-protected access</a:t>
              </a:r>
              <a:endParaRPr lang="en-US" sz="1080" dirty="0"/>
            </a:p>
          </p:txBody>
        </p:sp>
      </p:grpSp>
      <p:grpSp>
        <p:nvGrpSpPr>
          <p:cNvPr id="32" name="Group 31">
            <a:extLst>
              <a:ext uri="{FF2B5EF4-FFF2-40B4-BE49-F238E27FC236}">
                <a16:creationId xmlns:a16="http://schemas.microsoft.com/office/drawing/2014/main" id="{9337C8D2-5CD7-A1F1-7050-7DD33B5A2710}"/>
              </a:ext>
            </a:extLst>
          </p:cNvPr>
          <p:cNvGrpSpPr/>
          <p:nvPr/>
        </p:nvGrpSpPr>
        <p:grpSpPr>
          <a:xfrm>
            <a:off x="3186684" y="2011680"/>
            <a:ext cx="2697480" cy="4023360"/>
            <a:chOff x="3611880" y="2011680"/>
            <a:chExt cx="2697480" cy="4023360"/>
          </a:xfrm>
        </p:grpSpPr>
        <p:sp>
          <p:nvSpPr>
            <p:cNvPr id="13" name="Shape 10"/>
            <p:cNvSpPr/>
            <p:nvPr/>
          </p:nvSpPr>
          <p:spPr>
            <a:xfrm>
              <a:off x="3611880" y="2011680"/>
              <a:ext cx="2697480" cy="4023360"/>
            </a:xfrm>
            <a:prstGeom prst="roundRect">
              <a:avLst>
                <a:gd name="adj" fmla="val 203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3611880" y="2011680"/>
              <a:ext cx="73152" cy="4023360"/>
            </a:xfrm>
            <a:prstGeom prst="rect">
              <a:avLst/>
            </a:prstGeom>
            <a:solidFill>
              <a:srgbClr val="E6197E"/>
            </a:solidFill>
            <a:ln/>
          </p:spPr>
          <p:txBody>
            <a:bodyPr/>
            <a:lstStyle/>
            <a:p>
              <a:endParaRPr lang="en-US"/>
            </a:p>
          </p:txBody>
        </p:sp>
        <p:sp>
          <p:nvSpPr>
            <p:cNvPr id="15" name="Shape 12"/>
            <p:cNvSpPr/>
            <p:nvPr/>
          </p:nvSpPr>
          <p:spPr>
            <a:xfrm>
              <a:off x="4594860" y="2304288"/>
              <a:ext cx="731520" cy="731520"/>
            </a:xfrm>
            <a:prstGeom prst="ellipse">
              <a:avLst/>
            </a:prstGeom>
            <a:solidFill>
              <a:srgbClr val="E6197E"/>
            </a:solidFill>
            <a:ln/>
          </p:spPr>
          <p:txBody>
            <a:bodyPr/>
            <a:lstStyle/>
            <a:p>
              <a:endParaRPr lang="en-US"/>
            </a:p>
          </p:txBody>
        </p:sp>
        <p:pic>
          <p:nvPicPr>
            <p:cNvPr id="16" name="Image 1" descr="preencoded.png"/>
            <p:cNvPicPr>
              <a:picLocks noChangeAspect="1"/>
            </p:cNvPicPr>
            <p:nvPr/>
          </p:nvPicPr>
          <p:blipFill>
            <a:blip r:embed="rId5"/>
            <a:stretch>
              <a:fillRect/>
            </a:stretch>
          </p:blipFill>
          <p:spPr>
            <a:xfrm>
              <a:off x="4777740" y="2487168"/>
              <a:ext cx="365760" cy="365760"/>
            </a:xfrm>
            <a:prstGeom prst="rect">
              <a:avLst/>
            </a:prstGeom>
          </p:spPr>
        </p:pic>
        <p:sp>
          <p:nvSpPr>
            <p:cNvPr id="17" name="Text 13"/>
            <p:cNvSpPr/>
            <p:nvPr/>
          </p:nvSpPr>
          <p:spPr>
            <a:xfrm>
              <a:off x="3794760" y="3154680"/>
              <a:ext cx="2331720" cy="411480"/>
            </a:xfrm>
            <a:prstGeom prst="rect">
              <a:avLst/>
            </a:prstGeom>
            <a:noFill/>
            <a:ln/>
          </p:spPr>
          <p:txBody>
            <a:bodyPr wrap="square" lIns="0" tIns="0" rIns="0" bIns="0" rtlCol="0" anchor="ctr"/>
            <a:lstStyle/>
            <a:p>
              <a:pPr marL="0" indent="0" algn="ctr">
                <a:buNone/>
              </a:pPr>
              <a:r>
                <a:rPr lang="en-US" sz="1450" b="1" dirty="0">
                  <a:solidFill>
                    <a:srgbClr val="1A1526"/>
                  </a:solidFill>
                  <a:latin typeface="Arial" pitchFamily="34" charset="0"/>
                  <a:ea typeface="Arial" pitchFamily="34" charset="-122"/>
                  <a:cs typeface="Arial" pitchFamily="34" charset="-120"/>
                </a:rPr>
                <a:t>Knowledge Base</a:t>
              </a:r>
              <a:endParaRPr lang="en-US" sz="1450" dirty="0"/>
            </a:p>
          </p:txBody>
        </p:sp>
        <p:sp>
          <p:nvSpPr>
            <p:cNvPr id="18" name="Text 14"/>
            <p:cNvSpPr/>
            <p:nvPr/>
          </p:nvSpPr>
          <p:spPr>
            <a:xfrm>
              <a:off x="3867912" y="3703320"/>
              <a:ext cx="2240280" cy="2148840"/>
            </a:xfrm>
            <a:prstGeom prst="rect">
              <a:avLst/>
            </a:prstGeom>
            <a:noFill/>
            <a:ln/>
          </p:spPr>
          <p:txBody>
            <a:bodyPr wrap="square" lIns="0" tIns="0" rIns="0" bIns="0" rtlCol="0" anchor="t"/>
            <a:lstStyle/>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Upload</a:t>
              </a:r>
              <a:r>
                <a:rPr lang="en-US" sz="1080" dirty="0">
                  <a:solidFill>
                    <a:srgbClr val="5A5568"/>
                  </a:solidFill>
                  <a:latin typeface="Calibri" pitchFamily="34" charset="0"/>
                  <a:ea typeface="Calibri" pitchFamily="34" charset="-122"/>
                  <a:cs typeface="Calibri" pitchFamily="34" charset="-120"/>
                </a:rPr>
                <a:t>  —  add policy documents</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Delete</a:t>
              </a:r>
              <a:r>
                <a:rPr lang="en-US" sz="1080" dirty="0">
                  <a:solidFill>
                    <a:srgbClr val="5A5568"/>
                  </a:solidFill>
                  <a:latin typeface="Calibri" pitchFamily="34" charset="0"/>
                  <a:ea typeface="Calibri" pitchFamily="34" charset="-122"/>
                  <a:cs typeface="Calibri" pitchFamily="34" charset="-120"/>
                </a:rPr>
                <a:t>  —  remove outdated files</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Manage</a:t>
              </a:r>
              <a:r>
                <a:rPr lang="en-US" sz="1080" dirty="0">
                  <a:solidFill>
                    <a:srgbClr val="5A5568"/>
                  </a:solidFill>
                  <a:latin typeface="Calibri" pitchFamily="34" charset="0"/>
                  <a:ea typeface="Calibri" pitchFamily="34" charset="-122"/>
                  <a:cs typeface="Calibri" pitchFamily="34" charset="-120"/>
                </a:rPr>
                <a:t>  —  curate the repository</a:t>
              </a:r>
              <a:endParaRPr lang="en-US" sz="1080" dirty="0"/>
            </a:p>
          </p:txBody>
        </p:sp>
      </p:grpSp>
      <p:grpSp>
        <p:nvGrpSpPr>
          <p:cNvPr id="33" name="Group 32">
            <a:extLst>
              <a:ext uri="{FF2B5EF4-FFF2-40B4-BE49-F238E27FC236}">
                <a16:creationId xmlns:a16="http://schemas.microsoft.com/office/drawing/2014/main" id="{7F49FE41-70B5-1439-19BF-9681E8F003CA}"/>
              </a:ext>
            </a:extLst>
          </p:cNvPr>
          <p:cNvGrpSpPr/>
          <p:nvPr/>
        </p:nvGrpSpPr>
        <p:grpSpPr>
          <a:xfrm>
            <a:off x="6206490" y="2011680"/>
            <a:ext cx="2697480" cy="4023360"/>
            <a:chOff x="6537960" y="2011680"/>
            <a:chExt cx="2697480" cy="4023360"/>
          </a:xfrm>
        </p:grpSpPr>
        <p:sp>
          <p:nvSpPr>
            <p:cNvPr id="19" name="Shape 15"/>
            <p:cNvSpPr/>
            <p:nvPr/>
          </p:nvSpPr>
          <p:spPr>
            <a:xfrm>
              <a:off x="6537960" y="2011680"/>
              <a:ext cx="2697480" cy="4023360"/>
            </a:xfrm>
            <a:prstGeom prst="roundRect">
              <a:avLst>
                <a:gd name="adj" fmla="val 203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0" name="Shape 16"/>
            <p:cNvSpPr/>
            <p:nvPr/>
          </p:nvSpPr>
          <p:spPr>
            <a:xfrm>
              <a:off x="6537960" y="2011680"/>
              <a:ext cx="73152" cy="4023360"/>
            </a:xfrm>
            <a:prstGeom prst="rect">
              <a:avLst/>
            </a:prstGeom>
            <a:solidFill>
              <a:srgbClr val="1D4ED8"/>
            </a:solidFill>
            <a:ln/>
          </p:spPr>
          <p:txBody>
            <a:bodyPr/>
            <a:lstStyle/>
            <a:p>
              <a:endParaRPr lang="en-US"/>
            </a:p>
          </p:txBody>
        </p:sp>
        <p:sp>
          <p:nvSpPr>
            <p:cNvPr id="21" name="Shape 17"/>
            <p:cNvSpPr/>
            <p:nvPr/>
          </p:nvSpPr>
          <p:spPr>
            <a:xfrm>
              <a:off x="7520940" y="2304288"/>
              <a:ext cx="731520" cy="731520"/>
            </a:xfrm>
            <a:prstGeom prst="ellipse">
              <a:avLst/>
            </a:prstGeom>
            <a:solidFill>
              <a:srgbClr val="1D4ED8"/>
            </a:solidFill>
            <a:ln/>
          </p:spPr>
          <p:txBody>
            <a:bodyPr/>
            <a:lstStyle/>
            <a:p>
              <a:endParaRPr lang="en-US"/>
            </a:p>
          </p:txBody>
        </p:sp>
        <p:pic>
          <p:nvPicPr>
            <p:cNvPr id="22" name="Image 2" descr="preencoded.png"/>
            <p:cNvPicPr>
              <a:picLocks noChangeAspect="1"/>
            </p:cNvPicPr>
            <p:nvPr/>
          </p:nvPicPr>
          <p:blipFill>
            <a:blip r:embed="rId6"/>
            <a:stretch>
              <a:fillRect/>
            </a:stretch>
          </p:blipFill>
          <p:spPr>
            <a:xfrm>
              <a:off x="7703820" y="2487168"/>
              <a:ext cx="365760" cy="365760"/>
            </a:xfrm>
            <a:prstGeom prst="rect">
              <a:avLst/>
            </a:prstGeom>
          </p:spPr>
        </p:pic>
        <p:sp>
          <p:nvSpPr>
            <p:cNvPr id="23" name="Text 18"/>
            <p:cNvSpPr/>
            <p:nvPr/>
          </p:nvSpPr>
          <p:spPr>
            <a:xfrm>
              <a:off x="6720840" y="3154680"/>
              <a:ext cx="2331720" cy="411480"/>
            </a:xfrm>
            <a:prstGeom prst="rect">
              <a:avLst/>
            </a:prstGeom>
            <a:noFill/>
            <a:ln/>
          </p:spPr>
          <p:txBody>
            <a:bodyPr wrap="square" lIns="0" tIns="0" rIns="0" bIns="0" rtlCol="0" anchor="ctr"/>
            <a:lstStyle/>
            <a:p>
              <a:pPr marL="0" indent="0" algn="ctr">
                <a:buNone/>
              </a:pPr>
              <a:r>
                <a:rPr lang="en-US" sz="1450" b="1" dirty="0">
                  <a:solidFill>
                    <a:srgbClr val="1A1526"/>
                  </a:solidFill>
                  <a:latin typeface="Arial" pitchFamily="34" charset="0"/>
                  <a:ea typeface="Arial" pitchFamily="34" charset="-122"/>
                  <a:cs typeface="Arial" pitchFamily="34" charset="-120"/>
                </a:rPr>
                <a:t>AI Core</a:t>
              </a:r>
              <a:endParaRPr lang="en-US" sz="1450" dirty="0"/>
            </a:p>
          </p:txBody>
        </p:sp>
        <p:sp>
          <p:nvSpPr>
            <p:cNvPr id="24" name="Text 19"/>
            <p:cNvSpPr/>
            <p:nvPr/>
          </p:nvSpPr>
          <p:spPr>
            <a:xfrm>
              <a:off x="6793992" y="3703320"/>
              <a:ext cx="2240280" cy="2148840"/>
            </a:xfrm>
            <a:prstGeom prst="rect">
              <a:avLst/>
            </a:prstGeom>
            <a:noFill/>
            <a:ln/>
          </p:spPr>
          <p:txBody>
            <a:bodyPr wrap="square" lIns="0" tIns="0" rIns="0" bIns="0" rtlCol="0" anchor="t"/>
            <a:lstStyle/>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Context-aware chat</a:t>
              </a:r>
              <a:r>
                <a:rPr lang="en-US" sz="1080" dirty="0">
                  <a:solidFill>
                    <a:srgbClr val="5A5568"/>
                  </a:solidFill>
                  <a:latin typeface="Calibri" pitchFamily="34" charset="0"/>
                  <a:ea typeface="Calibri" pitchFamily="34" charset="-122"/>
                  <a:cs typeface="Calibri" pitchFamily="34" charset="-120"/>
                </a:rPr>
                <a:t>  —  handles follow-ups</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RAG</a:t>
              </a:r>
              <a:r>
                <a:rPr lang="en-US" sz="1080" dirty="0">
                  <a:solidFill>
                    <a:srgbClr val="5A5568"/>
                  </a:solidFill>
                  <a:latin typeface="Calibri" pitchFamily="34" charset="0"/>
                  <a:ea typeface="Calibri" pitchFamily="34" charset="-122"/>
                  <a:cs typeface="Calibri" pitchFamily="34" charset="-120"/>
                </a:rPr>
                <a:t>  —  grounded answers</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Semantic search</a:t>
              </a:r>
              <a:r>
                <a:rPr lang="en-US" sz="1080" dirty="0">
                  <a:solidFill>
                    <a:srgbClr val="5A5568"/>
                  </a:solidFill>
                  <a:latin typeface="Calibri" pitchFamily="34" charset="0"/>
                  <a:ea typeface="Calibri" pitchFamily="34" charset="-122"/>
                  <a:cs typeface="Calibri" pitchFamily="34" charset="-120"/>
                </a:rPr>
                <a:t>  —  meaning-based retrieval</a:t>
              </a:r>
              <a:endParaRPr lang="en-US" sz="1080" dirty="0"/>
            </a:p>
          </p:txBody>
        </p:sp>
      </p:grpSp>
      <p:grpSp>
        <p:nvGrpSpPr>
          <p:cNvPr id="34" name="Group 33">
            <a:extLst>
              <a:ext uri="{FF2B5EF4-FFF2-40B4-BE49-F238E27FC236}">
                <a16:creationId xmlns:a16="http://schemas.microsoft.com/office/drawing/2014/main" id="{36D3FA19-4D68-C231-68DF-76A379578D01}"/>
              </a:ext>
            </a:extLst>
          </p:cNvPr>
          <p:cNvGrpSpPr/>
          <p:nvPr/>
        </p:nvGrpSpPr>
        <p:grpSpPr>
          <a:xfrm>
            <a:off x="9226296" y="2029968"/>
            <a:ext cx="2697480" cy="4023360"/>
            <a:chOff x="9464040" y="2011680"/>
            <a:chExt cx="2697480" cy="4023360"/>
          </a:xfrm>
        </p:grpSpPr>
        <p:sp>
          <p:nvSpPr>
            <p:cNvPr id="25" name="Shape 20"/>
            <p:cNvSpPr/>
            <p:nvPr/>
          </p:nvSpPr>
          <p:spPr>
            <a:xfrm>
              <a:off x="9464040" y="2011680"/>
              <a:ext cx="2697480" cy="4023360"/>
            </a:xfrm>
            <a:prstGeom prst="roundRect">
              <a:avLst>
                <a:gd name="adj" fmla="val 203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6" name="Shape 21"/>
            <p:cNvSpPr/>
            <p:nvPr/>
          </p:nvSpPr>
          <p:spPr>
            <a:xfrm>
              <a:off x="9464040" y="2011680"/>
              <a:ext cx="73152" cy="4023360"/>
            </a:xfrm>
            <a:prstGeom prst="rect">
              <a:avLst/>
            </a:prstGeom>
            <a:solidFill>
              <a:srgbClr val="7500C0"/>
            </a:solidFill>
            <a:ln/>
          </p:spPr>
          <p:txBody>
            <a:bodyPr/>
            <a:lstStyle/>
            <a:p>
              <a:endParaRPr lang="en-US"/>
            </a:p>
          </p:txBody>
        </p:sp>
        <p:sp>
          <p:nvSpPr>
            <p:cNvPr id="27" name="Shape 22"/>
            <p:cNvSpPr/>
            <p:nvPr/>
          </p:nvSpPr>
          <p:spPr>
            <a:xfrm>
              <a:off x="10447020" y="2304288"/>
              <a:ext cx="731520" cy="731520"/>
            </a:xfrm>
            <a:prstGeom prst="ellipse">
              <a:avLst/>
            </a:prstGeom>
            <a:solidFill>
              <a:srgbClr val="7500C0"/>
            </a:solidFill>
            <a:ln/>
          </p:spPr>
          <p:txBody>
            <a:bodyPr/>
            <a:lstStyle/>
            <a:p>
              <a:endParaRPr lang="en-US"/>
            </a:p>
          </p:txBody>
        </p:sp>
        <p:pic>
          <p:nvPicPr>
            <p:cNvPr id="28" name="Image 3" descr="preencoded.png"/>
            <p:cNvPicPr>
              <a:picLocks noChangeAspect="1"/>
            </p:cNvPicPr>
            <p:nvPr/>
          </p:nvPicPr>
          <p:blipFill>
            <a:blip r:embed="rId7"/>
            <a:stretch>
              <a:fillRect/>
            </a:stretch>
          </p:blipFill>
          <p:spPr>
            <a:xfrm>
              <a:off x="10629900" y="2487168"/>
              <a:ext cx="365760" cy="365760"/>
            </a:xfrm>
            <a:prstGeom prst="rect">
              <a:avLst/>
            </a:prstGeom>
          </p:spPr>
        </p:pic>
        <p:sp>
          <p:nvSpPr>
            <p:cNvPr id="29" name="Text 23"/>
            <p:cNvSpPr/>
            <p:nvPr/>
          </p:nvSpPr>
          <p:spPr>
            <a:xfrm>
              <a:off x="9646920" y="3154680"/>
              <a:ext cx="2331720" cy="411480"/>
            </a:xfrm>
            <a:prstGeom prst="rect">
              <a:avLst/>
            </a:prstGeom>
            <a:noFill/>
            <a:ln/>
          </p:spPr>
          <p:txBody>
            <a:bodyPr wrap="square" lIns="0" tIns="0" rIns="0" bIns="0" rtlCol="0" anchor="ctr"/>
            <a:lstStyle/>
            <a:p>
              <a:pPr marL="0" indent="0" algn="ctr">
                <a:buNone/>
              </a:pPr>
              <a:r>
                <a:rPr lang="en-US" sz="1450" b="1" dirty="0">
                  <a:solidFill>
                    <a:srgbClr val="1A1526"/>
                  </a:solidFill>
                  <a:latin typeface="Arial" pitchFamily="34" charset="0"/>
                  <a:ea typeface="Arial" pitchFamily="34" charset="-122"/>
                  <a:cs typeface="Arial" pitchFamily="34" charset="-120"/>
                </a:rPr>
                <a:t>Experience</a:t>
              </a:r>
              <a:endParaRPr lang="en-US" sz="1450" dirty="0"/>
            </a:p>
          </p:txBody>
        </p:sp>
        <p:sp>
          <p:nvSpPr>
            <p:cNvPr id="30" name="Text 24"/>
            <p:cNvSpPr/>
            <p:nvPr/>
          </p:nvSpPr>
          <p:spPr>
            <a:xfrm>
              <a:off x="9720072" y="3703320"/>
              <a:ext cx="2240280" cy="2148840"/>
            </a:xfrm>
            <a:prstGeom prst="rect">
              <a:avLst/>
            </a:prstGeom>
            <a:noFill/>
            <a:ln/>
          </p:spPr>
          <p:txBody>
            <a:bodyPr wrap="square" lIns="0" tIns="0" rIns="0" bIns="0" rtlCol="0" anchor="t"/>
            <a:lstStyle/>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Chat interface</a:t>
              </a:r>
              <a:r>
                <a:rPr lang="en-US" sz="1080" dirty="0">
                  <a:solidFill>
                    <a:srgbClr val="5A5568"/>
                  </a:solidFill>
                  <a:latin typeface="Calibri" pitchFamily="34" charset="0"/>
                  <a:ea typeface="Calibri" pitchFamily="34" charset="-122"/>
                  <a:cs typeface="Calibri" pitchFamily="34" charset="-120"/>
                </a:rPr>
                <a:t>  —  clean and familiar</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Light / dark theme</a:t>
              </a:r>
              <a:r>
                <a:rPr lang="en-US" sz="1080" dirty="0">
                  <a:solidFill>
                    <a:srgbClr val="5A5568"/>
                  </a:solidFill>
                  <a:latin typeface="Calibri" pitchFamily="34" charset="0"/>
                  <a:ea typeface="Calibri" pitchFamily="34" charset="-122"/>
                  <a:cs typeface="Calibri" pitchFamily="34" charset="-120"/>
                </a:rPr>
                <a:t>  —  user preference</a:t>
              </a:r>
              <a:endParaRPr lang="en-US" sz="1080" dirty="0"/>
            </a:p>
            <a:p>
              <a:pPr marL="203200" indent="-203200">
                <a:lnSpc>
                  <a:spcPct val="100000"/>
                </a:lnSpc>
                <a:buSzPct val="100000"/>
                <a:buChar char="•"/>
              </a:pPr>
              <a:r>
                <a:rPr lang="en-US" sz="1080" b="1" dirty="0">
                  <a:solidFill>
                    <a:srgbClr val="1A1526"/>
                  </a:solidFill>
                  <a:latin typeface="Calibri" pitchFamily="34" charset="0"/>
                  <a:ea typeface="Calibri" pitchFamily="34" charset="-122"/>
                  <a:cs typeface="Calibri" pitchFamily="34" charset="-120"/>
                </a:rPr>
                <a:t>History</a:t>
              </a:r>
              <a:r>
                <a:rPr lang="en-US" sz="1080" dirty="0">
                  <a:solidFill>
                    <a:srgbClr val="5A5568"/>
                  </a:solidFill>
                  <a:latin typeface="Calibri" pitchFamily="34" charset="0"/>
                  <a:ea typeface="Calibri" pitchFamily="34" charset="-122"/>
                  <a:cs typeface="Calibri" pitchFamily="34" charset="-120"/>
                </a:rPr>
                <a:t>  —  past conversations saved</a:t>
              </a:r>
              <a:endParaRPr lang="en-US" sz="108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SECURITY FIRST APPROACH</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Security &amp; Authentication</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13</a:t>
            </a:r>
            <a:endParaRPr lang="en-US" sz="1000" dirty="0"/>
          </a:p>
        </p:txBody>
      </p:sp>
      <p:sp>
        <p:nvSpPr>
          <p:cNvPr id="6" name="Shape 4"/>
          <p:cNvSpPr/>
          <p:nvPr/>
        </p:nvSpPr>
        <p:spPr>
          <a:xfrm>
            <a:off x="1920240" y="2011680"/>
            <a:ext cx="2651760" cy="2651760"/>
          </a:xfrm>
          <a:prstGeom prst="ellipse">
            <a:avLst/>
          </a:prstGeom>
          <a:solidFill>
            <a:srgbClr val="A100FF"/>
          </a:solidFill>
          <a:ln/>
        </p:spPr>
        <p:txBody>
          <a:bodyPr/>
          <a:lstStyle/>
          <a:p>
            <a:endParaRPr lang="en-US"/>
          </a:p>
        </p:txBody>
      </p:sp>
      <p:pic>
        <p:nvPicPr>
          <p:cNvPr id="7" name="Image 0" descr="preencoded.png"/>
          <p:cNvPicPr>
            <a:picLocks noChangeAspect="1"/>
          </p:cNvPicPr>
          <p:nvPr/>
        </p:nvPicPr>
        <p:blipFill>
          <a:blip r:embed="rId4"/>
          <a:stretch>
            <a:fillRect/>
          </a:stretch>
        </p:blipFill>
        <p:spPr>
          <a:xfrm>
            <a:off x="2583180" y="2674620"/>
            <a:ext cx="1325880" cy="1325880"/>
          </a:xfrm>
          <a:prstGeom prst="rect">
            <a:avLst/>
          </a:prstGeom>
        </p:spPr>
      </p:pic>
      <p:sp>
        <p:nvSpPr>
          <p:cNvPr id="8" name="Text 5"/>
          <p:cNvSpPr/>
          <p:nvPr/>
        </p:nvSpPr>
        <p:spPr>
          <a:xfrm>
            <a:off x="685800" y="4892040"/>
            <a:ext cx="4937760" cy="411480"/>
          </a:xfrm>
          <a:prstGeom prst="rect">
            <a:avLst/>
          </a:prstGeom>
          <a:noFill/>
          <a:ln/>
        </p:spPr>
        <p:txBody>
          <a:bodyPr wrap="square" lIns="0" tIns="0" rIns="0" bIns="0" rtlCol="0" anchor="ctr"/>
          <a:lstStyle/>
          <a:p>
            <a:pPr marL="0" indent="0" algn="ctr">
              <a:buNone/>
            </a:pPr>
            <a:r>
              <a:rPr lang="en-US" sz="1600" b="1" dirty="0">
                <a:solidFill>
                  <a:srgbClr val="1A1526"/>
                </a:solidFill>
                <a:latin typeface="Arial" pitchFamily="34" charset="0"/>
                <a:ea typeface="Arial" pitchFamily="34" charset="-122"/>
                <a:cs typeface="Arial" pitchFamily="34" charset="-120"/>
              </a:rPr>
              <a:t>Built in, not bolted on</a:t>
            </a:r>
            <a:endParaRPr lang="en-US" sz="1600" dirty="0"/>
          </a:p>
        </p:txBody>
      </p:sp>
      <p:sp>
        <p:nvSpPr>
          <p:cNvPr id="9" name="Text 6"/>
          <p:cNvSpPr/>
          <p:nvPr/>
        </p:nvSpPr>
        <p:spPr>
          <a:xfrm>
            <a:off x="822960" y="5303520"/>
            <a:ext cx="4709160" cy="914400"/>
          </a:xfrm>
          <a:prstGeom prst="rect">
            <a:avLst/>
          </a:prstGeom>
          <a:noFill/>
          <a:ln/>
        </p:spPr>
        <p:txBody>
          <a:bodyPr wrap="square" lIns="0" tIns="0" rIns="0" bIns="0" rtlCol="0" anchor="ctr"/>
          <a:lstStyle/>
          <a:p>
            <a:pPr marL="0" indent="0" algn="ctr">
              <a:lnSpc>
                <a:spcPct val="110000"/>
              </a:lnSpc>
              <a:buNone/>
            </a:pPr>
            <a:r>
              <a:rPr lang="en-US" sz="1250" dirty="0">
                <a:solidFill>
                  <a:srgbClr val="5A5568"/>
                </a:solidFill>
                <a:latin typeface="Calibri" pitchFamily="34" charset="0"/>
                <a:ea typeface="Calibri" pitchFamily="34" charset="-122"/>
                <a:cs typeface="Calibri" pitchFamily="34" charset="-120"/>
              </a:rPr>
              <a:t>Because PRISM handles employee accounts and internal documents, security was a first-class design constraint from day one — not an afterthought.</a:t>
            </a:r>
            <a:endParaRPr lang="en-US" sz="1250" dirty="0"/>
          </a:p>
        </p:txBody>
      </p:sp>
      <p:sp>
        <p:nvSpPr>
          <p:cNvPr id="10" name="Shape 7"/>
          <p:cNvSpPr/>
          <p:nvPr/>
        </p:nvSpPr>
        <p:spPr>
          <a:xfrm>
            <a:off x="5852160" y="1600200"/>
            <a:ext cx="566928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1" name="Shape 8"/>
          <p:cNvSpPr/>
          <p:nvPr/>
        </p:nvSpPr>
        <p:spPr>
          <a:xfrm>
            <a:off x="6035040" y="1792224"/>
            <a:ext cx="402336" cy="402336"/>
          </a:xfrm>
          <a:prstGeom prst="ellipse">
            <a:avLst/>
          </a:prstGeom>
          <a:solidFill>
            <a:srgbClr val="E6197E"/>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6135624" y="1892808"/>
            <a:ext cx="201168" cy="201168"/>
          </a:xfrm>
          <a:prstGeom prst="rect">
            <a:avLst/>
          </a:prstGeom>
        </p:spPr>
      </p:pic>
      <p:sp>
        <p:nvSpPr>
          <p:cNvPr id="13" name="Text 9"/>
          <p:cNvSpPr/>
          <p:nvPr/>
        </p:nvSpPr>
        <p:spPr>
          <a:xfrm>
            <a:off x="6565392" y="1600200"/>
            <a:ext cx="480060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Password Hashing   </a:t>
            </a:r>
            <a:r>
              <a:rPr lang="en-US" sz="1050" dirty="0">
                <a:solidFill>
                  <a:srgbClr val="5A5568"/>
                </a:solidFill>
                <a:latin typeface="Calibri" pitchFamily="34" charset="0"/>
                <a:ea typeface="Calibri" pitchFamily="34" charset="-122"/>
                <a:cs typeface="Calibri" pitchFamily="34" charset="-120"/>
              </a:rPr>
              <a:t>credentials stored as salted hashes, never plain text</a:t>
            </a:r>
            <a:endParaRPr lang="en-US" sz="1300" dirty="0"/>
          </a:p>
        </p:txBody>
      </p:sp>
      <p:sp>
        <p:nvSpPr>
          <p:cNvPr id="14" name="Shape 10"/>
          <p:cNvSpPr/>
          <p:nvPr/>
        </p:nvSpPr>
        <p:spPr>
          <a:xfrm>
            <a:off x="5852160" y="2514600"/>
            <a:ext cx="566928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5" name="Shape 11"/>
          <p:cNvSpPr/>
          <p:nvPr/>
        </p:nvSpPr>
        <p:spPr>
          <a:xfrm>
            <a:off x="6035040" y="2706624"/>
            <a:ext cx="402336" cy="402336"/>
          </a:xfrm>
          <a:prstGeom prst="ellipse">
            <a:avLst/>
          </a:prstGeom>
          <a:solidFill>
            <a:srgbClr val="E6197E"/>
          </a:solidFill>
          <a:ln/>
        </p:spPr>
        <p:txBody>
          <a:bodyPr/>
          <a:lstStyle/>
          <a:p>
            <a:endParaRPr lang="en-US"/>
          </a:p>
        </p:txBody>
      </p:sp>
      <p:pic>
        <p:nvPicPr>
          <p:cNvPr id="16" name="Image 2" descr="preencoded.png"/>
          <p:cNvPicPr>
            <a:picLocks noChangeAspect="1"/>
          </p:cNvPicPr>
          <p:nvPr/>
        </p:nvPicPr>
        <p:blipFill>
          <a:blip r:embed="rId6"/>
          <a:stretch>
            <a:fillRect/>
          </a:stretch>
        </p:blipFill>
        <p:spPr>
          <a:xfrm>
            <a:off x="6135624" y="2807208"/>
            <a:ext cx="201168" cy="201168"/>
          </a:xfrm>
          <a:prstGeom prst="rect">
            <a:avLst/>
          </a:prstGeom>
        </p:spPr>
      </p:pic>
      <p:sp>
        <p:nvSpPr>
          <p:cNvPr id="17" name="Text 12"/>
          <p:cNvSpPr/>
          <p:nvPr/>
        </p:nvSpPr>
        <p:spPr>
          <a:xfrm>
            <a:off x="6565392" y="2514600"/>
            <a:ext cx="480060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JWT Authentication   </a:t>
            </a:r>
            <a:r>
              <a:rPr lang="en-US" sz="1050" dirty="0">
                <a:solidFill>
                  <a:srgbClr val="5A5568"/>
                </a:solidFill>
                <a:latin typeface="Calibri" pitchFamily="34" charset="0"/>
                <a:ea typeface="Calibri" pitchFamily="34" charset="-122"/>
                <a:cs typeface="Calibri" pitchFamily="34" charset="-120"/>
              </a:rPr>
              <a:t>stateless, signed tokens validate every session</a:t>
            </a:r>
            <a:endParaRPr lang="en-US" sz="1300" dirty="0"/>
          </a:p>
        </p:txBody>
      </p:sp>
      <p:sp>
        <p:nvSpPr>
          <p:cNvPr id="18" name="Shape 13"/>
          <p:cNvSpPr/>
          <p:nvPr/>
        </p:nvSpPr>
        <p:spPr>
          <a:xfrm>
            <a:off x="5852160" y="3429000"/>
            <a:ext cx="566928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9" name="Shape 14"/>
          <p:cNvSpPr/>
          <p:nvPr/>
        </p:nvSpPr>
        <p:spPr>
          <a:xfrm>
            <a:off x="6035040" y="3621024"/>
            <a:ext cx="402336" cy="402336"/>
          </a:xfrm>
          <a:prstGeom prst="ellipse">
            <a:avLst/>
          </a:prstGeom>
          <a:solidFill>
            <a:srgbClr val="E6197E"/>
          </a:solidFill>
          <a:ln/>
        </p:spPr>
        <p:txBody>
          <a:bodyPr/>
          <a:lstStyle/>
          <a:p>
            <a:endParaRPr lang="en-US"/>
          </a:p>
        </p:txBody>
      </p:sp>
      <p:pic>
        <p:nvPicPr>
          <p:cNvPr id="20" name="Image 3" descr="preencoded.png"/>
          <p:cNvPicPr>
            <a:picLocks noChangeAspect="1"/>
          </p:cNvPicPr>
          <p:nvPr/>
        </p:nvPicPr>
        <p:blipFill>
          <a:blip r:embed="rId7"/>
          <a:stretch>
            <a:fillRect/>
          </a:stretch>
        </p:blipFill>
        <p:spPr>
          <a:xfrm>
            <a:off x="6135624" y="3721608"/>
            <a:ext cx="201168" cy="201168"/>
          </a:xfrm>
          <a:prstGeom prst="rect">
            <a:avLst/>
          </a:prstGeom>
        </p:spPr>
      </p:pic>
      <p:sp>
        <p:nvSpPr>
          <p:cNvPr id="21" name="Text 15"/>
          <p:cNvSpPr/>
          <p:nvPr/>
        </p:nvSpPr>
        <p:spPr>
          <a:xfrm>
            <a:off x="6565392" y="3429000"/>
            <a:ext cx="480060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Protected APIs   </a:t>
            </a:r>
            <a:r>
              <a:rPr lang="en-US" sz="1050" dirty="0">
                <a:solidFill>
                  <a:srgbClr val="5A5568"/>
                </a:solidFill>
                <a:latin typeface="Calibri" pitchFamily="34" charset="0"/>
                <a:ea typeface="Calibri" pitchFamily="34" charset="-122"/>
                <a:cs typeface="Calibri" pitchFamily="34" charset="-120"/>
              </a:rPr>
              <a:t>every endpoint requires a valid, authenticated token</a:t>
            </a:r>
            <a:endParaRPr lang="en-US" sz="1300" dirty="0"/>
          </a:p>
        </p:txBody>
      </p:sp>
      <p:sp>
        <p:nvSpPr>
          <p:cNvPr id="22" name="Shape 16"/>
          <p:cNvSpPr/>
          <p:nvPr/>
        </p:nvSpPr>
        <p:spPr>
          <a:xfrm>
            <a:off x="5852160" y="4343400"/>
            <a:ext cx="566928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3" name="Shape 17"/>
          <p:cNvSpPr/>
          <p:nvPr/>
        </p:nvSpPr>
        <p:spPr>
          <a:xfrm>
            <a:off x="6035040" y="4535424"/>
            <a:ext cx="402336" cy="402336"/>
          </a:xfrm>
          <a:prstGeom prst="ellipse">
            <a:avLst/>
          </a:prstGeom>
          <a:solidFill>
            <a:srgbClr val="E6197E"/>
          </a:solidFill>
          <a:ln/>
        </p:spPr>
        <p:txBody>
          <a:bodyPr/>
          <a:lstStyle/>
          <a:p>
            <a:endParaRPr lang="en-US"/>
          </a:p>
        </p:txBody>
      </p:sp>
      <p:pic>
        <p:nvPicPr>
          <p:cNvPr id="24" name="Image 4" descr="preencoded.png"/>
          <p:cNvPicPr>
            <a:picLocks noChangeAspect="1"/>
          </p:cNvPicPr>
          <p:nvPr/>
        </p:nvPicPr>
        <p:blipFill>
          <a:blip r:embed="rId8"/>
          <a:stretch>
            <a:fillRect/>
          </a:stretch>
        </p:blipFill>
        <p:spPr>
          <a:xfrm>
            <a:off x="6135624" y="4636008"/>
            <a:ext cx="201168" cy="201168"/>
          </a:xfrm>
          <a:prstGeom prst="rect">
            <a:avLst/>
          </a:prstGeom>
        </p:spPr>
      </p:pic>
      <p:sp>
        <p:nvSpPr>
          <p:cNvPr id="25" name="Text 18"/>
          <p:cNvSpPr/>
          <p:nvPr/>
        </p:nvSpPr>
        <p:spPr>
          <a:xfrm>
            <a:off x="6565392" y="4343400"/>
            <a:ext cx="480060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User Data Isolation   </a:t>
            </a:r>
            <a:r>
              <a:rPr lang="en-US" sz="1050" dirty="0">
                <a:solidFill>
                  <a:srgbClr val="5A5568"/>
                </a:solidFill>
                <a:latin typeface="Calibri" pitchFamily="34" charset="0"/>
                <a:ea typeface="Calibri" pitchFamily="34" charset="-122"/>
                <a:cs typeface="Calibri" pitchFamily="34" charset="-120"/>
              </a:rPr>
              <a:t>each user can only ever access their own data</a:t>
            </a:r>
            <a:endParaRPr lang="en-US" sz="1300" dirty="0"/>
          </a:p>
        </p:txBody>
      </p:sp>
      <p:sp>
        <p:nvSpPr>
          <p:cNvPr id="26" name="Shape 19"/>
          <p:cNvSpPr/>
          <p:nvPr/>
        </p:nvSpPr>
        <p:spPr>
          <a:xfrm>
            <a:off x="5852160" y="5257800"/>
            <a:ext cx="5669280" cy="786384"/>
          </a:xfrm>
          <a:prstGeom prst="roundRect">
            <a:avLst>
              <a:gd name="adj" fmla="val 697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7" name="Shape 20"/>
          <p:cNvSpPr/>
          <p:nvPr/>
        </p:nvSpPr>
        <p:spPr>
          <a:xfrm>
            <a:off x="6035040" y="5449824"/>
            <a:ext cx="402336" cy="402336"/>
          </a:xfrm>
          <a:prstGeom prst="ellipse">
            <a:avLst/>
          </a:prstGeom>
          <a:solidFill>
            <a:srgbClr val="E6197E"/>
          </a:solidFill>
          <a:ln/>
        </p:spPr>
        <p:txBody>
          <a:bodyPr/>
          <a:lstStyle/>
          <a:p>
            <a:endParaRPr lang="en-US"/>
          </a:p>
        </p:txBody>
      </p:sp>
      <p:pic>
        <p:nvPicPr>
          <p:cNvPr id="28" name="Image 5" descr="preencoded.png"/>
          <p:cNvPicPr>
            <a:picLocks noChangeAspect="1"/>
          </p:cNvPicPr>
          <p:nvPr/>
        </p:nvPicPr>
        <p:blipFill>
          <a:blip r:embed="rId4"/>
          <a:stretch>
            <a:fillRect/>
          </a:stretch>
        </p:blipFill>
        <p:spPr>
          <a:xfrm>
            <a:off x="6135624" y="5550408"/>
            <a:ext cx="201168" cy="201168"/>
          </a:xfrm>
          <a:prstGeom prst="rect">
            <a:avLst/>
          </a:prstGeom>
        </p:spPr>
      </p:pic>
      <p:sp>
        <p:nvSpPr>
          <p:cNvPr id="29" name="Text 21"/>
          <p:cNvSpPr/>
          <p:nvPr/>
        </p:nvSpPr>
        <p:spPr>
          <a:xfrm>
            <a:off x="6565392" y="5257800"/>
            <a:ext cx="4800600" cy="786384"/>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Secure Sessions   </a:t>
            </a:r>
            <a:r>
              <a:rPr lang="en-US" sz="1050" dirty="0">
                <a:solidFill>
                  <a:srgbClr val="5A5568"/>
                </a:solidFill>
                <a:latin typeface="Calibri" pitchFamily="34" charset="0"/>
                <a:ea typeface="Calibri" pitchFamily="34" charset="-122"/>
                <a:cs typeface="Calibri" pitchFamily="34" charset="-120"/>
              </a:rPr>
              <a:t>managed, expiring sessions limit exposure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DESIGN CHOICES &amp; RATIONALE</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Key Technical Decisions</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14</a:t>
            </a:r>
            <a:endParaRPr lang="en-US" sz="1000" dirty="0"/>
          </a:p>
        </p:txBody>
      </p:sp>
      <p:sp>
        <p:nvSpPr>
          <p:cNvPr id="6" name="Text 4"/>
          <p:cNvSpPr/>
          <p:nvPr/>
        </p:nvSpPr>
        <p:spPr>
          <a:xfrm>
            <a:off x="685800" y="1463040"/>
            <a:ext cx="10881360" cy="41148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Every major technology was chosen for a reason. Here's the thinking behind the four that shaped PRISM the most.</a:t>
            </a:r>
            <a:endParaRPr lang="en-US" sz="1300" dirty="0"/>
          </a:p>
        </p:txBody>
      </p:sp>
      <p:sp>
        <p:nvSpPr>
          <p:cNvPr id="7" name="Shape 5"/>
          <p:cNvSpPr/>
          <p:nvPr/>
        </p:nvSpPr>
        <p:spPr>
          <a:xfrm>
            <a:off x="685800" y="2011680"/>
            <a:ext cx="5440680" cy="1920240"/>
          </a:xfrm>
          <a:prstGeom prst="roundRect">
            <a:avLst>
              <a:gd name="adj" fmla="val 285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2011680"/>
            <a:ext cx="73152" cy="1920240"/>
          </a:xfrm>
          <a:prstGeom prst="rect">
            <a:avLst/>
          </a:prstGeom>
          <a:solidFill>
            <a:srgbClr val="A100FF"/>
          </a:solidFill>
          <a:ln/>
        </p:spPr>
        <p:txBody>
          <a:bodyPr/>
          <a:lstStyle/>
          <a:p>
            <a:endParaRPr lang="en-US"/>
          </a:p>
        </p:txBody>
      </p:sp>
      <p:sp>
        <p:nvSpPr>
          <p:cNvPr id="9" name="Shape 7"/>
          <p:cNvSpPr/>
          <p:nvPr/>
        </p:nvSpPr>
        <p:spPr>
          <a:xfrm>
            <a:off x="978408" y="2304288"/>
            <a:ext cx="658368" cy="658368"/>
          </a:xfrm>
          <a:prstGeom prst="ellipse">
            <a:avLst/>
          </a:prstGeom>
          <a:solidFill>
            <a:srgbClr val="A100FF"/>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143000" y="2468880"/>
            <a:ext cx="329184" cy="329184"/>
          </a:xfrm>
          <a:prstGeom prst="rect">
            <a:avLst/>
          </a:prstGeom>
        </p:spPr>
      </p:pic>
      <p:sp>
        <p:nvSpPr>
          <p:cNvPr id="11" name="Text 8"/>
          <p:cNvSpPr/>
          <p:nvPr/>
        </p:nvSpPr>
        <p:spPr>
          <a:xfrm>
            <a:off x="1783080" y="2304288"/>
            <a:ext cx="4114800" cy="658368"/>
          </a:xfrm>
          <a:prstGeom prst="rect">
            <a:avLst/>
          </a:prstGeom>
          <a:noFill/>
          <a:ln/>
        </p:spPr>
        <p:txBody>
          <a:bodyPr wrap="square" lIns="0" tIns="0" rIns="0" bIns="0" rtlCol="0" anchor="ctr"/>
          <a:lstStyle/>
          <a:p>
            <a:pPr marL="0" indent="0">
              <a:buNone/>
            </a:pPr>
            <a:r>
              <a:rPr lang="en-US" sz="1650" b="1" dirty="0">
                <a:solidFill>
                  <a:srgbClr val="A100FF"/>
                </a:solidFill>
                <a:latin typeface="Arial" pitchFamily="34" charset="0"/>
                <a:ea typeface="Arial" pitchFamily="34" charset="-122"/>
                <a:cs typeface="Arial" pitchFamily="34" charset="-120"/>
              </a:rPr>
              <a:t>Why RAG?</a:t>
            </a:r>
            <a:endParaRPr lang="en-US" sz="1650" dirty="0"/>
          </a:p>
        </p:txBody>
      </p:sp>
      <p:sp>
        <p:nvSpPr>
          <p:cNvPr id="12" name="Text 9"/>
          <p:cNvSpPr/>
          <p:nvPr/>
        </p:nvSpPr>
        <p:spPr>
          <a:xfrm>
            <a:off x="1014984" y="3063240"/>
            <a:ext cx="4800600" cy="731520"/>
          </a:xfrm>
          <a:prstGeom prst="rect">
            <a:avLst/>
          </a:prstGeom>
          <a:noFill/>
          <a:ln/>
        </p:spPr>
        <p:txBody>
          <a:bodyPr wrap="square" lIns="0" tIns="0" rIns="0" bIns="0" rtlCol="0" anchor="t"/>
          <a:lstStyle/>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Reduces hallucination</a:t>
            </a:r>
            <a:r>
              <a:rPr lang="en-US" sz="1150" dirty="0">
                <a:solidFill>
                  <a:srgbClr val="5A5568"/>
                </a:solidFill>
                <a:latin typeface="Calibri" pitchFamily="34" charset="0"/>
                <a:ea typeface="Calibri" pitchFamily="34" charset="-122"/>
                <a:cs typeface="Calibri" pitchFamily="34" charset="-120"/>
              </a:rPr>
              <a:t>  —  the model answers from retrieved facts, not memory</a:t>
            </a:r>
            <a:endParaRPr lang="en-US" sz="1150" dirty="0"/>
          </a:p>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Grounded &amp; trustworthy</a:t>
            </a:r>
            <a:r>
              <a:rPr lang="en-US" sz="1150" dirty="0">
                <a:solidFill>
                  <a:srgbClr val="5A5568"/>
                </a:solidFill>
                <a:latin typeface="Calibri" pitchFamily="34" charset="0"/>
                <a:ea typeface="Calibri" pitchFamily="34" charset="-122"/>
                <a:cs typeface="Calibri" pitchFamily="34" charset="-120"/>
              </a:rPr>
              <a:t>  —  responses trace back to real company documents</a:t>
            </a:r>
            <a:endParaRPr lang="en-US" sz="1150" dirty="0"/>
          </a:p>
        </p:txBody>
      </p:sp>
      <p:sp>
        <p:nvSpPr>
          <p:cNvPr id="13" name="Shape 10"/>
          <p:cNvSpPr/>
          <p:nvPr/>
        </p:nvSpPr>
        <p:spPr>
          <a:xfrm>
            <a:off x="6446520" y="2011680"/>
            <a:ext cx="5440680" cy="1920240"/>
          </a:xfrm>
          <a:prstGeom prst="roundRect">
            <a:avLst>
              <a:gd name="adj" fmla="val 285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6446520" y="2011680"/>
            <a:ext cx="73152" cy="1920240"/>
          </a:xfrm>
          <a:prstGeom prst="rect">
            <a:avLst/>
          </a:prstGeom>
          <a:solidFill>
            <a:srgbClr val="E6197E"/>
          </a:solidFill>
          <a:ln/>
        </p:spPr>
        <p:txBody>
          <a:bodyPr/>
          <a:lstStyle/>
          <a:p>
            <a:endParaRPr lang="en-US"/>
          </a:p>
        </p:txBody>
      </p:sp>
      <p:sp>
        <p:nvSpPr>
          <p:cNvPr id="15" name="Shape 12"/>
          <p:cNvSpPr/>
          <p:nvPr/>
        </p:nvSpPr>
        <p:spPr>
          <a:xfrm>
            <a:off x="6739128" y="2304288"/>
            <a:ext cx="658368" cy="658368"/>
          </a:xfrm>
          <a:prstGeom prst="ellipse">
            <a:avLst/>
          </a:prstGeom>
          <a:solidFill>
            <a:srgbClr val="E6197E"/>
          </a:solidFill>
          <a:ln/>
        </p:spPr>
        <p:txBody>
          <a:bodyPr/>
          <a:lstStyle/>
          <a:p>
            <a:endParaRPr lang="en-US"/>
          </a:p>
        </p:txBody>
      </p:sp>
      <p:pic>
        <p:nvPicPr>
          <p:cNvPr id="16" name="Image 1" descr="preencoded.png"/>
          <p:cNvPicPr>
            <a:picLocks noChangeAspect="1"/>
          </p:cNvPicPr>
          <p:nvPr/>
        </p:nvPicPr>
        <p:blipFill>
          <a:blip r:embed="rId5"/>
          <a:stretch>
            <a:fillRect/>
          </a:stretch>
        </p:blipFill>
        <p:spPr>
          <a:xfrm>
            <a:off x="6903720" y="2468880"/>
            <a:ext cx="329184" cy="329184"/>
          </a:xfrm>
          <a:prstGeom prst="rect">
            <a:avLst/>
          </a:prstGeom>
        </p:spPr>
      </p:pic>
      <p:sp>
        <p:nvSpPr>
          <p:cNvPr id="17" name="Text 13"/>
          <p:cNvSpPr/>
          <p:nvPr/>
        </p:nvSpPr>
        <p:spPr>
          <a:xfrm>
            <a:off x="7543800" y="2304288"/>
            <a:ext cx="4114800" cy="658368"/>
          </a:xfrm>
          <a:prstGeom prst="rect">
            <a:avLst/>
          </a:prstGeom>
          <a:noFill/>
          <a:ln/>
        </p:spPr>
        <p:txBody>
          <a:bodyPr wrap="square" lIns="0" tIns="0" rIns="0" bIns="0" rtlCol="0" anchor="ctr"/>
          <a:lstStyle/>
          <a:p>
            <a:pPr marL="0" indent="0">
              <a:buNone/>
            </a:pPr>
            <a:r>
              <a:rPr lang="en-US" sz="1650" b="1" dirty="0">
                <a:solidFill>
                  <a:srgbClr val="E6197E"/>
                </a:solidFill>
                <a:latin typeface="Arial" pitchFamily="34" charset="0"/>
                <a:ea typeface="Arial" pitchFamily="34" charset="-122"/>
                <a:cs typeface="Arial" pitchFamily="34" charset="-120"/>
              </a:rPr>
              <a:t>Why FAISS?</a:t>
            </a:r>
            <a:endParaRPr lang="en-US" sz="1650" dirty="0"/>
          </a:p>
        </p:txBody>
      </p:sp>
      <p:sp>
        <p:nvSpPr>
          <p:cNvPr id="18" name="Text 14"/>
          <p:cNvSpPr/>
          <p:nvPr/>
        </p:nvSpPr>
        <p:spPr>
          <a:xfrm>
            <a:off x="6775704" y="3063240"/>
            <a:ext cx="4800600" cy="731520"/>
          </a:xfrm>
          <a:prstGeom prst="rect">
            <a:avLst/>
          </a:prstGeom>
          <a:noFill/>
          <a:ln/>
        </p:spPr>
        <p:txBody>
          <a:bodyPr wrap="square" lIns="0" tIns="0" rIns="0" bIns="0" rtlCol="0" anchor="t"/>
          <a:lstStyle/>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Efficient retrieval</a:t>
            </a:r>
            <a:r>
              <a:rPr lang="en-US" sz="1150" dirty="0">
                <a:solidFill>
                  <a:srgbClr val="5A5568"/>
                </a:solidFill>
                <a:latin typeface="Calibri" pitchFamily="34" charset="0"/>
                <a:ea typeface="Calibri" pitchFamily="34" charset="-122"/>
                <a:cs typeface="Calibri" pitchFamily="34" charset="-120"/>
              </a:rPr>
              <a:t>  —  purpose-built for high-dimensional vectors</a:t>
            </a:r>
            <a:endParaRPr lang="en-US" sz="1150" dirty="0"/>
          </a:p>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Fast at scale</a:t>
            </a:r>
            <a:r>
              <a:rPr lang="en-US" sz="1150" dirty="0">
                <a:solidFill>
                  <a:srgbClr val="5A5568"/>
                </a:solidFill>
                <a:latin typeface="Calibri" pitchFamily="34" charset="0"/>
                <a:ea typeface="Calibri" pitchFamily="34" charset="-122"/>
                <a:cs typeface="Calibri" pitchFamily="34" charset="-120"/>
              </a:rPr>
              <a:t>  —  millisecond similarity search over many chunks</a:t>
            </a:r>
            <a:endParaRPr lang="en-US" sz="1150" dirty="0"/>
          </a:p>
        </p:txBody>
      </p:sp>
      <p:sp>
        <p:nvSpPr>
          <p:cNvPr id="19" name="Shape 15"/>
          <p:cNvSpPr/>
          <p:nvPr/>
        </p:nvSpPr>
        <p:spPr>
          <a:xfrm>
            <a:off x="685800" y="4187952"/>
            <a:ext cx="5440680" cy="1920240"/>
          </a:xfrm>
          <a:prstGeom prst="roundRect">
            <a:avLst>
              <a:gd name="adj" fmla="val 285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0" name="Shape 16"/>
          <p:cNvSpPr/>
          <p:nvPr/>
        </p:nvSpPr>
        <p:spPr>
          <a:xfrm>
            <a:off x="685800" y="4187952"/>
            <a:ext cx="73152" cy="1920240"/>
          </a:xfrm>
          <a:prstGeom prst="rect">
            <a:avLst/>
          </a:prstGeom>
          <a:solidFill>
            <a:srgbClr val="1D4ED8"/>
          </a:solidFill>
          <a:ln/>
        </p:spPr>
        <p:txBody>
          <a:bodyPr/>
          <a:lstStyle/>
          <a:p>
            <a:endParaRPr lang="en-US"/>
          </a:p>
        </p:txBody>
      </p:sp>
      <p:sp>
        <p:nvSpPr>
          <p:cNvPr id="21" name="Shape 17"/>
          <p:cNvSpPr/>
          <p:nvPr/>
        </p:nvSpPr>
        <p:spPr>
          <a:xfrm>
            <a:off x="978408" y="4480560"/>
            <a:ext cx="658368" cy="658368"/>
          </a:xfrm>
          <a:prstGeom prst="ellipse">
            <a:avLst/>
          </a:prstGeom>
          <a:solidFill>
            <a:srgbClr val="1D4ED8"/>
          </a:solidFill>
          <a:ln/>
        </p:spPr>
        <p:txBody>
          <a:bodyPr/>
          <a:lstStyle/>
          <a:p>
            <a:endParaRPr lang="en-US"/>
          </a:p>
        </p:txBody>
      </p:sp>
      <p:pic>
        <p:nvPicPr>
          <p:cNvPr id="22" name="Image 2" descr="preencoded.png"/>
          <p:cNvPicPr>
            <a:picLocks noChangeAspect="1"/>
          </p:cNvPicPr>
          <p:nvPr/>
        </p:nvPicPr>
        <p:blipFill>
          <a:blip r:embed="rId6"/>
          <a:stretch>
            <a:fillRect/>
          </a:stretch>
        </p:blipFill>
        <p:spPr>
          <a:xfrm>
            <a:off x="1143000" y="4645152"/>
            <a:ext cx="329184" cy="329184"/>
          </a:xfrm>
          <a:prstGeom prst="rect">
            <a:avLst/>
          </a:prstGeom>
        </p:spPr>
      </p:pic>
      <p:sp>
        <p:nvSpPr>
          <p:cNvPr id="23" name="Text 18"/>
          <p:cNvSpPr/>
          <p:nvPr/>
        </p:nvSpPr>
        <p:spPr>
          <a:xfrm>
            <a:off x="1783080" y="4480560"/>
            <a:ext cx="4114800" cy="658368"/>
          </a:xfrm>
          <a:prstGeom prst="rect">
            <a:avLst/>
          </a:prstGeom>
          <a:noFill/>
          <a:ln/>
        </p:spPr>
        <p:txBody>
          <a:bodyPr wrap="square" lIns="0" tIns="0" rIns="0" bIns="0" rtlCol="0" anchor="ctr"/>
          <a:lstStyle/>
          <a:p>
            <a:pPr marL="0" indent="0">
              <a:buNone/>
            </a:pPr>
            <a:r>
              <a:rPr lang="en-US" sz="1650" b="1" dirty="0">
                <a:solidFill>
                  <a:srgbClr val="1D4ED8"/>
                </a:solidFill>
                <a:latin typeface="Arial" pitchFamily="34" charset="0"/>
                <a:ea typeface="Arial" pitchFamily="34" charset="-122"/>
                <a:cs typeface="Arial" pitchFamily="34" charset="-120"/>
              </a:rPr>
              <a:t>Why Chunking?</a:t>
            </a:r>
            <a:endParaRPr lang="en-US" sz="1650" dirty="0"/>
          </a:p>
        </p:txBody>
      </p:sp>
      <p:sp>
        <p:nvSpPr>
          <p:cNvPr id="24" name="Text 19"/>
          <p:cNvSpPr/>
          <p:nvPr/>
        </p:nvSpPr>
        <p:spPr>
          <a:xfrm>
            <a:off x="1014984" y="5239512"/>
            <a:ext cx="4800600" cy="731520"/>
          </a:xfrm>
          <a:prstGeom prst="rect">
            <a:avLst/>
          </a:prstGeom>
          <a:noFill/>
          <a:ln/>
        </p:spPr>
        <p:txBody>
          <a:bodyPr wrap="square" lIns="0" tIns="0" rIns="0" bIns="0" rtlCol="0" anchor="t"/>
          <a:lstStyle/>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Higher precision</a:t>
            </a:r>
            <a:r>
              <a:rPr lang="en-US" sz="1150" dirty="0">
                <a:solidFill>
                  <a:srgbClr val="5A5568"/>
                </a:solidFill>
                <a:latin typeface="Calibri" pitchFamily="34" charset="0"/>
                <a:ea typeface="Calibri" pitchFamily="34" charset="-122"/>
                <a:cs typeface="Calibri" pitchFamily="34" charset="-120"/>
              </a:rPr>
              <a:t>  —  small passages retrieve more accurately</a:t>
            </a:r>
            <a:endParaRPr lang="en-US" sz="1150" dirty="0"/>
          </a:p>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Better context</a:t>
            </a:r>
            <a:r>
              <a:rPr lang="en-US" sz="1150" dirty="0">
                <a:solidFill>
                  <a:srgbClr val="5A5568"/>
                </a:solidFill>
                <a:latin typeface="Calibri" pitchFamily="34" charset="0"/>
                <a:ea typeface="Calibri" pitchFamily="34" charset="-122"/>
                <a:cs typeface="Calibri" pitchFamily="34" charset="-120"/>
              </a:rPr>
              <a:t>  —  the LLM receives only what's relevant</a:t>
            </a:r>
            <a:endParaRPr lang="en-US" sz="1150" dirty="0"/>
          </a:p>
        </p:txBody>
      </p:sp>
      <p:sp>
        <p:nvSpPr>
          <p:cNvPr id="25" name="Shape 20"/>
          <p:cNvSpPr/>
          <p:nvPr/>
        </p:nvSpPr>
        <p:spPr>
          <a:xfrm>
            <a:off x="6446520" y="4187952"/>
            <a:ext cx="5440680" cy="1920240"/>
          </a:xfrm>
          <a:prstGeom prst="roundRect">
            <a:avLst>
              <a:gd name="adj" fmla="val 2857"/>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6" name="Shape 21"/>
          <p:cNvSpPr/>
          <p:nvPr/>
        </p:nvSpPr>
        <p:spPr>
          <a:xfrm>
            <a:off x="6446520" y="4187952"/>
            <a:ext cx="73152" cy="1920240"/>
          </a:xfrm>
          <a:prstGeom prst="rect">
            <a:avLst/>
          </a:prstGeom>
          <a:solidFill>
            <a:srgbClr val="7500C0"/>
          </a:solidFill>
          <a:ln/>
        </p:spPr>
        <p:txBody>
          <a:bodyPr/>
          <a:lstStyle/>
          <a:p>
            <a:endParaRPr lang="en-US"/>
          </a:p>
        </p:txBody>
      </p:sp>
      <p:sp>
        <p:nvSpPr>
          <p:cNvPr id="27" name="Shape 22"/>
          <p:cNvSpPr/>
          <p:nvPr/>
        </p:nvSpPr>
        <p:spPr>
          <a:xfrm>
            <a:off x="6739128" y="4480560"/>
            <a:ext cx="658368" cy="658368"/>
          </a:xfrm>
          <a:prstGeom prst="ellipse">
            <a:avLst/>
          </a:prstGeom>
          <a:solidFill>
            <a:srgbClr val="7500C0"/>
          </a:solidFill>
          <a:ln/>
        </p:spPr>
        <p:txBody>
          <a:bodyPr/>
          <a:lstStyle/>
          <a:p>
            <a:endParaRPr lang="en-US"/>
          </a:p>
        </p:txBody>
      </p:sp>
      <p:pic>
        <p:nvPicPr>
          <p:cNvPr id="28" name="Image 3" descr="preencoded.png"/>
          <p:cNvPicPr>
            <a:picLocks noChangeAspect="1"/>
          </p:cNvPicPr>
          <p:nvPr/>
        </p:nvPicPr>
        <p:blipFill>
          <a:blip r:embed="rId7"/>
          <a:stretch>
            <a:fillRect/>
          </a:stretch>
        </p:blipFill>
        <p:spPr>
          <a:xfrm>
            <a:off x="6903720" y="4645152"/>
            <a:ext cx="329184" cy="329184"/>
          </a:xfrm>
          <a:prstGeom prst="rect">
            <a:avLst/>
          </a:prstGeom>
        </p:spPr>
      </p:pic>
      <p:sp>
        <p:nvSpPr>
          <p:cNvPr id="29" name="Text 23"/>
          <p:cNvSpPr/>
          <p:nvPr/>
        </p:nvSpPr>
        <p:spPr>
          <a:xfrm>
            <a:off x="7543800" y="4480560"/>
            <a:ext cx="4114800" cy="658368"/>
          </a:xfrm>
          <a:prstGeom prst="rect">
            <a:avLst/>
          </a:prstGeom>
          <a:noFill/>
          <a:ln/>
        </p:spPr>
        <p:txBody>
          <a:bodyPr wrap="square" lIns="0" tIns="0" rIns="0" bIns="0" rtlCol="0" anchor="ctr"/>
          <a:lstStyle/>
          <a:p>
            <a:pPr marL="0" indent="0">
              <a:buNone/>
            </a:pPr>
            <a:r>
              <a:rPr lang="en-US" sz="1650" b="1" dirty="0">
                <a:solidFill>
                  <a:srgbClr val="7500C0"/>
                </a:solidFill>
                <a:latin typeface="Arial" pitchFamily="34" charset="0"/>
                <a:ea typeface="Arial" pitchFamily="34" charset="-122"/>
                <a:cs typeface="Arial" pitchFamily="34" charset="-120"/>
              </a:rPr>
              <a:t>Why SQLite + FAISS?</a:t>
            </a:r>
            <a:endParaRPr lang="en-US" sz="1650" dirty="0"/>
          </a:p>
        </p:txBody>
      </p:sp>
      <p:sp>
        <p:nvSpPr>
          <p:cNvPr id="30" name="Text 24"/>
          <p:cNvSpPr/>
          <p:nvPr/>
        </p:nvSpPr>
        <p:spPr>
          <a:xfrm>
            <a:off x="6775704" y="5239512"/>
            <a:ext cx="4800600" cy="731520"/>
          </a:xfrm>
          <a:prstGeom prst="rect">
            <a:avLst/>
          </a:prstGeom>
          <a:noFill/>
          <a:ln/>
        </p:spPr>
        <p:txBody>
          <a:bodyPr wrap="square" lIns="0" tIns="0" rIns="0" bIns="0" rtlCol="0" anchor="t"/>
          <a:lstStyle/>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Right tool per job</a:t>
            </a:r>
            <a:r>
              <a:rPr lang="en-US" sz="1150" dirty="0">
                <a:solidFill>
                  <a:srgbClr val="5A5568"/>
                </a:solidFill>
                <a:latin typeface="Calibri" pitchFamily="34" charset="0"/>
                <a:ea typeface="Calibri" pitchFamily="34" charset="-122"/>
                <a:cs typeface="Calibri" pitchFamily="34" charset="-120"/>
              </a:rPr>
              <a:t>  —  relational for structured, vector for semantic</a:t>
            </a:r>
            <a:endParaRPr lang="en-US" sz="1150" dirty="0"/>
          </a:p>
          <a:p>
            <a:pPr marL="203200" indent="-203200">
              <a:lnSpc>
                <a:spcPct val="100000"/>
              </a:lnSpc>
              <a:buSzPct val="100000"/>
              <a:buChar char="•"/>
            </a:pPr>
            <a:r>
              <a:rPr lang="en-US" sz="1150" b="1" dirty="0">
                <a:solidFill>
                  <a:srgbClr val="1A1526"/>
                </a:solidFill>
                <a:latin typeface="Calibri" pitchFamily="34" charset="0"/>
                <a:ea typeface="Calibri" pitchFamily="34" charset="-122"/>
                <a:cs typeface="Calibri" pitchFamily="34" charset="-120"/>
              </a:rPr>
              <a:t>Clean separation</a:t>
            </a:r>
            <a:r>
              <a:rPr lang="en-US" sz="1150" dirty="0">
                <a:solidFill>
                  <a:srgbClr val="5A5568"/>
                </a:solidFill>
                <a:latin typeface="Calibri" pitchFamily="34" charset="0"/>
                <a:ea typeface="Calibri" pitchFamily="34" charset="-122"/>
                <a:cs typeface="Calibri" pitchFamily="34" charset="-120"/>
              </a:rPr>
              <a:t>  —  each store owns one responsibility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PROJECT STATISTICS</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PRISM By the Numbers</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15</a:t>
            </a:r>
            <a:endParaRPr lang="en-US" sz="1000" dirty="0"/>
          </a:p>
        </p:txBody>
      </p:sp>
      <p:sp>
        <p:nvSpPr>
          <p:cNvPr id="6" name="Shape 4"/>
          <p:cNvSpPr/>
          <p:nvPr/>
        </p:nvSpPr>
        <p:spPr>
          <a:xfrm>
            <a:off x="685800" y="1691640"/>
            <a:ext cx="3520440" cy="2240280"/>
          </a:xfrm>
          <a:prstGeom prst="roundRect">
            <a:avLst>
              <a:gd name="adj" fmla="val 2449"/>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7" name="Shape 5"/>
          <p:cNvSpPr/>
          <p:nvPr/>
        </p:nvSpPr>
        <p:spPr>
          <a:xfrm>
            <a:off x="685800" y="1691640"/>
            <a:ext cx="73152" cy="2240280"/>
          </a:xfrm>
          <a:prstGeom prst="rect">
            <a:avLst/>
          </a:prstGeom>
          <a:solidFill>
            <a:srgbClr val="A100FF"/>
          </a:solidFill>
          <a:ln/>
        </p:spPr>
        <p:txBody>
          <a:bodyPr/>
          <a:lstStyle/>
          <a:p>
            <a:endParaRPr lang="en-US"/>
          </a:p>
        </p:txBody>
      </p:sp>
      <p:sp>
        <p:nvSpPr>
          <p:cNvPr id="8" name="Shape 6"/>
          <p:cNvSpPr/>
          <p:nvPr/>
        </p:nvSpPr>
        <p:spPr>
          <a:xfrm>
            <a:off x="2135124" y="1947672"/>
            <a:ext cx="621792" cy="621792"/>
          </a:xfrm>
          <a:prstGeom prst="ellipse">
            <a:avLst/>
          </a:prstGeom>
          <a:solidFill>
            <a:srgbClr val="A100FF"/>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2290572" y="2103120"/>
            <a:ext cx="310896" cy="310896"/>
          </a:xfrm>
          <a:prstGeom prst="rect">
            <a:avLst/>
          </a:prstGeom>
        </p:spPr>
      </p:pic>
      <p:sp>
        <p:nvSpPr>
          <p:cNvPr id="10" name="Text 7"/>
          <p:cNvSpPr/>
          <p:nvPr/>
        </p:nvSpPr>
        <p:spPr>
          <a:xfrm>
            <a:off x="685800" y="2560320"/>
            <a:ext cx="3520440" cy="777240"/>
          </a:xfrm>
          <a:prstGeom prst="rect">
            <a:avLst/>
          </a:prstGeom>
          <a:noFill/>
          <a:ln/>
        </p:spPr>
        <p:txBody>
          <a:bodyPr wrap="square" lIns="0" tIns="0" rIns="0" bIns="0" rtlCol="0" anchor="ctr"/>
          <a:lstStyle/>
          <a:p>
            <a:pPr marL="0" indent="0" algn="ctr">
              <a:buNone/>
            </a:pPr>
            <a:r>
              <a:rPr lang="en-US" sz="4200" b="1" dirty="0">
                <a:solidFill>
                  <a:srgbClr val="1A1526"/>
                </a:solidFill>
                <a:latin typeface="Arial" pitchFamily="34" charset="0"/>
                <a:ea typeface="Arial" pitchFamily="34" charset="-122"/>
                <a:cs typeface="Arial" pitchFamily="34" charset="-120"/>
              </a:rPr>
              <a:t>1,200+</a:t>
            </a:r>
            <a:endParaRPr lang="en-US" sz="4200" dirty="0"/>
          </a:p>
        </p:txBody>
      </p:sp>
      <p:sp>
        <p:nvSpPr>
          <p:cNvPr id="11" name="Text 8"/>
          <p:cNvSpPr/>
          <p:nvPr/>
        </p:nvSpPr>
        <p:spPr>
          <a:xfrm>
            <a:off x="868680" y="3383280"/>
            <a:ext cx="3154680" cy="411480"/>
          </a:xfrm>
          <a:prstGeom prst="rect">
            <a:avLst/>
          </a:prstGeom>
          <a:noFill/>
          <a:ln/>
        </p:spPr>
        <p:txBody>
          <a:bodyPr wrap="square" lIns="0" tIns="0" rIns="0" bIns="0" rtlCol="0" anchor="ctr"/>
          <a:lstStyle/>
          <a:p>
            <a:pPr marL="0" indent="0" algn="ctr">
              <a:buNone/>
            </a:pPr>
            <a:r>
              <a:rPr lang="en-US" sz="1250" dirty="0">
                <a:solidFill>
                  <a:srgbClr val="5A5568"/>
                </a:solidFill>
                <a:latin typeface="Calibri" pitchFamily="34" charset="0"/>
                <a:ea typeface="Calibri" pitchFamily="34" charset="-122"/>
                <a:cs typeface="Calibri" pitchFamily="34" charset="-120"/>
              </a:rPr>
              <a:t>Document chunks indexed</a:t>
            </a:r>
            <a:endParaRPr lang="en-US" sz="1250" dirty="0"/>
          </a:p>
        </p:txBody>
      </p:sp>
      <p:sp>
        <p:nvSpPr>
          <p:cNvPr id="12" name="Shape 9"/>
          <p:cNvSpPr/>
          <p:nvPr/>
        </p:nvSpPr>
        <p:spPr>
          <a:xfrm>
            <a:off x="4526280" y="1691640"/>
            <a:ext cx="3520440" cy="2240280"/>
          </a:xfrm>
          <a:prstGeom prst="roundRect">
            <a:avLst>
              <a:gd name="adj" fmla="val 2449"/>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3" name="Shape 10"/>
          <p:cNvSpPr/>
          <p:nvPr/>
        </p:nvSpPr>
        <p:spPr>
          <a:xfrm>
            <a:off x="4526280" y="1691640"/>
            <a:ext cx="73152" cy="2240280"/>
          </a:xfrm>
          <a:prstGeom prst="rect">
            <a:avLst/>
          </a:prstGeom>
          <a:solidFill>
            <a:srgbClr val="E6197E"/>
          </a:solidFill>
          <a:ln/>
        </p:spPr>
        <p:txBody>
          <a:bodyPr/>
          <a:lstStyle/>
          <a:p>
            <a:endParaRPr lang="en-US"/>
          </a:p>
        </p:txBody>
      </p:sp>
      <p:sp>
        <p:nvSpPr>
          <p:cNvPr id="14" name="Shape 11"/>
          <p:cNvSpPr/>
          <p:nvPr/>
        </p:nvSpPr>
        <p:spPr>
          <a:xfrm>
            <a:off x="5975604" y="1947672"/>
            <a:ext cx="621792" cy="621792"/>
          </a:xfrm>
          <a:prstGeom prst="ellipse">
            <a:avLst/>
          </a:prstGeom>
          <a:solidFill>
            <a:srgbClr val="E6197E"/>
          </a:solidFill>
          <a:ln/>
        </p:spPr>
        <p:txBody>
          <a:bodyPr/>
          <a:lstStyle/>
          <a:p>
            <a:endParaRPr lang="en-US"/>
          </a:p>
        </p:txBody>
      </p:sp>
      <p:pic>
        <p:nvPicPr>
          <p:cNvPr id="15" name="Image 1" descr="preencoded.png"/>
          <p:cNvPicPr>
            <a:picLocks noChangeAspect="1"/>
          </p:cNvPicPr>
          <p:nvPr/>
        </p:nvPicPr>
        <p:blipFill>
          <a:blip r:embed="rId5"/>
          <a:stretch>
            <a:fillRect/>
          </a:stretch>
        </p:blipFill>
        <p:spPr>
          <a:xfrm>
            <a:off x="6131052" y="2103120"/>
            <a:ext cx="310896" cy="310896"/>
          </a:xfrm>
          <a:prstGeom prst="rect">
            <a:avLst/>
          </a:prstGeom>
        </p:spPr>
      </p:pic>
      <p:sp>
        <p:nvSpPr>
          <p:cNvPr id="16" name="Text 12"/>
          <p:cNvSpPr/>
          <p:nvPr/>
        </p:nvSpPr>
        <p:spPr>
          <a:xfrm>
            <a:off x="4526280" y="2560320"/>
            <a:ext cx="3520440" cy="777240"/>
          </a:xfrm>
          <a:prstGeom prst="rect">
            <a:avLst/>
          </a:prstGeom>
          <a:noFill/>
          <a:ln/>
        </p:spPr>
        <p:txBody>
          <a:bodyPr wrap="square" lIns="0" tIns="0" rIns="0" bIns="0" rtlCol="0" anchor="ctr"/>
          <a:lstStyle/>
          <a:p>
            <a:pPr marL="0" indent="0" algn="ctr">
              <a:buNone/>
            </a:pPr>
            <a:r>
              <a:rPr lang="en-US" sz="4200" b="1" dirty="0">
                <a:solidFill>
                  <a:srgbClr val="1A1526"/>
                </a:solidFill>
                <a:latin typeface="Arial" pitchFamily="34" charset="0"/>
                <a:ea typeface="Arial" pitchFamily="34" charset="-122"/>
                <a:cs typeface="Arial" pitchFamily="34" charset="-120"/>
              </a:rPr>
              <a:t>~2.3s</a:t>
            </a:r>
            <a:endParaRPr lang="en-US" sz="4200" dirty="0"/>
          </a:p>
        </p:txBody>
      </p:sp>
      <p:sp>
        <p:nvSpPr>
          <p:cNvPr id="17" name="Text 13"/>
          <p:cNvSpPr/>
          <p:nvPr/>
        </p:nvSpPr>
        <p:spPr>
          <a:xfrm>
            <a:off x="4709160" y="3383280"/>
            <a:ext cx="3154680" cy="411480"/>
          </a:xfrm>
          <a:prstGeom prst="rect">
            <a:avLst/>
          </a:prstGeom>
          <a:noFill/>
          <a:ln/>
        </p:spPr>
        <p:txBody>
          <a:bodyPr wrap="square" lIns="0" tIns="0" rIns="0" bIns="0" rtlCol="0" anchor="ctr"/>
          <a:lstStyle/>
          <a:p>
            <a:pPr marL="0" indent="0" algn="ctr">
              <a:buNone/>
            </a:pPr>
            <a:r>
              <a:rPr lang="en-US" sz="1250" dirty="0">
                <a:solidFill>
                  <a:srgbClr val="5A5568"/>
                </a:solidFill>
                <a:latin typeface="Calibri" pitchFamily="34" charset="0"/>
                <a:ea typeface="Calibri" pitchFamily="34" charset="-122"/>
                <a:cs typeface="Calibri" pitchFamily="34" charset="-120"/>
              </a:rPr>
              <a:t>Average response time</a:t>
            </a:r>
            <a:endParaRPr lang="en-US" sz="1250" dirty="0"/>
          </a:p>
        </p:txBody>
      </p:sp>
      <p:sp>
        <p:nvSpPr>
          <p:cNvPr id="18" name="Shape 14"/>
          <p:cNvSpPr/>
          <p:nvPr/>
        </p:nvSpPr>
        <p:spPr>
          <a:xfrm>
            <a:off x="8366760" y="1691640"/>
            <a:ext cx="3520440" cy="2240280"/>
          </a:xfrm>
          <a:prstGeom prst="roundRect">
            <a:avLst>
              <a:gd name="adj" fmla="val 2449"/>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9" name="Shape 15"/>
          <p:cNvSpPr/>
          <p:nvPr/>
        </p:nvSpPr>
        <p:spPr>
          <a:xfrm>
            <a:off x="8366760" y="1691640"/>
            <a:ext cx="73152" cy="2240280"/>
          </a:xfrm>
          <a:prstGeom prst="rect">
            <a:avLst/>
          </a:prstGeom>
          <a:solidFill>
            <a:srgbClr val="1D4ED8"/>
          </a:solidFill>
          <a:ln/>
        </p:spPr>
        <p:txBody>
          <a:bodyPr/>
          <a:lstStyle/>
          <a:p>
            <a:endParaRPr lang="en-US"/>
          </a:p>
        </p:txBody>
      </p:sp>
      <p:sp>
        <p:nvSpPr>
          <p:cNvPr id="20" name="Shape 16"/>
          <p:cNvSpPr/>
          <p:nvPr/>
        </p:nvSpPr>
        <p:spPr>
          <a:xfrm>
            <a:off x="9816084" y="1947672"/>
            <a:ext cx="621792" cy="621792"/>
          </a:xfrm>
          <a:prstGeom prst="ellipse">
            <a:avLst/>
          </a:prstGeom>
          <a:solidFill>
            <a:srgbClr val="1D4ED8"/>
          </a:solidFill>
          <a:ln/>
        </p:spPr>
        <p:txBody>
          <a:bodyPr/>
          <a:lstStyle/>
          <a:p>
            <a:endParaRPr lang="en-US"/>
          </a:p>
        </p:txBody>
      </p:sp>
      <p:pic>
        <p:nvPicPr>
          <p:cNvPr id="21" name="Image 2" descr="preencoded.png"/>
          <p:cNvPicPr>
            <a:picLocks noChangeAspect="1"/>
          </p:cNvPicPr>
          <p:nvPr/>
        </p:nvPicPr>
        <p:blipFill>
          <a:blip r:embed="rId6"/>
          <a:stretch>
            <a:fillRect/>
          </a:stretch>
        </p:blipFill>
        <p:spPr>
          <a:xfrm>
            <a:off x="9971532" y="2103120"/>
            <a:ext cx="310896" cy="310896"/>
          </a:xfrm>
          <a:prstGeom prst="rect">
            <a:avLst/>
          </a:prstGeom>
        </p:spPr>
      </p:pic>
      <p:sp>
        <p:nvSpPr>
          <p:cNvPr id="22" name="Text 17"/>
          <p:cNvSpPr/>
          <p:nvPr/>
        </p:nvSpPr>
        <p:spPr>
          <a:xfrm>
            <a:off x="8366760" y="2560320"/>
            <a:ext cx="3520440" cy="777240"/>
          </a:xfrm>
          <a:prstGeom prst="rect">
            <a:avLst/>
          </a:prstGeom>
          <a:noFill/>
          <a:ln/>
        </p:spPr>
        <p:txBody>
          <a:bodyPr wrap="square" lIns="0" tIns="0" rIns="0" bIns="0" rtlCol="0" anchor="ctr"/>
          <a:lstStyle/>
          <a:p>
            <a:pPr marL="0" indent="0" algn="ctr">
              <a:buNone/>
            </a:pPr>
            <a:r>
              <a:rPr lang="en-US" sz="4200" b="1" dirty="0">
                <a:solidFill>
                  <a:srgbClr val="1A1526"/>
                </a:solidFill>
                <a:latin typeface="Arial" pitchFamily="34" charset="0"/>
                <a:ea typeface="Arial" pitchFamily="34" charset="-122"/>
                <a:cs typeface="Arial" pitchFamily="34" charset="-120"/>
              </a:rPr>
              <a:t>6</a:t>
            </a:r>
            <a:endParaRPr lang="en-US" sz="4200" dirty="0"/>
          </a:p>
        </p:txBody>
      </p:sp>
      <p:sp>
        <p:nvSpPr>
          <p:cNvPr id="23" name="Text 18"/>
          <p:cNvSpPr/>
          <p:nvPr/>
        </p:nvSpPr>
        <p:spPr>
          <a:xfrm>
            <a:off x="8549640" y="3383280"/>
            <a:ext cx="3154680" cy="411480"/>
          </a:xfrm>
          <a:prstGeom prst="rect">
            <a:avLst/>
          </a:prstGeom>
          <a:noFill/>
          <a:ln/>
        </p:spPr>
        <p:txBody>
          <a:bodyPr wrap="square" lIns="0" tIns="0" rIns="0" bIns="0" rtlCol="0" anchor="ctr"/>
          <a:lstStyle/>
          <a:p>
            <a:pPr marL="0" indent="0" algn="ctr">
              <a:buNone/>
            </a:pPr>
            <a:r>
              <a:rPr lang="en-US" sz="1250" dirty="0">
                <a:solidFill>
                  <a:srgbClr val="5A5568"/>
                </a:solidFill>
                <a:latin typeface="Calibri" pitchFamily="34" charset="0"/>
                <a:ea typeface="Calibri" pitchFamily="34" charset="-122"/>
                <a:cs typeface="Calibri" pitchFamily="34" charset="-120"/>
              </a:rPr>
              <a:t>Core technologies integrated</a:t>
            </a:r>
            <a:endParaRPr lang="en-US" sz="1250" dirty="0"/>
          </a:p>
        </p:txBody>
      </p:sp>
      <p:sp>
        <p:nvSpPr>
          <p:cNvPr id="24" name="Shape 19"/>
          <p:cNvSpPr/>
          <p:nvPr/>
        </p:nvSpPr>
        <p:spPr>
          <a:xfrm>
            <a:off x="685800" y="4251960"/>
            <a:ext cx="7040880" cy="1554480"/>
          </a:xfrm>
          <a:prstGeom prst="roundRect">
            <a:avLst>
              <a:gd name="adj" fmla="val 3529"/>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5" name="Text 20"/>
          <p:cNvSpPr/>
          <p:nvPr/>
        </p:nvSpPr>
        <p:spPr>
          <a:xfrm>
            <a:off x="1005840" y="4434840"/>
            <a:ext cx="6400800" cy="320040"/>
          </a:xfrm>
          <a:prstGeom prst="rect">
            <a:avLst/>
          </a:prstGeom>
          <a:noFill/>
          <a:ln/>
        </p:spPr>
        <p:txBody>
          <a:bodyPr wrap="square" lIns="0" tIns="0" rIns="0" bIns="0" rtlCol="0" anchor="ctr"/>
          <a:lstStyle/>
          <a:p>
            <a:pPr marL="0" indent="0">
              <a:buNone/>
            </a:pPr>
            <a:r>
              <a:rPr lang="en-US" sz="1100" b="1" kern="0" spc="150" dirty="0">
                <a:solidFill>
                  <a:srgbClr val="A100FF"/>
                </a:solidFill>
                <a:latin typeface="Arial" pitchFamily="34" charset="0"/>
                <a:ea typeface="Arial" pitchFamily="34" charset="-122"/>
                <a:cs typeface="Arial" pitchFamily="34" charset="-120"/>
              </a:rPr>
              <a:t>TECHNOLOGY STACK</a:t>
            </a:r>
            <a:endParaRPr lang="en-US" sz="1100" dirty="0"/>
          </a:p>
        </p:txBody>
      </p:sp>
      <p:sp>
        <p:nvSpPr>
          <p:cNvPr id="26" name="Shape 21"/>
          <p:cNvSpPr/>
          <p:nvPr/>
        </p:nvSpPr>
        <p:spPr>
          <a:xfrm>
            <a:off x="1005840" y="4846320"/>
            <a:ext cx="859536" cy="457200"/>
          </a:xfrm>
          <a:prstGeom prst="roundRect">
            <a:avLst>
              <a:gd name="adj" fmla="val 20000"/>
            </a:avLst>
          </a:prstGeom>
          <a:solidFill>
            <a:srgbClr val="EDE7F7"/>
          </a:solidFill>
          <a:ln w="12700">
            <a:solidFill>
              <a:srgbClr val="A100FF"/>
            </a:solidFill>
            <a:prstDash val="solid"/>
          </a:ln>
        </p:spPr>
        <p:txBody>
          <a:bodyPr/>
          <a:lstStyle/>
          <a:p>
            <a:endParaRPr lang="en-US"/>
          </a:p>
        </p:txBody>
      </p:sp>
      <p:sp>
        <p:nvSpPr>
          <p:cNvPr id="27" name="Text 22"/>
          <p:cNvSpPr/>
          <p:nvPr/>
        </p:nvSpPr>
        <p:spPr>
          <a:xfrm>
            <a:off x="1005840" y="4846320"/>
            <a:ext cx="859536" cy="457200"/>
          </a:xfrm>
          <a:prstGeom prst="rect">
            <a:avLst/>
          </a:prstGeom>
          <a:noFill/>
          <a:ln/>
        </p:spPr>
        <p:txBody>
          <a:bodyPr wrap="square" lIns="0" tIns="0" rIns="0" bIns="0" rtlCol="0" anchor="ctr"/>
          <a:lstStyle/>
          <a:p>
            <a:pPr marL="0" indent="0" algn="ctr">
              <a:buNone/>
            </a:pPr>
            <a:r>
              <a:rPr lang="en-US" sz="1200" dirty="0">
                <a:solidFill>
                  <a:srgbClr val="1A1526"/>
                </a:solidFill>
                <a:latin typeface="Calibri" pitchFamily="34" charset="0"/>
                <a:ea typeface="Calibri" pitchFamily="34" charset="-122"/>
                <a:cs typeface="Calibri" pitchFamily="34" charset="-120"/>
              </a:rPr>
              <a:t>React</a:t>
            </a:r>
            <a:endParaRPr lang="en-US" sz="1200" dirty="0"/>
          </a:p>
        </p:txBody>
      </p:sp>
      <p:sp>
        <p:nvSpPr>
          <p:cNvPr id="28" name="Shape 23"/>
          <p:cNvSpPr/>
          <p:nvPr/>
        </p:nvSpPr>
        <p:spPr>
          <a:xfrm>
            <a:off x="2029968" y="4846320"/>
            <a:ext cx="1057046" cy="457200"/>
          </a:xfrm>
          <a:prstGeom prst="roundRect">
            <a:avLst>
              <a:gd name="adj" fmla="val 20000"/>
            </a:avLst>
          </a:prstGeom>
          <a:solidFill>
            <a:srgbClr val="EDE7F7"/>
          </a:solidFill>
          <a:ln w="12700">
            <a:solidFill>
              <a:srgbClr val="A100FF"/>
            </a:solidFill>
            <a:prstDash val="solid"/>
          </a:ln>
        </p:spPr>
        <p:txBody>
          <a:bodyPr/>
          <a:lstStyle/>
          <a:p>
            <a:endParaRPr lang="en-US"/>
          </a:p>
        </p:txBody>
      </p:sp>
      <p:sp>
        <p:nvSpPr>
          <p:cNvPr id="29" name="Text 24"/>
          <p:cNvSpPr/>
          <p:nvPr/>
        </p:nvSpPr>
        <p:spPr>
          <a:xfrm>
            <a:off x="2029968" y="4846320"/>
            <a:ext cx="1057046" cy="457200"/>
          </a:xfrm>
          <a:prstGeom prst="rect">
            <a:avLst/>
          </a:prstGeom>
          <a:noFill/>
          <a:ln/>
        </p:spPr>
        <p:txBody>
          <a:bodyPr wrap="square" lIns="0" tIns="0" rIns="0" bIns="0" rtlCol="0" anchor="ctr"/>
          <a:lstStyle/>
          <a:p>
            <a:pPr marL="0" indent="0" algn="ctr">
              <a:buNone/>
            </a:pPr>
            <a:r>
              <a:rPr lang="en-US" sz="1200" dirty="0">
                <a:solidFill>
                  <a:srgbClr val="1A1526"/>
                </a:solidFill>
                <a:latin typeface="Calibri" pitchFamily="34" charset="0"/>
                <a:ea typeface="Calibri" pitchFamily="34" charset="-122"/>
                <a:cs typeface="Calibri" pitchFamily="34" charset="-120"/>
              </a:rPr>
              <a:t>FastAPI</a:t>
            </a:r>
            <a:endParaRPr lang="en-US" sz="1200" dirty="0"/>
          </a:p>
        </p:txBody>
      </p:sp>
      <p:sp>
        <p:nvSpPr>
          <p:cNvPr id="30" name="Shape 25"/>
          <p:cNvSpPr/>
          <p:nvPr/>
        </p:nvSpPr>
        <p:spPr>
          <a:xfrm>
            <a:off x="3251606" y="4846320"/>
            <a:ext cx="958291" cy="457200"/>
          </a:xfrm>
          <a:prstGeom prst="roundRect">
            <a:avLst>
              <a:gd name="adj" fmla="val 20000"/>
            </a:avLst>
          </a:prstGeom>
          <a:solidFill>
            <a:srgbClr val="EDE7F7"/>
          </a:solidFill>
          <a:ln w="12700">
            <a:solidFill>
              <a:srgbClr val="A100FF"/>
            </a:solidFill>
            <a:prstDash val="solid"/>
          </a:ln>
        </p:spPr>
        <p:txBody>
          <a:bodyPr/>
          <a:lstStyle/>
          <a:p>
            <a:endParaRPr lang="en-US"/>
          </a:p>
        </p:txBody>
      </p:sp>
      <p:sp>
        <p:nvSpPr>
          <p:cNvPr id="31" name="Text 26"/>
          <p:cNvSpPr/>
          <p:nvPr/>
        </p:nvSpPr>
        <p:spPr>
          <a:xfrm>
            <a:off x="3251606" y="4846320"/>
            <a:ext cx="958291" cy="457200"/>
          </a:xfrm>
          <a:prstGeom prst="rect">
            <a:avLst/>
          </a:prstGeom>
          <a:noFill/>
          <a:ln/>
        </p:spPr>
        <p:txBody>
          <a:bodyPr wrap="square" lIns="0" tIns="0" rIns="0" bIns="0" rtlCol="0" anchor="ctr"/>
          <a:lstStyle/>
          <a:p>
            <a:pPr marL="0" indent="0" algn="ctr">
              <a:buNone/>
            </a:pPr>
            <a:r>
              <a:rPr lang="en-US" sz="1200" dirty="0">
                <a:solidFill>
                  <a:srgbClr val="1A1526"/>
                </a:solidFill>
                <a:latin typeface="Calibri" pitchFamily="34" charset="0"/>
                <a:ea typeface="Calibri" pitchFamily="34" charset="-122"/>
                <a:cs typeface="Calibri" pitchFamily="34" charset="-120"/>
              </a:rPr>
              <a:t>SQLite</a:t>
            </a:r>
            <a:endParaRPr lang="en-US" sz="1200" dirty="0"/>
          </a:p>
        </p:txBody>
      </p:sp>
      <p:sp>
        <p:nvSpPr>
          <p:cNvPr id="32" name="Shape 27"/>
          <p:cNvSpPr/>
          <p:nvPr/>
        </p:nvSpPr>
        <p:spPr>
          <a:xfrm>
            <a:off x="4374490" y="4846320"/>
            <a:ext cx="859536" cy="457200"/>
          </a:xfrm>
          <a:prstGeom prst="roundRect">
            <a:avLst>
              <a:gd name="adj" fmla="val 20000"/>
            </a:avLst>
          </a:prstGeom>
          <a:solidFill>
            <a:srgbClr val="EDE7F7"/>
          </a:solidFill>
          <a:ln w="12700">
            <a:solidFill>
              <a:srgbClr val="A100FF"/>
            </a:solidFill>
            <a:prstDash val="solid"/>
          </a:ln>
        </p:spPr>
        <p:txBody>
          <a:bodyPr/>
          <a:lstStyle/>
          <a:p>
            <a:endParaRPr lang="en-US"/>
          </a:p>
        </p:txBody>
      </p:sp>
      <p:sp>
        <p:nvSpPr>
          <p:cNvPr id="33" name="Text 28"/>
          <p:cNvSpPr/>
          <p:nvPr/>
        </p:nvSpPr>
        <p:spPr>
          <a:xfrm>
            <a:off x="4374490" y="4846320"/>
            <a:ext cx="859536" cy="457200"/>
          </a:xfrm>
          <a:prstGeom prst="rect">
            <a:avLst/>
          </a:prstGeom>
          <a:noFill/>
          <a:ln/>
        </p:spPr>
        <p:txBody>
          <a:bodyPr wrap="square" lIns="0" tIns="0" rIns="0" bIns="0" rtlCol="0" anchor="ctr"/>
          <a:lstStyle/>
          <a:p>
            <a:pPr marL="0" indent="0" algn="ctr">
              <a:buNone/>
            </a:pPr>
            <a:r>
              <a:rPr lang="en-US" sz="1200" dirty="0">
                <a:solidFill>
                  <a:srgbClr val="1A1526"/>
                </a:solidFill>
                <a:latin typeface="Calibri" pitchFamily="34" charset="0"/>
                <a:ea typeface="Calibri" pitchFamily="34" charset="-122"/>
                <a:cs typeface="Calibri" pitchFamily="34" charset="-120"/>
              </a:rPr>
              <a:t>FAISS</a:t>
            </a:r>
            <a:endParaRPr lang="en-US" sz="1200" dirty="0"/>
          </a:p>
        </p:txBody>
      </p:sp>
      <p:sp>
        <p:nvSpPr>
          <p:cNvPr id="34" name="Shape 29"/>
          <p:cNvSpPr/>
          <p:nvPr/>
        </p:nvSpPr>
        <p:spPr>
          <a:xfrm>
            <a:off x="1005840" y="5431536"/>
            <a:ext cx="2439619" cy="457200"/>
          </a:xfrm>
          <a:prstGeom prst="roundRect">
            <a:avLst>
              <a:gd name="adj" fmla="val 20000"/>
            </a:avLst>
          </a:prstGeom>
          <a:solidFill>
            <a:srgbClr val="EDE7F7"/>
          </a:solidFill>
          <a:ln w="12700">
            <a:solidFill>
              <a:srgbClr val="A100FF"/>
            </a:solidFill>
            <a:prstDash val="solid"/>
          </a:ln>
        </p:spPr>
        <p:txBody>
          <a:bodyPr/>
          <a:lstStyle/>
          <a:p>
            <a:endParaRPr lang="en-US"/>
          </a:p>
        </p:txBody>
      </p:sp>
      <p:sp>
        <p:nvSpPr>
          <p:cNvPr id="35" name="Text 30"/>
          <p:cNvSpPr/>
          <p:nvPr/>
        </p:nvSpPr>
        <p:spPr>
          <a:xfrm>
            <a:off x="1005840" y="5431536"/>
            <a:ext cx="2439619" cy="457200"/>
          </a:xfrm>
          <a:prstGeom prst="rect">
            <a:avLst/>
          </a:prstGeom>
          <a:noFill/>
          <a:ln/>
        </p:spPr>
        <p:txBody>
          <a:bodyPr wrap="square" lIns="0" tIns="0" rIns="0" bIns="0" rtlCol="0" anchor="ctr"/>
          <a:lstStyle/>
          <a:p>
            <a:pPr marL="0" indent="0" algn="ctr">
              <a:buNone/>
            </a:pPr>
            <a:r>
              <a:rPr lang="en-US" sz="1200" dirty="0">
                <a:solidFill>
                  <a:srgbClr val="1A1526"/>
                </a:solidFill>
                <a:latin typeface="Calibri" pitchFamily="34" charset="0"/>
                <a:ea typeface="Calibri" pitchFamily="34" charset="-122"/>
                <a:cs typeface="Calibri" pitchFamily="34" charset="-120"/>
              </a:rPr>
              <a:t>Sentence Transformers</a:t>
            </a:r>
            <a:endParaRPr lang="en-US" sz="1200" dirty="0"/>
          </a:p>
        </p:txBody>
      </p:sp>
      <p:sp>
        <p:nvSpPr>
          <p:cNvPr id="36" name="Shape 31"/>
          <p:cNvSpPr/>
          <p:nvPr/>
        </p:nvSpPr>
        <p:spPr>
          <a:xfrm>
            <a:off x="3610051" y="5431536"/>
            <a:ext cx="662026" cy="457200"/>
          </a:xfrm>
          <a:prstGeom prst="roundRect">
            <a:avLst>
              <a:gd name="adj" fmla="val 20000"/>
            </a:avLst>
          </a:prstGeom>
          <a:solidFill>
            <a:srgbClr val="EDE7F7"/>
          </a:solidFill>
          <a:ln w="12700">
            <a:solidFill>
              <a:srgbClr val="A100FF"/>
            </a:solidFill>
            <a:prstDash val="solid"/>
          </a:ln>
        </p:spPr>
        <p:txBody>
          <a:bodyPr/>
          <a:lstStyle/>
          <a:p>
            <a:endParaRPr lang="en-US"/>
          </a:p>
        </p:txBody>
      </p:sp>
      <p:sp>
        <p:nvSpPr>
          <p:cNvPr id="37" name="Text 32"/>
          <p:cNvSpPr/>
          <p:nvPr/>
        </p:nvSpPr>
        <p:spPr>
          <a:xfrm>
            <a:off x="3610051" y="5431536"/>
            <a:ext cx="662026" cy="457200"/>
          </a:xfrm>
          <a:prstGeom prst="rect">
            <a:avLst/>
          </a:prstGeom>
          <a:noFill/>
          <a:ln/>
        </p:spPr>
        <p:txBody>
          <a:bodyPr wrap="square" lIns="0" tIns="0" rIns="0" bIns="0" rtlCol="0" anchor="ctr"/>
          <a:lstStyle/>
          <a:p>
            <a:pPr marL="0" indent="0" algn="ctr">
              <a:buNone/>
            </a:pPr>
            <a:r>
              <a:rPr lang="en-US" sz="1200" dirty="0">
                <a:solidFill>
                  <a:srgbClr val="1A1526"/>
                </a:solidFill>
                <a:latin typeface="Calibri" pitchFamily="34" charset="0"/>
                <a:ea typeface="Calibri" pitchFamily="34" charset="-122"/>
                <a:cs typeface="Calibri" pitchFamily="34" charset="-120"/>
              </a:rPr>
              <a:t>JWT</a:t>
            </a:r>
            <a:endParaRPr lang="en-US" sz="1200" dirty="0"/>
          </a:p>
        </p:txBody>
      </p:sp>
      <p:sp>
        <p:nvSpPr>
          <p:cNvPr id="38" name="Shape 33"/>
          <p:cNvSpPr/>
          <p:nvPr/>
        </p:nvSpPr>
        <p:spPr>
          <a:xfrm>
            <a:off x="8001000" y="4251960"/>
            <a:ext cx="3520440" cy="1554480"/>
          </a:xfrm>
          <a:prstGeom prst="roundRect">
            <a:avLst>
              <a:gd name="adj" fmla="val 3529"/>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39" name="Shape 34"/>
          <p:cNvSpPr/>
          <p:nvPr/>
        </p:nvSpPr>
        <p:spPr>
          <a:xfrm>
            <a:off x="8229600" y="4526280"/>
            <a:ext cx="502920" cy="502920"/>
          </a:xfrm>
          <a:prstGeom prst="ellipse">
            <a:avLst/>
          </a:prstGeom>
          <a:solidFill>
            <a:srgbClr val="A100FF"/>
          </a:solidFill>
          <a:ln/>
        </p:spPr>
        <p:txBody>
          <a:bodyPr/>
          <a:lstStyle/>
          <a:p>
            <a:endParaRPr lang="en-US"/>
          </a:p>
        </p:txBody>
      </p:sp>
      <p:pic>
        <p:nvPicPr>
          <p:cNvPr id="40" name="Image 3" descr="preencoded.png"/>
          <p:cNvPicPr>
            <a:picLocks noChangeAspect="1"/>
          </p:cNvPicPr>
          <p:nvPr/>
        </p:nvPicPr>
        <p:blipFill>
          <a:blip r:embed="rId7"/>
          <a:stretch>
            <a:fillRect/>
          </a:stretch>
        </p:blipFill>
        <p:spPr>
          <a:xfrm>
            <a:off x="8355330" y="4652010"/>
            <a:ext cx="251460" cy="251460"/>
          </a:xfrm>
          <a:prstGeom prst="rect">
            <a:avLst/>
          </a:prstGeom>
        </p:spPr>
      </p:pic>
      <p:sp>
        <p:nvSpPr>
          <p:cNvPr id="41" name="Text 35"/>
          <p:cNvSpPr/>
          <p:nvPr/>
        </p:nvSpPr>
        <p:spPr>
          <a:xfrm>
            <a:off x="8823960" y="4480560"/>
            <a:ext cx="2560320" cy="274320"/>
          </a:xfrm>
          <a:prstGeom prst="rect">
            <a:avLst/>
          </a:prstGeom>
          <a:noFill/>
          <a:ln/>
        </p:spPr>
        <p:txBody>
          <a:bodyPr wrap="square" lIns="0" tIns="0" rIns="0" bIns="0" rtlCol="0" anchor="ctr"/>
          <a:lstStyle/>
          <a:p>
            <a:pPr marL="0" indent="0">
              <a:buNone/>
            </a:pPr>
            <a:r>
              <a:rPr lang="en-US" sz="1100" b="1" kern="0" spc="100" dirty="0">
                <a:solidFill>
                  <a:srgbClr val="D9C4FF"/>
                </a:solidFill>
                <a:latin typeface="Arial" pitchFamily="34" charset="0"/>
                <a:ea typeface="Arial" pitchFamily="34" charset="-122"/>
                <a:cs typeface="Arial" pitchFamily="34" charset="-120"/>
              </a:rPr>
              <a:t>ARCHITECTURE</a:t>
            </a:r>
            <a:endParaRPr lang="en-US" sz="1100" dirty="0"/>
          </a:p>
        </p:txBody>
      </p:sp>
      <p:sp>
        <p:nvSpPr>
          <p:cNvPr id="42" name="Text 36"/>
          <p:cNvSpPr/>
          <p:nvPr/>
        </p:nvSpPr>
        <p:spPr>
          <a:xfrm>
            <a:off x="8275320" y="5029200"/>
            <a:ext cx="3108960" cy="64008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Retrieval-Augmented Generation</a:t>
            </a:r>
            <a:endParaRPr lang="en-US" sz="1500" dirty="0"/>
          </a:p>
        </p:txBody>
      </p:sp>
      <p:sp>
        <p:nvSpPr>
          <p:cNvPr id="43" name="Text 37"/>
          <p:cNvSpPr/>
          <p:nvPr/>
        </p:nvSpPr>
        <p:spPr>
          <a:xfrm>
            <a:off x="685800" y="5989320"/>
            <a:ext cx="10058400" cy="274320"/>
          </a:xfrm>
          <a:prstGeom prst="rect">
            <a:avLst/>
          </a:prstGeom>
          <a:noFill/>
          <a:ln/>
        </p:spPr>
        <p:txBody>
          <a:bodyPr wrap="square" lIns="0" tIns="0" rIns="0" bIns="0" rtlCol="0" anchor="ctr"/>
          <a:lstStyle/>
          <a:p>
            <a:pPr marL="0" indent="0">
              <a:buNone/>
            </a:pPr>
            <a:r>
              <a:rPr lang="en-US" sz="1000" i="1" dirty="0">
                <a:solidFill>
                  <a:srgbClr val="5A5568"/>
                </a:solidFill>
                <a:latin typeface="Calibri" pitchFamily="34" charset="0"/>
                <a:ea typeface="Calibri" pitchFamily="34" charset="-122"/>
                <a:cs typeface="Calibri" pitchFamily="34" charset="-120"/>
              </a:rPr>
              <a:t>* Illustrative sample metrics — replace with your final measured numbers before presenting.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LIVE DEMONSTRATION</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Product Walkthrough</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16</a:t>
            </a:r>
            <a:endParaRPr lang="en-US" sz="1000" dirty="0"/>
          </a:p>
        </p:txBody>
      </p:sp>
      <p:sp>
        <p:nvSpPr>
          <p:cNvPr id="6" name="Text 4"/>
          <p:cNvSpPr/>
          <p:nvPr/>
        </p:nvSpPr>
        <p:spPr>
          <a:xfrm>
            <a:off x="685800" y="1463040"/>
            <a:ext cx="5669280" cy="640080"/>
          </a:xfrm>
          <a:prstGeom prst="rect">
            <a:avLst/>
          </a:prstGeom>
          <a:noFill/>
          <a:ln/>
        </p:spPr>
        <p:txBody>
          <a:bodyPr wrap="square" lIns="0" tIns="0" rIns="0" bIns="0" rtlCol="0" anchor="ctr"/>
          <a:lstStyle/>
          <a:p>
            <a:pPr marL="0" indent="0">
              <a:lnSpc>
                <a:spcPct val="110000"/>
              </a:lnSpc>
              <a:buNone/>
            </a:pPr>
            <a:r>
              <a:rPr lang="en-US" sz="1300" dirty="0">
                <a:solidFill>
                  <a:srgbClr val="5A5568"/>
                </a:solidFill>
                <a:latin typeface="Calibri" pitchFamily="34" charset="0"/>
                <a:ea typeface="Calibri" pitchFamily="34" charset="-122"/>
                <a:cs typeface="Calibri" pitchFamily="34" charset="-120"/>
              </a:rPr>
              <a:t>Let's see it in action. I'll walk through the core loop end-to-end — from signing in to getting a grounded answer with context carried across turns.</a:t>
            </a:r>
            <a:endParaRPr lang="en-US" sz="1300" dirty="0"/>
          </a:p>
        </p:txBody>
      </p:sp>
      <p:sp>
        <p:nvSpPr>
          <p:cNvPr id="7" name="Shape 5"/>
          <p:cNvSpPr/>
          <p:nvPr/>
        </p:nvSpPr>
        <p:spPr>
          <a:xfrm>
            <a:off x="685800" y="2240280"/>
            <a:ext cx="5669280" cy="713232"/>
          </a:xfrm>
          <a:prstGeom prst="roundRect">
            <a:avLst>
              <a:gd name="adj" fmla="val 769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Text 6"/>
          <p:cNvSpPr/>
          <p:nvPr/>
        </p:nvSpPr>
        <p:spPr>
          <a:xfrm>
            <a:off x="822960" y="2368296"/>
            <a:ext cx="457200" cy="457200"/>
          </a:xfrm>
          <a:prstGeom prst="rect">
            <a:avLst/>
          </a:prstGeom>
          <a:noFill/>
          <a:ln/>
        </p:spPr>
        <p:txBody>
          <a:bodyPr wrap="square" lIns="0" tIns="0" rIns="0" bIns="0" rtlCol="0" anchor="ctr"/>
          <a:lstStyle/>
          <a:p>
            <a:pPr marL="0" indent="0" algn="ctr">
              <a:buNone/>
            </a:pPr>
            <a:r>
              <a:rPr lang="en-US" sz="1900" b="1" dirty="0">
                <a:solidFill>
                  <a:srgbClr val="A100FF"/>
                </a:solidFill>
                <a:latin typeface="Arial" pitchFamily="34" charset="0"/>
                <a:ea typeface="Arial" pitchFamily="34" charset="-122"/>
                <a:cs typeface="Arial" pitchFamily="34" charset="-120"/>
              </a:rPr>
              <a:t>1</a:t>
            </a:r>
            <a:endParaRPr lang="en-US" sz="1900" dirty="0"/>
          </a:p>
        </p:txBody>
      </p:sp>
      <p:sp>
        <p:nvSpPr>
          <p:cNvPr id="9" name="Shape 7"/>
          <p:cNvSpPr/>
          <p:nvPr/>
        </p:nvSpPr>
        <p:spPr>
          <a:xfrm>
            <a:off x="1399032" y="2414016"/>
            <a:ext cx="384048" cy="384048"/>
          </a:xfrm>
          <a:prstGeom prst="ellipse">
            <a:avLst/>
          </a:prstGeom>
          <a:solidFill>
            <a:srgbClr val="E6197E"/>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495044" y="2510028"/>
            <a:ext cx="192024" cy="192024"/>
          </a:xfrm>
          <a:prstGeom prst="rect">
            <a:avLst/>
          </a:prstGeom>
        </p:spPr>
      </p:pic>
      <p:sp>
        <p:nvSpPr>
          <p:cNvPr id="11" name="Text 8"/>
          <p:cNvSpPr/>
          <p:nvPr/>
        </p:nvSpPr>
        <p:spPr>
          <a:xfrm>
            <a:off x="1920240" y="2240280"/>
            <a:ext cx="4343400" cy="713232"/>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User Login   </a:t>
            </a:r>
            <a:r>
              <a:rPr lang="en-US" sz="1000" dirty="0">
                <a:solidFill>
                  <a:srgbClr val="5A5568"/>
                </a:solidFill>
                <a:latin typeface="Calibri" pitchFamily="34" charset="0"/>
                <a:ea typeface="Calibri" pitchFamily="34" charset="-122"/>
                <a:cs typeface="Calibri" pitchFamily="34" charset="-120"/>
              </a:rPr>
              <a:t>secure, token-based sign-in</a:t>
            </a:r>
            <a:endParaRPr lang="en-US" sz="1300" dirty="0"/>
          </a:p>
        </p:txBody>
      </p:sp>
      <p:sp>
        <p:nvSpPr>
          <p:cNvPr id="12" name="Shape 9"/>
          <p:cNvSpPr/>
          <p:nvPr/>
        </p:nvSpPr>
        <p:spPr>
          <a:xfrm>
            <a:off x="685800" y="3072384"/>
            <a:ext cx="5669280" cy="713232"/>
          </a:xfrm>
          <a:prstGeom prst="roundRect">
            <a:avLst>
              <a:gd name="adj" fmla="val 769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3" name="Text 10"/>
          <p:cNvSpPr/>
          <p:nvPr/>
        </p:nvSpPr>
        <p:spPr>
          <a:xfrm>
            <a:off x="822960" y="3200400"/>
            <a:ext cx="457200" cy="457200"/>
          </a:xfrm>
          <a:prstGeom prst="rect">
            <a:avLst/>
          </a:prstGeom>
          <a:noFill/>
          <a:ln/>
        </p:spPr>
        <p:txBody>
          <a:bodyPr wrap="square" lIns="0" tIns="0" rIns="0" bIns="0" rtlCol="0" anchor="ctr"/>
          <a:lstStyle/>
          <a:p>
            <a:pPr marL="0" indent="0" algn="ctr">
              <a:buNone/>
            </a:pPr>
            <a:r>
              <a:rPr lang="en-US" sz="1900" b="1" dirty="0">
                <a:solidFill>
                  <a:srgbClr val="A100FF"/>
                </a:solidFill>
                <a:latin typeface="Arial" pitchFamily="34" charset="0"/>
                <a:ea typeface="Arial" pitchFamily="34" charset="-122"/>
                <a:cs typeface="Arial" pitchFamily="34" charset="-120"/>
              </a:rPr>
              <a:t>2</a:t>
            </a:r>
            <a:endParaRPr lang="en-US" sz="1900" dirty="0"/>
          </a:p>
        </p:txBody>
      </p:sp>
      <p:sp>
        <p:nvSpPr>
          <p:cNvPr id="14" name="Shape 11"/>
          <p:cNvSpPr/>
          <p:nvPr/>
        </p:nvSpPr>
        <p:spPr>
          <a:xfrm>
            <a:off x="1399032" y="3246120"/>
            <a:ext cx="384048" cy="384048"/>
          </a:xfrm>
          <a:prstGeom prst="ellipse">
            <a:avLst/>
          </a:prstGeom>
          <a:solidFill>
            <a:srgbClr val="E6197E"/>
          </a:solidFill>
          <a:ln/>
        </p:spPr>
        <p:txBody>
          <a:bodyPr/>
          <a:lstStyle/>
          <a:p>
            <a:endParaRPr lang="en-US"/>
          </a:p>
        </p:txBody>
      </p:sp>
      <p:pic>
        <p:nvPicPr>
          <p:cNvPr id="15" name="Image 1" descr="preencoded.png"/>
          <p:cNvPicPr>
            <a:picLocks noChangeAspect="1"/>
          </p:cNvPicPr>
          <p:nvPr/>
        </p:nvPicPr>
        <p:blipFill>
          <a:blip r:embed="rId5"/>
          <a:stretch>
            <a:fillRect/>
          </a:stretch>
        </p:blipFill>
        <p:spPr>
          <a:xfrm>
            <a:off x="1495044" y="3342132"/>
            <a:ext cx="192024" cy="192024"/>
          </a:xfrm>
          <a:prstGeom prst="rect">
            <a:avLst/>
          </a:prstGeom>
        </p:spPr>
      </p:pic>
      <p:sp>
        <p:nvSpPr>
          <p:cNvPr id="16" name="Text 12"/>
          <p:cNvSpPr/>
          <p:nvPr/>
        </p:nvSpPr>
        <p:spPr>
          <a:xfrm>
            <a:off x="1920240" y="3072384"/>
            <a:ext cx="4343400" cy="713232"/>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Upload a Policy Document   </a:t>
            </a:r>
            <a:r>
              <a:rPr lang="en-US" sz="1000" dirty="0">
                <a:solidFill>
                  <a:srgbClr val="5A5568"/>
                </a:solidFill>
                <a:latin typeface="Calibri" pitchFamily="34" charset="0"/>
                <a:ea typeface="Calibri" pitchFamily="34" charset="-122"/>
                <a:cs typeface="Calibri" pitchFamily="34" charset="-120"/>
              </a:rPr>
              <a:t>add it to the knowledge base</a:t>
            </a:r>
            <a:endParaRPr lang="en-US" sz="1300" dirty="0"/>
          </a:p>
        </p:txBody>
      </p:sp>
      <p:sp>
        <p:nvSpPr>
          <p:cNvPr id="17" name="Shape 13"/>
          <p:cNvSpPr/>
          <p:nvPr/>
        </p:nvSpPr>
        <p:spPr>
          <a:xfrm>
            <a:off x="685800" y="3904488"/>
            <a:ext cx="5669280" cy="713232"/>
          </a:xfrm>
          <a:prstGeom prst="roundRect">
            <a:avLst>
              <a:gd name="adj" fmla="val 769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8" name="Text 14"/>
          <p:cNvSpPr/>
          <p:nvPr/>
        </p:nvSpPr>
        <p:spPr>
          <a:xfrm>
            <a:off x="822960" y="4032504"/>
            <a:ext cx="457200" cy="457200"/>
          </a:xfrm>
          <a:prstGeom prst="rect">
            <a:avLst/>
          </a:prstGeom>
          <a:noFill/>
          <a:ln/>
        </p:spPr>
        <p:txBody>
          <a:bodyPr wrap="square" lIns="0" tIns="0" rIns="0" bIns="0" rtlCol="0" anchor="ctr"/>
          <a:lstStyle/>
          <a:p>
            <a:pPr marL="0" indent="0" algn="ctr">
              <a:buNone/>
            </a:pPr>
            <a:r>
              <a:rPr lang="en-US" sz="1900" b="1" dirty="0">
                <a:solidFill>
                  <a:srgbClr val="A100FF"/>
                </a:solidFill>
                <a:latin typeface="Arial" pitchFamily="34" charset="0"/>
                <a:ea typeface="Arial" pitchFamily="34" charset="-122"/>
                <a:cs typeface="Arial" pitchFamily="34" charset="-120"/>
              </a:rPr>
              <a:t>3</a:t>
            </a:r>
            <a:endParaRPr lang="en-US" sz="1900" dirty="0"/>
          </a:p>
        </p:txBody>
      </p:sp>
      <p:sp>
        <p:nvSpPr>
          <p:cNvPr id="19" name="Shape 15"/>
          <p:cNvSpPr/>
          <p:nvPr/>
        </p:nvSpPr>
        <p:spPr>
          <a:xfrm>
            <a:off x="1399032" y="4078224"/>
            <a:ext cx="384048" cy="384048"/>
          </a:xfrm>
          <a:prstGeom prst="ellipse">
            <a:avLst/>
          </a:prstGeom>
          <a:solidFill>
            <a:srgbClr val="E6197E"/>
          </a:solidFill>
          <a:ln/>
        </p:spPr>
        <p:txBody>
          <a:bodyPr/>
          <a:lstStyle/>
          <a:p>
            <a:endParaRPr lang="en-US"/>
          </a:p>
        </p:txBody>
      </p:sp>
      <p:pic>
        <p:nvPicPr>
          <p:cNvPr id="20" name="Image 2" descr="preencoded.png"/>
          <p:cNvPicPr>
            <a:picLocks noChangeAspect="1"/>
          </p:cNvPicPr>
          <p:nvPr/>
        </p:nvPicPr>
        <p:blipFill>
          <a:blip r:embed="rId6"/>
          <a:stretch>
            <a:fillRect/>
          </a:stretch>
        </p:blipFill>
        <p:spPr>
          <a:xfrm>
            <a:off x="1495044" y="4174236"/>
            <a:ext cx="192024" cy="192024"/>
          </a:xfrm>
          <a:prstGeom prst="rect">
            <a:avLst/>
          </a:prstGeom>
        </p:spPr>
      </p:pic>
      <p:sp>
        <p:nvSpPr>
          <p:cNvPr id="21" name="Text 16"/>
          <p:cNvSpPr/>
          <p:nvPr/>
        </p:nvSpPr>
        <p:spPr>
          <a:xfrm>
            <a:off x="1920240" y="3904488"/>
            <a:ext cx="4343400" cy="713232"/>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Ask Questions   </a:t>
            </a:r>
            <a:r>
              <a:rPr lang="en-US" sz="1000" dirty="0">
                <a:solidFill>
                  <a:srgbClr val="5A5568"/>
                </a:solidFill>
                <a:latin typeface="Calibri" pitchFamily="34" charset="0"/>
                <a:ea typeface="Calibri" pitchFamily="34" charset="-122"/>
                <a:cs typeface="Calibri" pitchFamily="34" charset="-120"/>
              </a:rPr>
              <a:t>natural-language HR queries</a:t>
            </a:r>
            <a:endParaRPr lang="en-US" sz="1300" dirty="0"/>
          </a:p>
        </p:txBody>
      </p:sp>
      <p:sp>
        <p:nvSpPr>
          <p:cNvPr id="22" name="Shape 17"/>
          <p:cNvSpPr/>
          <p:nvPr/>
        </p:nvSpPr>
        <p:spPr>
          <a:xfrm>
            <a:off x="685800" y="4736592"/>
            <a:ext cx="5669280" cy="713232"/>
          </a:xfrm>
          <a:prstGeom prst="roundRect">
            <a:avLst>
              <a:gd name="adj" fmla="val 769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3" name="Text 18"/>
          <p:cNvSpPr/>
          <p:nvPr/>
        </p:nvSpPr>
        <p:spPr>
          <a:xfrm>
            <a:off x="822960" y="4864608"/>
            <a:ext cx="457200" cy="457200"/>
          </a:xfrm>
          <a:prstGeom prst="rect">
            <a:avLst/>
          </a:prstGeom>
          <a:noFill/>
          <a:ln/>
        </p:spPr>
        <p:txBody>
          <a:bodyPr wrap="square" lIns="0" tIns="0" rIns="0" bIns="0" rtlCol="0" anchor="ctr"/>
          <a:lstStyle/>
          <a:p>
            <a:pPr marL="0" indent="0" algn="ctr">
              <a:buNone/>
            </a:pPr>
            <a:r>
              <a:rPr lang="en-US" sz="1900" b="1" dirty="0">
                <a:solidFill>
                  <a:srgbClr val="A100FF"/>
                </a:solidFill>
                <a:latin typeface="Arial" pitchFamily="34" charset="0"/>
                <a:ea typeface="Arial" pitchFamily="34" charset="-122"/>
                <a:cs typeface="Arial" pitchFamily="34" charset="-120"/>
              </a:rPr>
              <a:t>4</a:t>
            </a:r>
            <a:endParaRPr lang="en-US" sz="1900" dirty="0"/>
          </a:p>
        </p:txBody>
      </p:sp>
      <p:sp>
        <p:nvSpPr>
          <p:cNvPr id="24" name="Shape 19"/>
          <p:cNvSpPr/>
          <p:nvPr/>
        </p:nvSpPr>
        <p:spPr>
          <a:xfrm>
            <a:off x="1399032" y="4910328"/>
            <a:ext cx="384048" cy="384048"/>
          </a:xfrm>
          <a:prstGeom prst="ellipse">
            <a:avLst/>
          </a:prstGeom>
          <a:solidFill>
            <a:srgbClr val="E6197E"/>
          </a:solidFill>
          <a:ln/>
        </p:spPr>
        <p:txBody>
          <a:bodyPr/>
          <a:lstStyle/>
          <a:p>
            <a:endParaRPr lang="en-US"/>
          </a:p>
        </p:txBody>
      </p:sp>
      <p:pic>
        <p:nvPicPr>
          <p:cNvPr id="25" name="Image 3" descr="preencoded.png"/>
          <p:cNvPicPr>
            <a:picLocks noChangeAspect="1"/>
          </p:cNvPicPr>
          <p:nvPr/>
        </p:nvPicPr>
        <p:blipFill>
          <a:blip r:embed="rId7"/>
          <a:stretch>
            <a:fillRect/>
          </a:stretch>
        </p:blipFill>
        <p:spPr>
          <a:xfrm>
            <a:off x="1495044" y="5006340"/>
            <a:ext cx="192024" cy="192024"/>
          </a:xfrm>
          <a:prstGeom prst="rect">
            <a:avLst/>
          </a:prstGeom>
        </p:spPr>
      </p:pic>
      <p:sp>
        <p:nvSpPr>
          <p:cNvPr id="26" name="Text 20"/>
          <p:cNvSpPr/>
          <p:nvPr/>
        </p:nvSpPr>
        <p:spPr>
          <a:xfrm>
            <a:off x="1920240" y="4736592"/>
            <a:ext cx="4343400" cy="713232"/>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Show Conversation Context   </a:t>
            </a:r>
            <a:r>
              <a:rPr lang="en-US" sz="1000" dirty="0">
                <a:solidFill>
                  <a:srgbClr val="5A5568"/>
                </a:solidFill>
                <a:latin typeface="Calibri" pitchFamily="34" charset="0"/>
                <a:ea typeface="Calibri" pitchFamily="34" charset="-122"/>
                <a:cs typeface="Calibri" pitchFamily="34" charset="-120"/>
              </a:rPr>
              <a:t>follow-ups understood in context</a:t>
            </a:r>
            <a:endParaRPr lang="en-US" sz="1300" dirty="0"/>
          </a:p>
        </p:txBody>
      </p:sp>
      <p:sp>
        <p:nvSpPr>
          <p:cNvPr id="27" name="Shape 21"/>
          <p:cNvSpPr/>
          <p:nvPr/>
        </p:nvSpPr>
        <p:spPr>
          <a:xfrm>
            <a:off x="685800" y="5568696"/>
            <a:ext cx="5669280" cy="713232"/>
          </a:xfrm>
          <a:prstGeom prst="roundRect">
            <a:avLst>
              <a:gd name="adj" fmla="val 769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8" name="Text 22"/>
          <p:cNvSpPr/>
          <p:nvPr/>
        </p:nvSpPr>
        <p:spPr>
          <a:xfrm>
            <a:off x="822960" y="5696712"/>
            <a:ext cx="457200" cy="457200"/>
          </a:xfrm>
          <a:prstGeom prst="rect">
            <a:avLst/>
          </a:prstGeom>
          <a:noFill/>
          <a:ln/>
        </p:spPr>
        <p:txBody>
          <a:bodyPr wrap="square" lIns="0" tIns="0" rIns="0" bIns="0" rtlCol="0" anchor="ctr"/>
          <a:lstStyle/>
          <a:p>
            <a:pPr marL="0" indent="0" algn="ctr">
              <a:buNone/>
            </a:pPr>
            <a:r>
              <a:rPr lang="en-US" sz="1900" b="1" dirty="0">
                <a:solidFill>
                  <a:srgbClr val="A100FF"/>
                </a:solidFill>
                <a:latin typeface="Arial" pitchFamily="34" charset="0"/>
                <a:ea typeface="Arial" pitchFamily="34" charset="-122"/>
                <a:cs typeface="Arial" pitchFamily="34" charset="-120"/>
              </a:rPr>
              <a:t>5</a:t>
            </a:r>
            <a:endParaRPr lang="en-US" sz="1900" dirty="0"/>
          </a:p>
        </p:txBody>
      </p:sp>
      <p:sp>
        <p:nvSpPr>
          <p:cNvPr id="29" name="Shape 23"/>
          <p:cNvSpPr/>
          <p:nvPr/>
        </p:nvSpPr>
        <p:spPr>
          <a:xfrm>
            <a:off x="1399032" y="5742432"/>
            <a:ext cx="384048" cy="384048"/>
          </a:xfrm>
          <a:prstGeom prst="ellipse">
            <a:avLst/>
          </a:prstGeom>
          <a:solidFill>
            <a:srgbClr val="E6197E"/>
          </a:solidFill>
          <a:ln/>
        </p:spPr>
        <p:txBody>
          <a:bodyPr/>
          <a:lstStyle/>
          <a:p>
            <a:endParaRPr lang="en-US"/>
          </a:p>
        </p:txBody>
      </p:sp>
      <p:pic>
        <p:nvPicPr>
          <p:cNvPr id="30" name="Image 4" descr="preencoded.png"/>
          <p:cNvPicPr>
            <a:picLocks noChangeAspect="1"/>
          </p:cNvPicPr>
          <p:nvPr/>
        </p:nvPicPr>
        <p:blipFill>
          <a:blip r:embed="rId8"/>
          <a:stretch>
            <a:fillRect/>
          </a:stretch>
        </p:blipFill>
        <p:spPr>
          <a:xfrm>
            <a:off x="1495044" y="5838444"/>
            <a:ext cx="192024" cy="192024"/>
          </a:xfrm>
          <a:prstGeom prst="rect">
            <a:avLst/>
          </a:prstGeom>
        </p:spPr>
      </p:pic>
      <p:sp>
        <p:nvSpPr>
          <p:cNvPr id="31" name="Text 24"/>
          <p:cNvSpPr/>
          <p:nvPr/>
        </p:nvSpPr>
        <p:spPr>
          <a:xfrm>
            <a:off x="1920240" y="5568696"/>
            <a:ext cx="4343400" cy="713232"/>
          </a:xfrm>
          <a:prstGeom prst="rect">
            <a:avLst/>
          </a:prstGeom>
          <a:noFill/>
          <a:ln/>
        </p:spPr>
        <p:txBody>
          <a:bodyPr wrap="square" lIns="0" tIns="0" rIns="0" bIns="0" rtlCol="0" anchor="ctr"/>
          <a:lstStyle/>
          <a:p>
            <a:pPr marL="0" indent="0">
              <a:buNone/>
            </a:pPr>
            <a:r>
              <a:rPr lang="en-US" sz="1300" b="1" dirty="0">
                <a:solidFill>
                  <a:srgbClr val="1A1526"/>
                </a:solidFill>
                <a:latin typeface="Calibri" pitchFamily="34" charset="0"/>
                <a:ea typeface="Calibri" pitchFamily="34" charset="-122"/>
                <a:cs typeface="Calibri" pitchFamily="34" charset="-120"/>
              </a:rPr>
              <a:t>Response Generation   </a:t>
            </a:r>
            <a:r>
              <a:rPr lang="en-US" sz="1000" dirty="0">
                <a:solidFill>
                  <a:srgbClr val="5A5568"/>
                </a:solidFill>
                <a:latin typeface="Calibri" pitchFamily="34" charset="0"/>
                <a:ea typeface="Calibri" pitchFamily="34" charset="-122"/>
                <a:cs typeface="Calibri" pitchFamily="34" charset="-120"/>
              </a:rPr>
              <a:t>grounded answer from the document</a:t>
            </a:r>
            <a:endParaRPr lang="en-US" sz="1300" dirty="0"/>
          </a:p>
        </p:txBody>
      </p:sp>
      <p:sp>
        <p:nvSpPr>
          <p:cNvPr id="32" name="Shape 25"/>
          <p:cNvSpPr/>
          <p:nvPr/>
        </p:nvSpPr>
        <p:spPr>
          <a:xfrm>
            <a:off x="6766560" y="1691640"/>
            <a:ext cx="4754880" cy="4023360"/>
          </a:xfrm>
          <a:prstGeom prst="roundRect">
            <a:avLst>
              <a:gd name="adj" fmla="val 1364"/>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33" name="Shape 26"/>
          <p:cNvSpPr/>
          <p:nvPr/>
        </p:nvSpPr>
        <p:spPr>
          <a:xfrm>
            <a:off x="8641080" y="2834640"/>
            <a:ext cx="1005840" cy="1005840"/>
          </a:xfrm>
          <a:prstGeom prst="ellipse">
            <a:avLst/>
          </a:prstGeom>
          <a:solidFill>
            <a:srgbClr val="A100FF"/>
          </a:solidFill>
          <a:ln/>
        </p:spPr>
        <p:txBody>
          <a:bodyPr/>
          <a:lstStyle/>
          <a:p>
            <a:endParaRPr lang="en-US"/>
          </a:p>
        </p:txBody>
      </p:sp>
      <p:pic>
        <p:nvPicPr>
          <p:cNvPr id="34" name="Image 5" descr="preencoded.png"/>
          <p:cNvPicPr>
            <a:picLocks noChangeAspect="1"/>
          </p:cNvPicPr>
          <p:nvPr/>
        </p:nvPicPr>
        <p:blipFill>
          <a:blip r:embed="rId9"/>
          <a:stretch>
            <a:fillRect/>
          </a:stretch>
        </p:blipFill>
        <p:spPr>
          <a:xfrm>
            <a:off x="8892540" y="3086100"/>
            <a:ext cx="502920" cy="502920"/>
          </a:xfrm>
          <a:prstGeom prst="rect">
            <a:avLst/>
          </a:prstGeom>
        </p:spPr>
      </p:pic>
      <p:sp>
        <p:nvSpPr>
          <p:cNvPr id="35" name="Text 27"/>
          <p:cNvSpPr/>
          <p:nvPr/>
        </p:nvSpPr>
        <p:spPr>
          <a:xfrm>
            <a:off x="6766560" y="4069080"/>
            <a:ext cx="475488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Live Product Demo</a:t>
            </a:r>
            <a:endParaRPr lang="en-US" sz="1900" dirty="0"/>
          </a:p>
        </p:txBody>
      </p:sp>
      <p:sp>
        <p:nvSpPr>
          <p:cNvPr id="36" name="Text 28"/>
          <p:cNvSpPr/>
          <p:nvPr/>
        </p:nvSpPr>
        <p:spPr>
          <a:xfrm>
            <a:off x="6766560" y="4572000"/>
            <a:ext cx="4754880" cy="365760"/>
          </a:xfrm>
          <a:prstGeom prst="rect">
            <a:avLst/>
          </a:prstGeom>
          <a:noFill/>
          <a:ln/>
        </p:spPr>
        <p:txBody>
          <a:bodyPr wrap="square" lIns="0" tIns="0" rIns="0" bIns="0" rtlCol="0" anchor="ctr"/>
          <a:lstStyle/>
          <a:p>
            <a:pPr marL="0" indent="0" algn="ctr">
              <a:buNone/>
            </a:pPr>
            <a:r>
              <a:rPr lang="en-US" sz="1250" dirty="0">
                <a:solidFill>
                  <a:srgbClr val="CBB8EA"/>
                </a:solidFill>
                <a:latin typeface="Calibri" pitchFamily="34" charset="0"/>
                <a:ea typeface="Calibri" pitchFamily="34" charset="-122"/>
                <a:cs typeface="Calibri" pitchFamily="34" charset="-120"/>
              </a:rPr>
              <a:t>Switching to the running application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CHALLENGES &amp; SOLUTIONS</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What I Overcame</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17</a:t>
            </a:r>
            <a:endParaRPr lang="en-US" sz="1000" dirty="0"/>
          </a:p>
        </p:txBody>
      </p:sp>
      <p:sp>
        <p:nvSpPr>
          <p:cNvPr id="6" name="Text 4"/>
          <p:cNvSpPr/>
          <p:nvPr/>
        </p:nvSpPr>
        <p:spPr>
          <a:xfrm>
            <a:off x="685800" y="1463040"/>
            <a:ext cx="10881360" cy="45720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Building end-to-end solo meant hitting real obstacles across the stack — here's what was hard, and the approach that got each one working.</a:t>
            </a:r>
            <a:endParaRPr lang="en-US" sz="1300" dirty="0"/>
          </a:p>
        </p:txBody>
      </p:sp>
      <p:sp>
        <p:nvSpPr>
          <p:cNvPr id="7" name="Shape 5"/>
          <p:cNvSpPr/>
          <p:nvPr/>
        </p:nvSpPr>
        <p:spPr>
          <a:xfrm>
            <a:off x="685800" y="2057400"/>
            <a:ext cx="5394960" cy="4023360"/>
          </a:xfrm>
          <a:prstGeom prst="roundRect">
            <a:avLst>
              <a:gd name="adj" fmla="val 136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2057400"/>
            <a:ext cx="73152" cy="4023360"/>
          </a:xfrm>
          <a:prstGeom prst="rect">
            <a:avLst/>
          </a:prstGeom>
          <a:solidFill>
            <a:srgbClr val="E6197E"/>
          </a:solidFill>
          <a:ln/>
        </p:spPr>
        <p:txBody>
          <a:bodyPr/>
          <a:lstStyle/>
          <a:p>
            <a:endParaRPr lang="en-US"/>
          </a:p>
        </p:txBody>
      </p:sp>
      <p:sp>
        <p:nvSpPr>
          <p:cNvPr id="9" name="Shape 7"/>
          <p:cNvSpPr/>
          <p:nvPr/>
        </p:nvSpPr>
        <p:spPr>
          <a:xfrm>
            <a:off x="978408" y="2331720"/>
            <a:ext cx="603504" cy="603504"/>
          </a:xfrm>
          <a:prstGeom prst="ellipse">
            <a:avLst/>
          </a:prstGeom>
          <a:solidFill>
            <a:srgbClr val="E6197E"/>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129284" y="2482596"/>
            <a:ext cx="301752" cy="301752"/>
          </a:xfrm>
          <a:prstGeom prst="rect">
            <a:avLst/>
          </a:prstGeom>
        </p:spPr>
      </p:pic>
      <p:sp>
        <p:nvSpPr>
          <p:cNvPr id="11" name="Text 8"/>
          <p:cNvSpPr/>
          <p:nvPr/>
        </p:nvSpPr>
        <p:spPr>
          <a:xfrm>
            <a:off x="1691640" y="2331720"/>
            <a:ext cx="4206240" cy="603504"/>
          </a:xfrm>
          <a:prstGeom prst="rect">
            <a:avLst/>
          </a:prstGeom>
          <a:noFill/>
          <a:ln/>
        </p:spPr>
        <p:txBody>
          <a:bodyPr wrap="square" lIns="0" tIns="0" rIns="0" bIns="0" rtlCol="0" anchor="ctr"/>
          <a:lstStyle/>
          <a:p>
            <a:pPr marL="0" indent="0">
              <a:buNone/>
            </a:pPr>
            <a:r>
              <a:rPr lang="en-US" sz="1650" b="1" dirty="0">
                <a:solidFill>
                  <a:srgbClr val="1A1526"/>
                </a:solidFill>
                <a:latin typeface="Arial" pitchFamily="34" charset="0"/>
                <a:ea typeface="Arial" pitchFamily="34" charset="-122"/>
                <a:cs typeface="Arial" pitchFamily="34" charset="-120"/>
              </a:rPr>
              <a:t>Challenges Faced</a:t>
            </a:r>
            <a:endParaRPr lang="en-US" sz="1650" dirty="0"/>
          </a:p>
        </p:txBody>
      </p:sp>
      <p:sp>
        <p:nvSpPr>
          <p:cNvPr id="12" name="Text 9"/>
          <p:cNvSpPr/>
          <p:nvPr/>
        </p:nvSpPr>
        <p:spPr>
          <a:xfrm>
            <a:off x="978408" y="3108960"/>
            <a:ext cx="4846320" cy="2788920"/>
          </a:xfrm>
          <a:prstGeom prst="rect">
            <a:avLst/>
          </a:prstGeom>
          <a:noFill/>
          <a:ln/>
        </p:spPr>
        <p:txBody>
          <a:bodyPr wrap="square" lIns="0" tIns="0" rIns="0" bIns="0" rtlCol="0" anchor="t"/>
          <a:lstStyle/>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Full-stack scope</a:t>
            </a:r>
            <a:r>
              <a:rPr lang="en-US" sz="1200" dirty="0">
                <a:solidFill>
                  <a:srgbClr val="5A5568"/>
                </a:solidFill>
                <a:latin typeface="Calibri" pitchFamily="34" charset="0"/>
                <a:ea typeface="Calibri" pitchFamily="34" charset="-122"/>
                <a:cs typeface="Calibri" pitchFamily="34" charset="-120"/>
              </a:rPr>
              <a:t>  —  owning frontend, backend, data, and AI at once</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Auth integration</a:t>
            </a:r>
            <a:r>
              <a:rPr lang="en-US" sz="1200" dirty="0">
                <a:solidFill>
                  <a:srgbClr val="5A5568"/>
                </a:solidFill>
                <a:latin typeface="Calibri" pitchFamily="34" charset="0"/>
                <a:ea typeface="Calibri" pitchFamily="34" charset="-122"/>
                <a:cs typeface="Calibri" pitchFamily="34" charset="-120"/>
              </a:rPr>
              <a:t>  —  wiring secure tokens across every layer</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Context retention</a:t>
            </a:r>
            <a:r>
              <a:rPr lang="en-US" sz="1200" dirty="0">
                <a:solidFill>
                  <a:srgbClr val="5A5568"/>
                </a:solidFill>
                <a:latin typeface="Calibri" pitchFamily="34" charset="0"/>
                <a:ea typeface="Calibri" pitchFamily="34" charset="-122"/>
                <a:cs typeface="Calibri" pitchFamily="34" charset="-120"/>
              </a:rPr>
              <a:t>  —  keeping conversation memory across turns</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Retrieval accuracy</a:t>
            </a:r>
            <a:r>
              <a:rPr lang="en-US" sz="1200" dirty="0">
                <a:solidFill>
                  <a:srgbClr val="5A5568"/>
                </a:solidFill>
                <a:latin typeface="Calibri" pitchFamily="34" charset="0"/>
                <a:ea typeface="Calibri" pitchFamily="34" charset="-122"/>
                <a:cs typeface="Calibri" pitchFamily="34" charset="-120"/>
              </a:rPr>
              <a:t>  —  returning the right chunks, not near-misses</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AI integration</a:t>
            </a:r>
            <a:r>
              <a:rPr lang="en-US" sz="1200" dirty="0">
                <a:solidFill>
                  <a:srgbClr val="5A5568"/>
                </a:solidFill>
                <a:latin typeface="Calibri" pitchFamily="34" charset="0"/>
                <a:ea typeface="Calibri" pitchFamily="34" charset="-122"/>
                <a:cs typeface="Calibri" pitchFamily="34" charset="-120"/>
              </a:rPr>
              <a:t>  —  making the LLM and retrieval work together</a:t>
            </a:r>
            <a:endParaRPr lang="en-US" sz="1200" dirty="0"/>
          </a:p>
        </p:txBody>
      </p:sp>
      <p:sp>
        <p:nvSpPr>
          <p:cNvPr id="13" name="Shape 10"/>
          <p:cNvSpPr/>
          <p:nvPr/>
        </p:nvSpPr>
        <p:spPr>
          <a:xfrm>
            <a:off x="6400800" y="2057400"/>
            <a:ext cx="5394960" cy="4023360"/>
          </a:xfrm>
          <a:prstGeom prst="roundRect">
            <a:avLst>
              <a:gd name="adj" fmla="val 1364"/>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6400800" y="2057400"/>
            <a:ext cx="73152" cy="4023360"/>
          </a:xfrm>
          <a:prstGeom prst="rect">
            <a:avLst/>
          </a:prstGeom>
          <a:solidFill>
            <a:srgbClr val="A100FF"/>
          </a:solidFill>
          <a:ln/>
        </p:spPr>
        <p:txBody>
          <a:bodyPr/>
          <a:lstStyle/>
          <a:p>
            <a:endParaRPr lang="en-US"/>
          </a:p>
        </p:txBody>
      </p:sp>
      <p:sp>
        <p:nvSpPr>
          <p:cNvPr id="15" name="Shape 12"/>
          <p:cNvSpPr/>
          <p:nvPr/>
        </p:nvSpPr>
        <p:spPr>
          <a:xfrm>
            <a:off x="6693408" y="2331720"/>
            <a:ext cx="603504" cy="603504"/>
          </a:xfrm>
          <a:prstGeom prst="ellipse">
            <a:avLst/>
          </a:prstGeom>
          <a:solidFill>
            <a:srgbClr val="A100FF"/>
          </a:solidFill>
          <a:ln/>
        </p:spPr>
        <p:txBody>
          <a:bodyPr/>
          <a:lstStyle/>
          <a:p>
            <a:endParaRPr lang="en-US"/>
          </a:p>
        </p:txBody>
      </p:sp>
      <p:pic>
        <p:nvPicPr>
          <p:cNvPr id="16" name="Image 1" descr="preencoded.png"/>
          <p:cNvPicPr>
            <a:picLocks noChangeAspect="1"/>
          </p:cNvPicPr>
          <p:nvPr/>
        </p:nvPicPr>
        <p:blipFill>
          <a:blip r:embed="rId5"/>
          <a:stretch>
            <a:fillRect/>
          </a:stretch>
        </p:blipFill>
        <p:spPr>
          <a:xfrm>
            <a:off x="6844284" y="2482596"/>
            <a:ext cx="301752" cy="301752"/>
          </a:xfrm>
          <a:prstGeom prst="rect">
            <a:avLst/>
          </a:prstGeom>
        </p:spPr>
      </p:pic>
      <p:sp>
        <p:nvSpPr>
          <p:cNvPr id="17" name="Text 13"/>
          <p:cNvSpPr/>
          <p:nvPr/>
        </p:nvSpPr>
        <p:spPr>
          <a:xfrm>
            <a:off x="7406640" y="2331720"/>
            <a:ext cx="4206240" cy="603504"/>
          </a:xfrm>
          <a:prstGeom prst="rect">
            <a:avLst/>
          </a:prstGeom>
          <a:noFill/>
          <a:ln/>
        </p:spPr>
        <p:txBody>
          <a:bodyPr wrap="square" lIns="0" tIns="0" rIns="0" bIns="0" rtlCol="0" anchor="ctr"/>
          <a:lstStyle/>
          <a:p>
            <a:pPr marL="0" indent="0">
              <a:buNone/>
            </a:pPr>
            <a:r>
              <a:rPr lang="en-US" sz="1650" b="1" dirty="0">
                <a:solidFill>
                  <a:srgbClr val="A100FF"/>
                </a:solidFill>
                <a:latin typeface="Arial" pitchFamily="34" charset="0"/>
                <a:ea typeface="Arial" pitchFamily="34" charset="-122"/>
                <a:cs typeface="Arial" pitchFamily="34" charset="-120"/>
              </a:rPr>
              <a:t>How I Solved Them</a:t>
            </a:r>
            <a:endParaRPr lang="en-US" sz="1650" dirty="0"/>
          </a:p>
        </p:txBody>
      </p:sp>
      <p:sp>
        <p:nvSpPr>
          <p:cNvPr id="18" name="Text 14"/>
          <p:cNvSpPr/>
          <p:nvPr/>
        </p:nvSpPr>
        <p:spPr>
          <a:xfrm>
            <a:off x="6693408" y="3108960"/>
            <a:ext cx="4846320" cy="2788920"/>
          </a:xfrm>
          <a:prstGeom prst="rect">
            <a:avLst/>
          </a:prstGeom>
          <a:noFill/>
          <a:ln/>
        </p:spPr>
        <p:txBody>
          <a:bodyPr wrap="square" lIns="0" tIns="0" rIns="0" bIns="0" rtlCol="0" anchor="t"/>
          <a:lstStyle/>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Incremental delivery</a:t>
            </a:r>
            <a:r>
              <a:rPr lang="en-US" sz="1200" dirty="0">
                <a:solidFill>
                  <a:srgbClr val="5A5568"/>
                </a:solidFill>
                <a:latin typeface="Calibri" pitchFamily="34" charset="0"/>
                <a:ea typeface="Calibri" pitchFamily="34" charset="-122"/>
                <a:cs typeface="Calibri" pitchFamily="34" charset="-120"/>
              </a:rPr>
              <a:t>  —  built and shipped one layer at a time</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Modular architecture</a:t>
            </a:r>
            <a:r>
              <a:rPr lang="en-US" sz="1200" dirty="0">
                <a:solidFill>
                  <a:srgbClr val="5A5568"/>
                </a:solidFill>
                <a:latin typeface="Calibri" pitchFamily="34" charset="0"/>
                <a:ea typeface="Calibri" pitchFamily="34" charset="-122"/>
                <a:cs typeface="Calibri" pitchFamily="34" charset="-120"/>
              </a:rPr>
              <a:t>  —  isolated components with clear boundaries</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Continuous testing</a:t>
            </a:r>
            <a:r>
              <a:rPr lang="en-US" sz="1200" dirty="0">
                <a:solidFill>
                  <a:srgbClr val="5A5568"/>
                </a:solidFill>
                <a:latin typeface="Calibri" pitchFamily="34" charset="0"/>
                <a:ea typeface="Calibri" pitchFamily="34" charset="-122"/>
                <a:cs typeface="Calibri" pitchFamily="34" charset="-120"/>
              </a:rPr>
              <a:t>  —  validated each piece before moving on</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Tuned retrieval</a:t>
            </a:r>
            <a:r>
              <a:rPr lang="en-US" sz="1200" dirty="0">
                <a:solidFill>
                  <a:srgbClr val="5A5568"/>
                </a:solidFill>
                <a:latin typeface="Calibri" pitchFamily="34" charset="0"/>
                <a:ea typeface="Calibri" pitchFamily="34" charset="-122"/>
                <a:cs typeface="Calibri" pitchFamily="34" charset="-120"/>
              </a:rPr>
              <a:t>  —  adjusted chunking and prompts for accuracy</a:t>
            </a:r>
            <a:endParaRPr lang="en-US" sz="1200" dirty="0"/>
          </a:p>
          <a:p>
            <a:pPr marL="203200" indent="-203200">
              <a:buSzPct val="100000"/>
              <a:buChar char="•"/>
            </a:pPr>
            <a:r>
              <a:rPr lang="en-US" sz="1200" b="1" dirty="0">
                <a:solidFill>
                  <a:srgbClr val="1A1526"/>
                </a:solidFill>
                <a:latin typeface="Calibri" pitchFamily="34" charset="0"/>
                <a:ea typeface="Calibri" pitchFamily="34" charset="-122"/>
                <a:cs typeface="Calibri" pitchFamily="34" charset="-120"/>
              </a:rPr>
              <a:t>Clear data split</a:t>
            </a:r>
            <a:r>
              <a:rPr lang="en-US" sz="1200" dirty="0">
                <a:solidFill>
                  <a:srgbClr val="5A5568"/>
                </a:solidFill>
                <a:latin typeface="Calibri" pitchFamily="34" charset="0"/>
                <a:ea typeface="Calibri" pitchFamily="34" charset="-122"/>
                <a:cs typeface="Calibri" pitchFamily="34" charset="-120"/>
              </a:rPr>
              <a:t>  —  SQLite and FAISS each own their role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KEY LEARNINGS</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What I Took Away</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18</a:t>
            </a:r>
            <a:endParaRPr lang="en-US" sz="1000" dirty="0"/>
          </a:p>
        </p:txBody>
      </p:sp>
      <p:sp>
        <p:nvSpPr>
          <p:cNvPr id="6" name="Text 4"/>
          <p:cNvSpPr/>
          <p:nvPr/>
        </p:nvSpPr>
        <p:spPr>
          <a:xfrm>
            <a:off x="685800" y="1463040"/>
            <a:ext cx="10881360" cy="45720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Beyond a working product, the internship built two kinds of muscle — deep technical skills and the professional judgment to apply them.</a:t>
            </a:r>
            <a:endParaRPr lang="en-US" sz="1300" dirty="0"/>
          </a:p>
        </p:txBody>
      </p:sp>
      <p:sp>
        <p:nvSpPr>
          <p:cNvPr id="7" name="Shape 5"/>
          <p:cNvSpPr/>
          <p:nvPr/>
        </p:nvSpPr>
        <p:spPr>
          <a:xfrm>
            <a:off x="685800" y="2057400"/>
            <a:ext cx="5394960" cy="4023360"/>
          </a:xfrm>
          <a:prstGeom prst="roundRect">
            <a:avLst>
              <a:gd name="adj" fmla="val 136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2057400"/>
            <a:ext cx="73152" cy="4023360"/>
          </a:xfrm>
          <a:prstGeom prst="rect">
            <a:avLst/>
          </a:prstGeom>
          <a:solidFill>
            <a:srgbClr val="A100FF"/>
          </a:solidFill>
          <a:ln/>
        </p:spPr>
        <p:txBody>
          <a:bodyPr/>
          <a:lstStyle/>
          <a:p>
            <a:endParaRPr lang="en-US"/>
          </a:p>
        </p:txBody>
      </p:sp>
      <p:sp>
        <p:nvSpPr>
          <p:cNvPr id="9" name="Shape 7"/>
          <p:cNvSpPr/>
          <p:nvPr/>
        </p:nvSpPr>
        <p:spPr>
          <a:xfrm>
            <a:off x="1005840" y="2377440"/>
            <a:ext cx="749808" cy="749808"/>
          </a:xfrm>
          <a:prstGeom prst="ellipse">
            <a:avLst/>
          </a:prstGeom>
          <a:solidFill>
            <a:srgbClr val="A100FF"/>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193292" y="2564892"/>
            <a:ext cx="374904" cy="374904"/>
          </a:xfrm>
          <a:prstGeom prst="rect">
            <a:avLst/>
          </a:prstGeom>
        </p:spPr>
      </p:pic>
      <p:sp>
        <p:nvSpPr>
          <p:cNvPr id="11" name="Text 8"/>
          <p:cNvSpPr/>
          <p:nvPr/>
        </p:nvSpPr>
        <p:spPr>
          <a:xfrm>
            <a:off x="1920240" y="2377440"/>
            <a:ext cx="3931920" cy="749808"/>
          </a:xfrm>
          <a:prstGeom prst="rect">
            <a:avLst/>
          </a:prstGeom>
          <a:noFill/>
          <a:ln/>
        </p:spPr>
        <p:txBody>
          <a:bodyPr wrap="square" lIns="0" tIns="0" rIns="0" bIns="0" rtlCol="0" anchor="ctr"/>
          <a:lstStyle/>
          <a:p>
            <a:pPr marL="0" indent="0">
              <a:buNone/>
            </a:pPr>
            <a:r>
              <a:rPr lang="en-US" sz="1800" b="1" dirty="0">
                <a:solidFill>
                  <a:srgbClr val="1A1526"/>
                </a:solidFill>
                <a:latin typeface="Arial" pitchFamily="34" charset="0"/>
                <a:ea typeface="Arial" pitchFamily="34" charset="-122"/>
                <a:cs typeface="Arial" pitchFamily="34" charset="-120"/>
              </a:rPr>
              <a:t>Technical Skills</a:t>
            </a:r>
            <a:endParaRPr lang="en-US" sz="1800" dirty="0"/>
          </a:p>
        </p:txBody>
      </p:sp>
      <p:sp>
        <p:nvSpPr>
          <p:cNvPr id="12" name="Text 9"/>
          <p:cNvSpPr/>
          <p:nvPr/>
        </p:nvSpPr>
        <p:spPr>
          <a:xfrm>
            <a:off x="1051560" y="3337560"/>
            <a:ext cx="4663440" cy="2560320"/>
          </a:xfrm>
          <a:prstGeom prst="rect">
            <a:avLst/>
          </a:prstGeom>
          <a:noFill/>
          <a:ln/>
        </p:spPr>
        <p:txBody>
          <a:bodyPr wrap="square" lIns="0" tIns="0" rIns="0" bIns="0" rtlCol="0" anchor="t"/>
          <a:lstStyle/>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Full-stack development</a:t>
            </a:r>
            <a:r>
              <a:rPr lang="en-US" sz="1300" dirty="0">
                <a:solidFill>
                  <a:srgbClr val="5A5568"/>
                </a:solidFill>
                <a:latin typeface="Calibri" pitchFamily="34" charset="0"/>
                <a:ea typeface="Calibri" pitchFamily="34" charset="-122"/>
                <a:cs typeface="Calibri" pitchFamily="34" charset="-120"/>
              </a:rPr>
              <a:t>  —  frontend to backend to database</a:t>
            </a:r>
            <a:endParaRPr lang="en-US" sz="1300" dirty="0"/>
          </a:p>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AI system design</a:t>
            </a:r>
            <a:r>
              <a:rPr lang="en-US" sz="1300" dirty="0">
                <a:solidFill>
                  <a:srgbClr val="5A5568"/>
                </a:solidFill>
                <a:latin typeface="Calibri" pitchFamily="34" charset="0"/>
                <a:ea typeface="Calibri" pitchFamily="34" charset="-122"/>
                <a:cs typeface="Calibri" pitchFamily="34" charset="-120"/>
              </a:rPr>
              <a:t>  —  building a real RAG pipeline</a:t>
            </a:r>
            <a:endParaRPr lang="en-US" sz="1300" dirty="0"/>
          </a:p>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Security implementation</a:t>
            </a:r>
            <a:r>
              <a:rPr lang="en-US" sz="1300" dirty="0">
                <a:solidFill>
                  <a:srgbClr val="5A5568"/>
                </a:solidFill>
                <a:latin typeface="Calibri" pitchFamily="34" charset="0"/>
                <a:ea typeface="Calibri" pitchFamily="34" charset="-122"/>
                <a:cs typeface="Calibri" pitchFamily="34" charset="-120"/>
              </a:rPr>
              <a:t>  —  auth, hashing, data isolation</a:t>
            </a:r>
            <a:endParaRPr lang="en-US" sz="1300" dirty="0"/>
          </a:p>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Semantic search</a:t>
            </a:r>
            <a:r>
              <a:rPr lang="en-US" sz="1300" dirty="0">
                <a:solidFill>
                  <a:srgbClr val="5A5568"/>
                </a:solidFill>
                <a:latin typeface="Calibri" pitchFamily="34" charset="0"/>
                <a:ea typeface="Calibri" pitchFamily="34" charset="-122"/>
                <a:cs typeface="Calibri" pitchFamily="34" charset="-120"/>
              </a:rPr>
              <a:t>  —  embeddings and vector retrieval</a:t>
            </a:r>
            <a:endParaRPr lang="en-US" sz="1300" dirty="0"/>
          </a:p>
        </p:txBody>
      </p:sp>
      <p:sp>
        <p:nvSpPr>
          <p:cNvPr id="13" name="Shape 10"/>
          <p:cNvSpPr/>
          <p:nvPr/>
        </p:nvSpPr>
        <p:spPr>
          <a:xfrm>
            <a:off x="6400800" y="2057400"/>
            <a:ext cx="5394960" cy="4023360"/>
          </a:xfrm>
          <a:prstGeom prst="roundRect">
            <a:avLst>
              <a:gd name="adj" fmla="val 1364"/>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4" name="Shape 11"/>
          <p:cNvSpPr/>
          <p:nvPr/>
        </p:nvSpPr>
        <p:spPr>
          <a:xfrm>
            <a:off x="6400800" y="2057400"/>
            <a:ext cx="73152" cy="4023360"/>
          </a:xfrm>
          <a:prstGeom prst="rect">
            <a:avLst/>
          </a:prstGeom>
          <a:solidFill>
            <a:srgbClr val="1D4ED8"/>
          </a:solidFill>
          <a:ln/>
        </p:spPr>
        <p:txBody>
          <a:bodyPr/>
          <a:lstStyle/>
          <a:p>
            <a:endParaRPr lang="en-US"/>
          </a:p>
        </p:txBody>
      </p:sp>
      <p:sp>
        <p:nvSpPr>
          <p:cNvPr id="15" name="Shape 12"/>
          <p:cNvSpPr/>
          <p:nvPr/>
        </p:nvSpPr>
        <p:spPr>
          <a:xfrm>
            <a:off x="6720840" y="2377440"/>
            <a:ext cx="749808" cy="749808"/>
          </a:xfrm>
          <a:prstGeom prst="ellipse">
            <a:avLst/>
          </a:prstGeom>
          <a:solidFill>
            <a:srgbClr val="1D4ED8"/>
          </a:solidFill>
          <a:ln/>
        </p:spPr>
        <p:txBody>
          <a:bodyPr/>
          <a:lstStyle/>
          <a:p>
            <a:endParaRPr lang="en-US"/>
          </a:p>
        </p:txBody>
      </p:sp>
      <p:pic>
        <p:nvPicPr>
          <p:cNvPr id="16" name="Image 1" descr="preencoded.png"/>
          <p:cNvPicPr>
            <a:picLocks noChangeAspect="1"/>
          </p:cNvPicPr>
          <p:nvPr/>
        </p:nvPicPr>
        <p:blipFill>
          <a:blip r:embed="rId5"/>
          <a:stretch>
            <a:fillRect/>
          </a:stretch>
        </p:blipFill>
        <p:spPr>
          <a:xfrm>
            <a:off x="6908292" y="2564892"/>
            <a:ext cx="374904" cy="374904"/>
          </a:xfrm>
          <a:prstGeom prst="rect">
            <a:avLst/>
          </a:prstGeom>
        </p:spPr>
      </p:pic>
      <p:sp>
        <p:nvSpPr>
          <p:cNvPr id="17" name="Text 13"/>
          <p:cNvSpPr/>
          <p:nvPr/>
        </p:nvSpPr>
        <p:spPr>
          <a:xfrm>
            <a:off x="7635240" y="2377440"/>
            <a:ext cx="3931920" cy="749808"/>
          </a:xfrm>
          <a:prstGeom prst="rect">
            <a:avLst/>
          </a:prstGeom>
          <a:noFill/>
          <a:ln/>
        </p:spPr>
        <p:txBody>
          <a:bodyPr wrap="square" lIns="0" tIns="0" rIns="0" bIns="0" rtlCol="0" anchor="ctr"/>
          <a:lstStyle/>
          <a:p>
            <a:pPr marL="0" indent="0">
              <a:buNone/>
            </a:pPr>
            <a:r>
              <a:rPr lang="en-US" sz="1800" b="1" dirty="0">
                <a:solidFill>
                  <a:srgbClr val="1A1526"/>
                </a:solidFill>
                <a:latin typeface="Arial" pitchFamily="34" charset="0"/>
                <a:ea typeface="Arial" pitchFamily="34" charset="-122"/>
                <a:cs typeface="Arial" pitchFamily="34" charset="-120"/>
              </a:rPr>
              <a:t>Professional Skills</a:t>
            </a:r>
            <a:endParaRPr lang="en-US" sz="1800" dirty="0"/>
          </a:p>
        </p:txBody>
      </p:sp>
      <p:sp>
        <p:nvSpPr>
          <p:cNvPr id="18" name="Text 14"/>
          <p:cNvSpPr/>
          <p:nvPr/>
        </p:nvSpPr>
        <p:spPr>
          <a:xfrm>
            <a:off x="6766560" y="3337560"/>
            <a:ext cx="4663440" cy="2560320"/>
          </a:xfrm>
          <a:prstGeom prst="rect">
            <a:avLst/>
          </a:prstGeom>
          <a:noFill/>
          <a:ln/>
        </p:spPr>
        <p:txBody>
          <a:bodyPr wrap="square" lIns="0" tIns="0" rIns="0" bIns="0" rtlCol="0" anchor="t"/>
          <a:lstStyle/>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Problem solving</a:t>
            </a:r>
            <a:r>
              <a:rPr lang="en-US" sz="1300" dirty="0">
                <a:solidFill>
                  <a:srgbClr val="5A5568"/>
                </a:solidFill>
                <a:latin typeface="Calibri" pitchFamily="34" charset="0"/>
                <a:ea typeface="Calibri" pitchFamily="34" charset="-122"/>
                <a:cs typeface="Calibri" pitchFamily="34" charset="-120"/>
              </a:rPr>
              <a:t>  —  breaking big problems into steps</a:t>
            </a:r>
            <a:endParaRPr lang="en-US" sz="1300" dirty="0"/>
          </a:p>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Systems thinking</a:t>
            </a:r>
            <a:r>
              <a:rPr lang="en-US" sz="1300" dirty="0">
                <a:solidFill>
                  <a:srgbClr val="5A5568"/>
                </a:solidFill>
                <a:latin typeface="Calibri" pitchFamily="34" charset="0"/>
                <a:ea typeface="Calibri" pitchFamily="34" charset="-122"/>
                <a:cs typeface="Calibri" pitchFamily="34" charset="-120"/>
              </a:rPr>
              <a:t>  —  seeing how the pieces connect</a:t>
            </a:r>
            <a:endParaRPr lang="en-US" sz="1300" dirty="0"/>
          </a:p>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Communication</a:t>
            </a:r>
            <a:r>
              <a:rPr lang="en-US" sz="1300" dirty="0">
                <a:solidFill>
                  <a:srgbClr val="5A5568"/>
                </a:solidFill>
                <a:latin typeface="Calibri" pitchFamily="34" charset="0"/>
                <a:ea typeface="Calibri" pitchFamily="34" charset="-122"/>
                <a:cs typeface="Calibri" pitchFamily="34" charset="-120"/>
              </a:rPr>
              <a:t>  —  explaining tech to any audience</a:t>
            </a:r>
            <a:endParaRPr lang="en-US" sz="1300" dirty="0"/>
          </a:p>
          <a:p>
            <a:pPr marL="203200" indent="-203200">
              <a:lnSpc>
                <a:spcPct val="105000"/>
              </a:lnSpc>
              <a:buSzPct val="100000"/>
              <a:buChar char="•"/>
            </a:pPr>
            <a:r>
              <a:rPr lang="en-US" sz="1300" b="1" dirty="0">
                <a:solidFill>
                  <a:srgbClr val="1A1526"/>
                </a:solidFill>
                <a:latin typeface="Calibri" pitchFamily="34" charset="0"/>
                <a:ea typeface="Calibri" pitchFamily="34" charset="-122"/>
                <a:cs typeface="Calibri" pitchFamily="34" charset="-120"/>
              </a:rPr>
              <a:t>Requirement analysis</a:t>
            </a:r>
            <a:r>
              <a:rPr lang="en-US" sz="1300" dirty="0">
                <a:solidFill>
                  <a:srgbClr val="5A5568"/>
                </a:solidFill>
                <a:latin typeface="Calibri" pitchFamily="34" charset="0"/>
                <a:ea typeface="Calibri" pitchFamily="34" charset="-122"/>
                <a:cs typeface="Calibri" pitchFamily="34" charset="-120"/>
              </a:rPr>
              <a:t>  —  turning needs into a design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FUTURE ENHANCEMENTS</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The Road Ahead</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19</a:t>
            </a:r>
            <a:endParaRPr lang="en-US" sz="1000" dirty="0"/>
          </a:p>
        </p:txBody>
      </p:sp>
      <p:sp>
        <p:nvSpPr>
          <p:cNvPr id="6" name="Text 4"/>
          <p:cNvSpPr/>
          <p:nvPr/>
        </p:nvSpPr>
        <p:spPr>
          <a:xfrm>
            <a:off x="685800" y="1417320"/>
            <a:ext cx="10881360" cy="457200"/>
          </a:xfrm>
          <a:prstGeom prst="rect">
            <a:avLst/>
          </a:prstGeom>
          <a:noFill/>
          <a:ln/>
        </p:spPr>
        <p:txBody>
          <a:bodyPr wrap="square" lIns="0" tIns="0" rIns="0" bIns="0" rtlCol="0" anchor="ctr"/>
          <a:lstStyle/>
          <a:p>
            <a:pPr marL="0" indent="0">
              <a:buNone/>
            </a:pPr>
            <a:r>
              <a:rPr lang="en-US" sz="1300" dirty="0">
                <a:solidFill>
                  <a:srgbClr val="5A5568"/>
                </a:solidFill>
                <a:latin typeface="Calibri" pitchFamily="34" charset="0"/>
                <a:ea typeface="Calibri" pitchFamily="34" charset="-122"/>
                <a:cs typeface="Calibri" pitchFamily="34" charset="-120"/>
              </a:rPr>
              <a:t>PRISM today is a strong foundation. Each next version widens who it serves and how deeply it integrates into the enterprise.</a:t>
            </a:r>
            <a:endParaRPr lang="en-US" sz="1300" dirty="0"/>
          </a:p>
        </p:txBody>
      </p:sp>
      <p:sp>
        <p:nvSpPr>
          <p:cNvPr id="7" name="Shape 5"/>
          <p:cNvSpPr/>
          <p:nvPr/>
        </p:nvSpPr>
        <p:spPr>
          <a:xfrm>
            <a:off x="1651864" y="2176272"/>
            <a:ext cx="8887968" cy="0"/>
          </a:xfrm>
          <a:prstGeom prst="line">
            <a:avLst/>
          </a:prstGeom>
          <a:noFill/>
          <a:ln w="25400">
            <a:solidFill>
              <a:srgbClr val="A100FF"/>
            </a:solidFill>
            <a:prstDash val="solid"/>
          </a:ln>
        </p:spPr>
        <p:txBody>
          <a:bodyPr/>
          <a:lstStyle/>
          <a:p>
            <a:endParaRPr lang="en-US"/>
          </a:p>
        </p:txBody>
      </p:sp>
      <p:sp>
        <p:nvSpPr>
          <p:cNvPr id="8" name="Shape 6"/>
          <p:cNvSpPr/>
          <p:nvPr/>
        </p:nvSpPr>
        <p:spPr>
          <a:xfrm>
            <a:off x="1560424" y="2084832"/>
            <a:ext cx="182880" cy="182880"/>
          </a:xfrm>
          <a:prstGeom prst="ellipse">
            <a:avLst/>
          </a:prstGeom>
          <a:solidFill>
            <a:srgbClr val="A100FF"/>
          </a:solidFill>
          <a:ln w="25400">
            <a:solidFill>
              <a:srgbClr val="FFFFFF"/>
            </a:solidFill>
            <a:prstDash val="solid"/>
          </a:ln>
        </p:spPr>
        <p:txBody>
          <a:bodyPr/>
          <a:lstStyle/>
          <a:p>
            <a:endParaRPr lang="en-US"/>
          </a:p>
        </p:txBody>
      </p:sp>
      <p:sp>
        <p:nvSpPr>
          <p:cNvPr id="9" name="Shape 7"/>
          <p:cNvSpPr/>
          <p:nvPr/>
        </p:nvSpPr>
        <p:spPr>
          <a:xfrm>
            <a:off x="609448" y="2468880"/>
            <a:ext cx="2084832" cy="3063240"/>
          </a:xfrm>
          <a:prstGeom prst="roundRect">
            <a:avLst>
              <a:gd name="adj" fmla="val 263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0" name="Text 8"/>
          <p:cNvSpPr/>
          <p:nvPr/>
        </p:nvSpPr>
        <p:spPr>
          <a:xfrm>
            <a:off x="609448" y="2670048"/>
            <a:ext cx="2084832" cy="502920"/>
          </a:xfrm>
          <a:prstGeom prst="rect">
            <a:avLst/>
          </a:prstGeom>
          <a:noFill/>
          <a:ln/>
        </p:spPr>
        <p:txBody>
          <a:bodyPr wrap="square" lIns="0" tIns="0" rIns="0" bIns="0" rtlCol="0" anchor="ctr"/>
          <a:lstStyle/>
          <a:p>
            <a:pPr marL="0" indent="0" algn="ctr">
              <a:buNone/>
            </a:pPr>
            <a:r>
              <a:rPr lang="en-US" sz="2500" b="1" dirty="0">
                <a:solidFill>
                  <a:srgbClr val="A100FF"/>
                </a:solidFill>
                <a:latin typeface="Arial" pitchFamily="34" charset="0"/>
                <a:ea typeface="Arial" pitchFamily="34" charset="-122"/>
                <a:cs typeface="Arial" pitchFamily="34" charset="-120"/>
              </a:rPr>
              <a:t>V2</a:t>
            </a:r>
            <a:endParaRPr lang="en-US" sz="2500" dirty="0"/>
          </a:p>
        </p:txBody>
      </p:sp>
      <p:sp>
        <p:nvSpPr>
          <p:cNvPr id="11" name="Shape 9"/>
          <p:cNvSpPr/>
          <p:nvPr/>
        </p:nvSpPr>
        <p:spPr>
          <a:xfrm>
            <a:off x="1304392" y="3291840"/>
            <a:ext cx="694944" cy="694944"/>
          </a:xfrm>
          <a:prstGeom prst="ellipse">
            <a:avLst/>
          </a:prstGeom>
          <a:solidFill>
            <a:srgbClr val="A100FF"/>
          </a:solidFill>
          <a:ln/>
        </p:spPr>
        <p:txBody>
          <a:bodyPr/>
          <a:lstStyle/>
          <a:p>
            <a:endParaRPr lang="en-US"/>
          </a:p>
        </p:txBody>
      </p:sp>
      <p:pic>
        <p:nvPicPr>
          <p:cNvPr id="12" name="Image 0" descr="preencoded.png"/>
          <p:cNvPicPr>
            <a:picLocks noChangeAspect="1"/>
          </p:cNvPicPr>
          <p:nvPr/>
        </p:nvPicPr>
        <p:blipFill>
          <a:blip r:embed="rId4"/>
          <a:stretch>
            <a:fillRect/>
          </a:stretch>
        </p:blipFill>
        <p:spPr>
          <a:xfrm>
            <a:off x="1478128" y="3465576"/>
            <a:ext cx="347472" cy="347472"/>
          </a:xfrm>
          <a:prstGeom prst="rect">
            <a:avLst/>
          </a:prstGeom>
        </p:spPr>
      </p:pic>
      <p:sp>
        <p:nvSpPr>
          <p:cNvPr id="13" name="Text 10"/>
          <p:cNvSpPr/>
          <p:nvPr/>
        </p:nvSpPr>
        <p:spPr>
          <a:xfrm>
            <a:off x="746608" y="4114800"/>
            <a:ext cx="1810512" cy="548640"/>
          </a:xfrm>
          <a:prstGeom prst="rect">
            <a:avLst/>
          </a:prstGeom>
          <a:noFill/>
          <a:ln/>
        </p:spPr>
        <p:txBody>
          <a:bodyPr wrap="square" lIns="0" tIns="0" rIns="0" bIns="0" rtlCol="0" anchor="t"/>
          <a:lstStyle/>
          <a:p>
            <a:pPr marL="0" indent="0" algn="ctr">
              <a:lnSpc>
                <a:spcPct val="100000"/>
              </a:lnSpc>
              <a:buNone/>
            </a:pPr>
            <a:r>
              <a:rPr lang="en-US" sz="1250" b="1" dirty="0">
                <a:solidFill>
                  <a:srgbClr val="1A1526"/>
                </a:solidFill>
                <a:latin typeface="Calibri" pitchFamily="34" charset="0"/>
                <a:ea typeface="Calibri" pitchFamily="34" charset="-122"/>
                <a:cs typeface="Calibri" pitchFamily="34" charset="-120"/>
              </a:rPr>
              <a:t>Role-Based Access</a:t>
            </a:r>
            <a:endParaRPr lang="en-US" sz="1250" dirty="0"/>
          </a:p>
        </p:txBody>
      </p:sp>
      <p:sp>
        <p:nvSpPr>
          <p:cNvPr id="14" name="Text 11"/>
          <p:cNvSpPr/>
          <p:nvPr/>
        </p:nvSpPr>
        <p:spPr>
          <a:xfrm>
            <a:off x="746608" y="4663440"/>
            <a:ext cx="1810512" cy="731520"/>
          </a:xfrm>
          <a:prstGeom prst="rect">
            <a:avLst/>
          </a:prstGeom>
          <a:noFill/>
          <a:ln/>
        </p:spPr>
        <p:txBody>
          <a:bodyPr wrap="square" lIns="0" tIns="0" rIns="0" bIns="0" rtlCol="0" anchor="t"/>
          <a:lstStyle/>
          <a:p>
            <a:pPr marL="0" indent="0" algn="ctr">
              <a:lnSpc>
                <a:spcPct val="100000"/>
              </a:lnSpc>
              <a:buNone/>
            </a:pPr>
            <a:r>
              <a:rPr lang="en-US" sz="1000" dirty="0">
                <a:solidFill>
                  <a:srgbClr val="5A5568"/>
                </a:solidFill>
                <a:latin typeface="Calibri" pitchFamily="34" charset="0"/>
                <a:ea typeface="Calibri" pitchFamily="34" charset="-122"/>
                <a:cs typeface="Calibri" pitchFamily="34" charset="-120"/>
              </a:rPr>
              <a:t>permissions tuned to each role</a:t>
            </a:r>
            <a:endParaRPr lang="en-US" sz="1000" dirty="0"/>
          </a:p>
        </p:txBody>
      </p:sp>
      <p:sp>
        <p:nvSpPr>
          <p:cNvPr id="15" name="Shape 12"/>
          <p:cNvSpPr/>
          <p:nvPr/>
        </p:nvSpPr>
        <p:spPr>
          <a:xfrm>
            <a:off x="3782416" y="2084832"/>
            <a:ext cx="182880" cy="182880"/>
          </a:xfrm>
          <a:prstGeom prst="ellipse">
            <a:avLst/>
          </a:prstGeom>
          <a:solidFill>
            <a:srgbClr val="A100FF"/>
          </a:solidFill>
          <a:ln w="25400">
            <a:solidFill>
              <a:srgbClr val="FFFFFF"/>
            </a:solidFill>
            <a:prstDash val="solid"/>
          </a:ln>
        </p:spPr>
        <p:txBody>
          <a:bodyPr/>
          <a:lstStyle/>
          <a:p>
            <a:endParaRPr lang="en-US"/>
          </a:p>
        </p:txBody>
      </p:sp>
      <p:sp>
        <p:nvSpPr>
          <p:cNvPr id="16" name="Shape 13"/>
          <p:cNvSpPr/>
          <p:nvPr/>
        </p:nvSpPr>
        <p:spPr>
          <a:xfrm>
            <a:off x="2831440" y="2468880"/>
            <a:ext cx="2084832" cy="3063240"/>
          </a:xfrm>
          <a:prstGeom prst="roundRect">
            <a:avLst>
              <a:gd name="adj" fmla="val 2632"/>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7" name="Text 14"/>
          <p:cNvSpPr/>
          <p:nvPr/>
        </p:nvSpPr>
        <p:spPr>
          <a:xfrm>
            <a:off x="2831440" y="2670048"/>
            <a:ext cx="2084832" cy="502920"/>
          </a:xfrm>
          <a:prstGeom prst="rect">
            <a:avLst/>
          </a:prstGeom>
          <a:noFill/>
          <a:ln/>
        </p:spPr>
        <p:txBody>
          <a:bodyPr wrap="square" lIns="0" tIns="0" rIns="0" bIns="0" rtlCol="0" anchor="ctr"/>
          <a:lstStyle/>
          <a:p>
            <a:pPr marL="0" indent="0" algn="ctr">
              <a:buNone/>
            </a:pPr>
            <a:r>
              <a:rPr lang="en-US" sz="2500" b="1" dirty="0">
                <a:solidFill>
                  <a:srgbClr val="A100FF"/>
                </a:solidFill>
                <a:latin typeface="Arial" pitchFamily="34" charset="0"/>
                <a:ea typeface="Arial" pitchFamily="34" charset="-122"/>
                <a:cs typeface="Arial" pitchFamily="34" charset="-120"/>
              </a:rPr>
              <a:t>V3</a:t>
            </a:r>
            <a:endParaRPr lang="en-US" sz="2500" dirty="0"/>
          </a:p>
        </p:txBody>
      </p:sp>
      <p:sp>
        <p:nvSpPr>
          <p:cNvPr id="18" name="Shape 15"/>
          <p:cNvSpPr/>
          <p:nvPr/>
        </p:nvSpPr>
        <p:spPr>
          <a:xfrm>
            <a:off x="3526384" y="3291840"/>
            <a:ext cx="694944" cy="694944"/>
          </a:xfrm>
          <a:prstGeom prst="ellipse">
            <a:avLst/>
          </a:prstGeom>
          <a:solidFill>
            <a:srgbClr val="E6197E"/>
          </a:solidFill>
          <a:ln/>
        </p:spPr>
        <p:txBody>
          <a:bodyPr/>
          <a:lstStyle/>
          <a:p>
            <a:endParaRPr lang="en-US"/>
          </a:p>
        </p:txBody>
      </p:sp>
      <p:pic>
        <p:nvPicPr>
          <p:cNvPr id="19" name="Image 1" descr="preencoded.png"/>
          <p:cNvPicPr>
            <a:picLocks noChangeAspect="1"/>
          </p:cNvPicPr>
          <p:nvPr/>
        </p:nvPicPr>
        <p:blipFill>
          <a:blip r:embed="rId5"/>
          <a:stretch>
            <a:fillRect/>
          </a:stretch>
        </p:blipFill>
        <p:spPr>
          <a:xfrm>
            <a:off x="3700120" y="3465576"/>
            <a:ext cx="347472" cy="347472"/>
          </a:xfrm>
          <a:prstGeom prst="rect">
            <a:avLst/>
          </a:prstGeom>
        </p:spPr>
      </p:pic>
      <p:sp>
        <p:nvSpPr>
          <p:cNvPr id="20" name="Text 16"/>
          <p:cNvSpPr/>
          <p:nvPr/>
        </p:nvSpPr>
        <p:spPr>
          <a:xfrm>
            <a:off x="2968600" y="4114800"/>
            <a:ext cx="1810512" cy="548640"/>
          </a:xfrm>
          <a:prstGeom prst="rect">
            <a:avLst/>
          </a:prstGeom>
          <a:noFill/>
          <a:ln/>
        </p:spPr>
        <p:txBody>
          <a:bodyPr wrap="square" lIns="0" tIns="0" rIns="0" bIns="0" rtlCol="0" anchor="t"/>
          <a:lstStyle/>
          <a:p>
            <a:pPr marL="0" indent="0" algn="ctr">
              <a:lnSpc>
                <a:spcPct val="100000"/>
              </a:lnSpc>
              <a:buNone/>
            </a:pPr>
            <a:r>
              <a:rPr lang="en-US" sz="1250" b="1" dirty="0">
                <a:solidFill>
                  <a:srgbClr val="1A1526"/>
                </a:solidFill>
                <a:latin typeface="Calibri" pitchFamily="34" charset="0"/>
                <a:ea typeface="Calibri" pitchFamily="34" charset="-122"/>
                <a:cs typeface="Calibri" pitchFamily="34" charset="-120"/>
              </a:rPr>
              <a:t>Multi-Department KB</a:t>
            </a:r>
            <a:endParaRPr lang="en-US" sz="1250" dirty="0"/>
          </a:p>
        </p:txBody>
      </p:sp>
      <p:sp>
        <p:nvSpPr>
          <p:cNvPr id="21" name="Text 17"/>
          <p:cNvSpPr/>
          <p:nvPr/>
        </p:nvSpPr>
        <p:spPr>
          <a:xfrm>
            <a:off x="2968600" y="4663440"/>
            <a:ext cx="1810512" cy="731520"/>
          </a:xfrm>
          <a:prstGeom prst="rect">
            <a:avLst/>
          </a:prstGeom>
          <a:noFill/>
          <a:ln/>
        </p:spPr>
        <p:txBody>
          <a:bodyPr wrap="square" lIns="0" tIns="0" rIns="0" bIns="0" rtlCol="0" anchor="t"/>
          <a:lstStyle/>
          <a:p>
            <a:pPr marL="0" indent="0" algn="ctr">
              <a:lnSpc>
                <a:spcPct val="100000"/>
              </a:lnSpc>
              <a:buNone/>
            </a:pPr>
            <a:r>
              <a:rPr lang="en-US" sz="1000" dirty="0">
                <a:solidFill>
                  <a:srgbClr val="5A5568"/>
                </a:solidFill>
                <a:latin typeface="Calibri" pitchFamily="34" charset="0"/>
                <a:ea typeface="Calibri" pitchFamily="34" charset="-122"/>
                <a:cs typeface="Calibri" pitchFamily="34" charset="-120"/>
              </a:rPr>
              <a:t>knowledge beyond HR</a:t>
            </a:r>
            <a:endParaRPr lang="en-US" sz="1000" dirty="0"/>
          </a:p>
        </p:txBody>
      </p:sp>
      <p:sp>
        <p:nvSpPr>
          <p:cNvPr id="22" name="Shape 18"/>
          <p:cNvSpPr/>
          <p:nvPr/>
        </p:nvSpPr>
        <p:spPr>
          <a:xfrm>
            <a:off x="6004408" y="2084832"/>
            <a:ext cx="182880" cy="182880"/>
          </a:xfrm>
          <a:prstGeom prst="ellipse">
            <a:avLst/>
          </a:prstGeom>
          <a:solidFill>
            <a:srgbClr val="A100FF"/>
          </a:solidFill>
          <a:ln w="25400">
            <a:solidFill>
              <a:srgbClr val="FFFFFF"/>
            </a:solidFill>
            <a:prstDash val="solid"/>
          </a:ln>
        </p:spPr>
        <p:txBody>
          <a:bodyPr/>
          <a:lstStyle/>
          <a:p>
            <a:endParaRPr lang="en-US"/>
          </a:p>
        </p:txBody>
      </p:sp>
      <p:sp>
        <p:nvSpPr>
          <p:cNvPr id="23" name="Shape 19"/>
          <p:cNvSpPr/>
          <p:nvPr/>
        </p:nvSpPr>
        <p:spPr>
          <a:xfrm>
            <a:off x="5053432" y="2468880"/>
            <a:ext cx="2084832" cy="3063240"/>
          </a:xfrm>
          <a:prstGeom prst="roundRect">
            <a:avLst>
              <a:gd name="adj" fmla="val 263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4" name="Text 20"/>
          <p:cNvSpPr/>
          <p:nvPr/>
        </p:nvSpPr>
        <p:spPr>
          <a:xfrm>
            <a:off x="5053432" y="2670048"/>
            <a:ext cx="2084832" cy="502920"/>
          </a:xfrm>
          <a:prstGeom prst="rect">
            <a:avLst/>
          </a:prstGeom>
          <a:noFill/>
          <a:ln/>
        </p:spPr>
        <p:txBody>
          <a:bodyPr wrap="square" lIns="0" tIns="0" rIns="0" bIns="0" rtlCol="0" anchor="ctr"/>
          <a:lstStyle/>
          <a:p>
            <a:pPr marL="0" indent="0" algn="ctr">
              <a:buNone/>
            </a:pPr>
            <a:r>
              <a:rPr lang="en-US" sz="2500" b="1" dirty="0">
                <a:solidFill>
                  <a:srgbClr val="A100FF"/>
                </a:solidFill>
                <a:latin typeface="Arial" pitchFamily="34" charset="0"/>
                <a:ea typeface="Arial" pitchFamily="34" charset="-122"/>
                <a:cs typeface="Arial" pitchFamily="34" charset="-120"/>
              </a:rPr>
              <a:t>V4</a:t>
            </a:r>
            <a:endParaRPr lang="en-US" sz="2500" dirty="0"/>
          </a:p>
        </p:txBody>
      </p:sp>
      <p:sp>
        <p:nvSpPr>
          <p:cNvPr id="25" name="Shape 21"/>
          <p:cNvSpPr/>
          <p:nvPr/>
        </p:nvSpPr>
        <p:spPr>
          <a:xfrm>
            <a:off x="5748376" y="3291840"/>
            <a:ext cx="694944" cy="694944"/>
          </a:xfrm>
          <a:prstGeom prst="ellipse">
            <a:avLst/>
          </a:prstGeom>
          <a:solidFill>
            <a:srgbClr val="1D4ED8"/>
          </a:solidFill>
          <a:ln/>
        </p:spPr>
        <p:txBody>
          <a:bodyPr/>
          <a:lstStyle/>
          <a:p>
            <a:endParaRPr lang="en-US"/>
          </a:p>
        </p:txBody>
      </p:sp>
      <p:pic>
        <p:nvPicPr>
          <p:cNvPr id="26" name="Image 2" descr="preencoded.png"/>
          <p:cNvPicPr>
            <a:picLocks noChangeAspect="1"/>
          </p:cNvPicPr>
          <p:nvPr/>
        </p:nvPicPr>
        <p:blipFill>
          <a:blip r:embed="rId6"/>
          <a:stretch>
            <a:fillRect/>
          </a:stretch>
        </p:blipFill>
        <p:spPr>
          <a:xfrm>
            <a:off x="5922112" y="3465576"/>
            <a:ext cx="347472" cy="347472"/>
          </a:xfrm>
          <a:prstGeom prst="rect">
            <a:avLst/>
          </a:prstGeom>
        </p:spPr>
      </p:pic>
      <p:sp>
        <p:nvSpPr>
          <p:cNvPr id="27" name="Text 22"/>
          <p:cNvSpPr/>
          <p:nvPr/>
        </p:nvSpPr>
        <p:spPr>
          <a:xfrm>
            <a:off x="5190592" y="4114800"/>
            <a:ext cx="1810512" cy="548640"/>
          </a:xfrm>
          <a:prstGeom prst="rect">
            <a:avLst/>
          </a:prstGeom>
          <a:noFill/>
          <a:ln/>
        </p:spPr>
        <p:txBody>
          <a:bodyPr wrap="square" lIns="0" tIns="0" rIns="0" bIns="0" rtlCol="0" anchor="t"/>
          <a:lstStyle/>
          <a:p>
            <a:pPr marL="0" indent="0" algn="ctr">
              <a:lnSpc>
                <a:spcPct val="100000"/>
              </a:lnSpc>
              <a:buNone/>
            </a:pPr>
            <a:r>
              <a:rPr lang="en-US" sz="1250" b="1" dirty="0">
                <a:solidFill>
                  <a:srgbClr val="1A1526"/>
                </a:solidFill>
                <a:latin typeface="Calibri" pitchFamily="34" charset="0"/>
                <a:ea typeface="Calibri" pitchFamily="34" charset="-122"/>
                <a:cs typeface="Calibri" pitchFamily="34" charset="-120"/>
              </a:rPr>
              <a:t>Analytics Dashboard</a:t>
            </a:r>
            <a:endParaRPr lang="en-US" sz="1250" dirty="0"/>
          </a:p>
        </p:txBody>
      </p:sp>
      <p:sp>
        <p:nvSpPr>
          <p:cNvPr id="28" name="Text 23"/>
          <p:cNvSpPr/>
          <p:nvPr/>
        </p:nvSpPr>
        <p:spPr>
          <a:xfrm>
            <a:off x="5190592" y="4663440"/>
            <a:ext cx="1810512" cy="731520"/>
          </a:xfrm>
          <a:prstGeom prst="rect">
            <a:avLst/>
          </a:prstGeom>
          <a:noFill/>
          <a:ln/>
        </p:spPr>
        <p:txBody>
          <a:bodyPr wrap="square" lIns="0" tIns="0" rIns="0" bIns="0" rtlCol="0" anchor="t"/>
          <a:lstStyle/>
          <a:p>
            <a:pPr marL="0" indent="0" algn="ctr">
              <a:lnSpc>
                <a:spcPct val="100000"/>
              </a:lnSpc>
              <a:buNone/>
            </a:pPr>
            <a:r>
              <a:rPr lang="en-US" sz="1000" dirty="0">
                <a:solidFill>
                  <a:srgbClr val="5A5568"/>
                </a:solidFill>
                <a:latin typeface="Calibri" pitchFamily="34" charset="0"/>
                <a:ea typeface="Calibri" pitchFamily="34" charset="-122"/>
                <a:cs typeface="Calibri" pitchFamily="34" charset="-120"/>
              </a:rPr>
              <a:t>insight into usage &amp; gaps</a:t>
            </a:r>
            <a:endParaRPr lang="en-US" sz="1000" dirty="0"/>
          </a:p>
        </p:txBody>
      </p:sp>
      <p:sp>
        <p:nvSpPr>
          <p:cNvPr id="29" name="Shape 24"/>
          <p:cNvSpPr/>
          <p:nvPr/>
        </p:nvSpPr>
        <p:spPr>
          <a:xfrm>
            <a:off x="8226400" y="2084832"/>
            <a:ext cx="182880" cy="182880"/>
          </a:xfrm>
          <a:prstGeom prst="ellipse">
            <a:avLst/>
          </a:prstGeom>
          <a:solidFill>
            <a:srgbClr val="A100FF"/>
          </a:solidFill>
          <a:ln w="25400">
            <a:solidFill>
              <a:srgbClr val="FFFFFF"/>
            </a:solidFill>
            <a:prstDash val="solid"/>
          </a:ln>
        </p:spPr>
        <p:txBody>
          <a:bodyPr/>
          <a:lstStyle/>
          <a:p>
            <a:endParaRPr lang="en-US"/>
          </a:p>
        </p:txBody>
      </p:sp>
      <p:sp>
        <p:nvSpPr>
          <p:cNvPr id="30" name="Shape 25"/>
          <p:cNvSpPr/>
          <p:nvPr/>
        </p:nvSpPr>
        <p:spPr>
          <a:xfrm>
            <a:off x="7275424" y="2468880"/>
            <a:ext cx="2084832" cy="3063240"/>
          </a:xfrm>
          <a:prstGeom prst="roundRect">
            <a:avLst>
              <a:gd name="adj" fmla="val 2632"/>
            </a:avLst>
          </a:prstGeom>
          <a:solidFill>
            <a:srgbClr val="EDE7F7"/>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1" name="Text 26"/>
          <p:cNvSpPr/>
          <p:nvPr/>
        </p:nvSpPr>
        <p:spPr>
          <a:xfrm>
            <a:off x="7275424" y="2670048"/>
            <a:ext cx="2084832" cy="502920"/>
          </a:xfrm>
          <a:prstGeom prst="rect">
            <a:avLst/>
          </a:prstGeom>
          <a:noFill/>
          <a:ln/>
        </p:spPr>
        <p:txBody>
          <a:bodyPr wrap="square" lIns="0" tIns="0" rIns="0" bIns="0" rtlCol="0" anchor="ctr"/>
          <a:lstStyle/>
          <a:p>
            <a:pPr marL="0" indent="0" algn="ctr">
              <a:buNone/>
            </a:pPr>
            <a:r>
              <a:rPr lang="en-US" sz="2500" b="1" dirty="0">
                <a:solidFill>
                  <a:srgbClr val="A100FF"/>
                </a:solidFill>
                <a:latin typeface="Arial" pitchFamily="34" charset="0"/>
                <a:ea typeface="Arial" pitchFamily="34" charset="-122"/>
                <a:cs typeface="Arial" pitchFamily="34" charset="-120"/>
              </a:rPr>
              <a:t>V5</a:t>
            </a:r>
            <a:endParaRPr lang="en-US" sz="2500" dirty="0"/>
          </a:p>
        </p:txBody>
      </p:sp>
      <p:sp>
        <p:nvSpPr>
          <p:cNvPr id="32" name="Shape 27"/>
          <p:cNvSpPr/>
          <p:nvPr/>
        </p:nvSpPr>
        <p:spPr>
          <a:xfrm>
            <a:off x="7970368" y="3291840"/>
            <a:ext cx="694944" cy="694944"/>
          </a:xfrm>
          <a:prstGeom prst="ellipse">
            <a:avLst/>
          </a:prstGeom>
          <a:solidFill>
            <a:srgbClr val="7500C0"/>
          </a:solidFill>
          <a:ln/>
        </p:spPr>
        <p:txBody>
          <a:bodyPr/>
          <a:lstStyle/>
          <a:p>
            <a:endParaRPr lang="en-US"/>
          </a:p>
        </p:txBody>
      </p:sp>
      <p:pic>
        <p:nvPicPr>
          <p:cNvPr id="33" name="Image 3" descr="preencoded.png"/>
          <p:cNvPicPr>
            <a:picLocks noChangeAspect="1"/>
          </p:cNvPicPr>
          <p:nvPr/>
        </p:nvPicPr>
        <p:blipFill>
          <a:blip r:embed="rId7"/>
          <a:stretch>
            <a:fillRect/>
          </a:stretch>
        </p:blipFill>
        <p:spPr>
          <a:xfrm>
            <a:off x="8144104" y="3465576"/>
            <a:ext cx="347472" cy="347472"/>
          </a:xfrm>
          <a:prstGeom prst="rect">
            <a:avLst/>
          </a:prstGeom>
        </p:spPr>
      </p:pic>
      <p:sp>
        <p:nvSpPr>
          <p:cNvPr id="34" name="Text 28"/>
          <p:cNvSpPr/>
          <p:nvPr/>
        </p:nvSpPr>
        <p:spPr>
          <a:xfrm>
            <a:off x="7412584" y="4114800"/>
            <a:ext cx="1810512" cy="548640"/>
          </a:xfrm>
          <a:prstGeom prst="rect">
            <a:avLst/>
          </a:prstGeom>
          <a:noFill/>
          <a:ln/>
        </p:spPr>
        <p:txBody>
          <a:bodyPr wrap="square" lIns="0" tIns="0" rIns="0" bIns="0" rtlCol="0" anchor="t"/>
          <a:lstStyle/>
          <a:p>
            <a:pPr marL="0" indent="0" algn="ctr">
              <a:lnSpc>
                <a:spcPct val="100000"/>
              </a:lnSpc>
              <a:buNone/>
            </a:pPr>
            <a:r>
              <a:rPr lang="en-US" sz="1250" b="1" dirty="0">
                <a:solidFill>
                  <a:srgbClr val="1A1526"/>
                </a:solidFill>
                <a:latin typeface="Calibri" pitchFamily="34" charset="0"/>
                <a:ea typeface="Calibri" pitchFamily="34" charset="-122"/>
                <a:cs typeface="Calibri" pitchFamily="34" charset="-120"/>
              </a:rPr>
              <a:t>Multilingual Support</a:t>
            </a:r>
            <a:endParaRPr lang="en-US" sz="1250" dirty="0"/>
          </a:p>
        </p:txBody>
      </p:sp>
      <p:sp>
        <p:nvSpPr>
          <p:cNvPr id="35" name="Text 29"/>
          <p:cNvSpPr/>
          <p:nvPr/>
        </p:nvSpPr>
        <p:spPr>
          <a:xfrm>
            <a:off x="7412584" y="4663440"/>
            <a:ext cx="1810512" cy="731520"/>
          </a:xfrm>
          <a:prstGeom prst="rect">
            <a:avLst/>
          </a:prstGeom>
          <a:noFill/>
          <a:ln/>
        </p:spPr>
        <p:txBody>
          <a:bodyPr wrap="square" lIns="0" tIns="0" rIns="0" bIns="0" rtlCol="0" anchor="t"/>
          <a:lstStyle/>
          <a:p>
            <a:pPr marL="0" indent="0" algn="ctr">
              <a:lnSpc>
                <a:spcPct val="100000"/>
              </a:lnSpc>
              <a:buNone/>
            </a:pPr>
            <a:r>
              <a:rPr lang="en-US" sz="1000" dirty="0">
                <a:solidFill>
                  <a:srgbClr val="5A5568"/>
                </a:solidFill>
                <a:latin typeface="Calibri" pitchFamily="34" charset="0"/>
                <a:ea typeface="Calibri" pitchFamily="34" charset="-122"/>
                <a:cs typeface="Calibri" pitchFamily="34" charset="-120"/>
              </a:rPr>
              <a:t>answers in many languages</a:t>
            </a:r>
            <a:endParaRPr lang="en-US" sz="1000" dirty="0"/>
          </a:p>
        </p:txBody>
      </p:sp>
      <p:sp>
        <p:nvSpPr>
          <p:cNvPr id="36" name="Shape 30"/>
          <p:cNvSpPr/>
          <p:nvPr/>
        </p:nvSpPr>
        <p:spPr>
          <a:xfrm>
            <a:off x="10448392" y="2084832"/>
            <a:ext cx="182880" cy="182880"/>
          </a:xfrm>
          <a:prstGeom prst="ellipse">
            <a:avLst/>
          </a:prstGeom>
          <a:solidFill>
            <a:srgbClr val="A100FF"/>
          </a:solidFill>
          <a:ln w="25400">
            <a:solidFill>
              <a:srgbClr val="FFFFFF"/>
            </a:solidFill>
            <a:prstDash val="solid"/>
          </a:ln>
        </p:spPr>
        <p:txBody>
          <a:bodyPr/>
          <a:lstStyle/>
          <a:p>
            <a:endParaRPr lang="en-US"/>
          </a:p>
        </p:txBody>
      </p:sp>
      <p:sp>
        <p:nvSpPr>
          <p:cNvPr id="37" name="Shape 31"/>
          <p:cNvSpPr/>
          <p:nvPr/>
        </p:nvSpPr>
        <p:spPr>
          <a:xfrm>
            <a:off x="9497416" y="2468880"/>
            <a:ext cx="2084832" cy="3063240"/>
          </a:xfrm>
          <a:prstGeom prst="roundRect">
            <a:avLst>
              <a:gd name="adj" fmla="val 2632"/>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38" name="Text 32"/>
          <p:cNvSpPr/>
          <p:nvPr/>
        </p:nvSpPr>
        <p:spPr>
          <a:xfrm>
            <a:off x="9497416" y="2670048"/>
            <a:ext cx="2084832" cy="502920"/>
          </a:xfrm>
          <a:prstGeom prst="rect">
            <a:avLst/>
          </a:prstGeom>
          <a:noFill/>
          <a:ln/>
        </p:spPr>
        <p:txBody>
          <a:bodyPr wrap="square" lIns="0" tIns="0" rIns="0" bIns="0" rtlCol="0" anchor="ctr"/>
          <a:lstStyle/>
          <a:p>
            <a:pPr marL="0" indent="0" algn="ctr">
              <a:buNone/>
            </a:pPr>
            <a:r>
              <a:rPr lang="en-US" sz="2500" b="1" dirty="0">
                <a:solidFill>
                  <a:srgbClr val="A100FF"/>
                </a:solidFill>
                <a:latin typeface="Arial" pitchFamily="34" charset="0"/>
                <a:ea typeface="Arial" pitchFamily="34" charset="-122"/>
                <a:cs typeface="Arial" pitchFamily="34" charset="-120"/>
              </a:rPr>
              <a:t>V6</a:t>
            </a:r>
            <a:endParaRPr lang="en-US" sz="2500" dirty="0"/>
          </a:p>
        </p:txBody>
      </p:sp>
      <p:sp>
        <p:nvSpPr>
          <p:cNvPr id="39" name="Shape 33"/>
          <p:cNvSpPr/>
          <p:nvPr/>
        </p:nvSpPr>
        <p:spPr>
          <a:xfrm>
            <a:off x="10192360" y="3291840"/>
            <a:ext cx="694944" cy="694944"/>
          </a:xfrm>
          <a:prstGeom prst="ellipse">
            <a:avLst/>
          </a:prstGeom>
          <a:solidFill>
            <a:srgbClr val="A100FF"/>
          </a:solidFill>
          <a:ln/>
        </p:spPr>
        <p:txBody>
          <a:bodyPr/>
          <a:lstStyle/>
          <a:p>
            <a:endParaRPr lang="en-US"/>
          </a:p>
        </p:txBody>
      </p:sp>
      <p:pic>
        <p:nvPicPr>
          <p:cNvPr id="40" name="Image 4" descr="preencoded.png"/>
          <p:cNvPicPr>
            <a:picLocks noChangeAspect="1"/>
          </p:cNvPicPr>
          <p:nvPr/>
        </p:nvPicPr>
        <p:blipFill>
          <a:blip r:embed="rId8"/>
          <a:stretch>
            <a:fillRect/>
          </a:stretch>
        </p:blipFill>
        <p:spPr>
          <a:xfrm>
            <a:off x="10366096" y="3465576"/>
            <a:ext cx="347472" cy="347472"/>
          </a:xfrm>
          <a:prstGeom prst="rect">
            <a:avLst/>
          </a:prstGeom>
        </p:spPr>
      </p:pic>
      <p:sp>
        <p:nvSpPr>
          <p:cNvPr id="41" name="Text 34"/>
          <p:cNvSpPr/>
          <p:nvPr/>
        </p:nvSpPr>
        <p:spPr>
          <a:xfrm>
            <a:off x="9634576" y="4114800"/>
            <a:ext cx="1810512" cy="548640"/>
          </a:xfrm>
          <a:prstGeom prst="rect">
            <a:avLst/>
          </a:prstGeom>
          <a:noFill/>
          <a:ln/>
        </p:spPr>
        <p:txBody>
          <a:bodyPr wrap="square" lIns="0" tIns="0" rIns="0" bIns="0" rtlCol="0" anchor="t"/>
          <a:lstStyle/>
          <a:p>
            <a:pPr marL="0" indent="0" algn="ctr">
              <a:lnSpc>
                <a:spcPct val="100000"/>
              </a:lnSpc>
              <a:buNone/>
            </a:pPr>
            <a:r>
              <a:rPr lang="en-US" sz="1250" b="1" dirty="0">
                <a:solidFill>
                  <a:srgbClr val="1A1526"/>
                </a:solidFill>
                <a:latin typeface="Calibri" pitchFamily="34" charset="0"/>
                <a:ea typeface="Calibri" pitchFamily="34" charset="-122"/>
                <a:cs typeface="Calibri" pitchFamily="34" charset="-120"/>
              </a:rPr>
              <a:t>Enterprise Integrations</a:t>
            </a:r>
            <a:endParaRPr lang="en-US" sz="1250" dirty="0"/>
          </a:p>
        </p:txBody>
      </p:sp>
      <p:sp>
        <p:nvSpPr>
          <p:cNvPr id="42" name="Text 35"/>
          <p:cNvSpPr/>
          <p:nvPr/>
        </p:nvSpPr>
        <p:spPr>
          <a:xfrm>
            <a:off x="9634576" y="4663440"/>
            <a:ext cx="1810512" cy="731520"/>
          </a:xfrm>
          <a:prstGeom prst="rect">
            <a:avLst/>
          </a:prstGeom>
          <a:noFill/>
          <a:ln/>
        </p:spPr>
        <p:txBody>
          <a:bodyPr wrap="square" lIns="0" tIns="0" rIns="0" bIns="0" rtlCol="0" anchor="t"/>
          <a:lstStyle/>
          <a:p>
            <a:pPr marL="0" indent="0" algn="ctr">
              <a:lnSpc>
                <a:spcPct val="100000"/>
              </a:lnSpc>
              <a:buNone/>
            </a:pPr>
            <a:r>
              <a:rPr lang="en-US" sz="1000" dirty="0">
                <a:solidFill>
                  <a:srgbClr val="5A5568"/>
                </a:solidFill>
                <a:latin typeface="Calibri" pitchFamily="34" charset="0"/>
                <a:ea typeface="Calibri" pitchFamily="34" charset="-122"/>
                <a:cs typeface="Calibri" pitchFamily="34" charset="-120"/>
              </a:rPr>
              <a:t>connect to existing systems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384048"/>
            <a:ext cx="10515600" cy="320040"/>
          </a:xfrm>
          <a:prstGeom prst="rect">
            <a:avLst/>
          </a:prstGeom>
          <a:noFill/>
          <a:ln/>
        </p:spPr>
        <p:txBody>
          <a:bodyPr wrap="square" lIns="0" tIns="0" rIns="0" bIns="0" rtlCol="0" anchor="ctr"/>
          <a:lstStyle/>
          <a:p>
            <a:pPr marL="0" indent="0">
              <a:buNone/>
            </a:pPr>
            <a:r>
              <a:rPr lang="en-US" sz="1250" b="1" kern="0" spc="200" dirty="0">
                <a:solidFill>
                  <a:srgbClr val="A100FF"/>
                </a:solidFill>
                <a:latin typeface="Arial" pitchFamily="34" charset="0"/>
                <a:ea typeface="Arial" pitchFamily="34" charset="-122"/>
                <a:cs typeface="Arial" pitchFamily="34" charset="-120"/>
              </a:rPr>
              <a:t>›  CONCLUSION</a:t>
            </a:r>
            <a:endParaRPr lang="en-US" sz="1250" dirty="0"/>
          </a:p>
        </p:txBody>
      </p:sp>
      <p:sp>
        <p:nvSpPr>
          <p:cNvPr id="3" name="Text 1"/>
          <p:cNvSpPr/>
          <p:nvPr/>
        </p:nvSpPr>
        <p:spPr>
          <a:xfrm>
            <a:off x="685800" y="713232"/>
            <a:ext cx="10820095" cy="685800"/>
          </a:xfrm>
          <a:prstGeom prst="rect">
            <a:avLst/>
          </a:prstGeom>
          <a:noFill/>
          <a:ln/>
        </p:spPr>
        <p:txBody>
          <a:bodyPr wrap="square" lIns="0" tIns="0" rIns="0" bIns="0" rtlCol="0" anchor="ctr"/>
          <a:lstStyle/>
          <a:p>
            <a:pPr marL="0" indent="0">
              <a:buNone/>
            </a:pPr>
            <a:r>
              <a:rPr lang="en-US" sz="2900" b="1" dirty="0">
                <a:solidFill>
                  <a:srgbClr val="1A1526"/>
                </a:solidFill>
                <a:latin typeface="Arial" pitchFamily="34" charset="0"/>
                <a:ea typeface="Arial" pitchFamily="34" charset="-122"/>
                <a:cs typeface="Arial" pitchFamily="34" charset="-120"/>
              </a:rPr>
              <a:t>Final Takeaways</a:t>
            </a:r>
            <a:endParaRPr lang="en-US" sz="2900" dirty="0"/>
          </a:p>
        </p:txBody>
      </p:sp>
      <p:sp>
        <p:nvSpPr>
          <p:cNvPr id="4" name="Text 2"/>
          <p:cNvSpPr/>
          <p:nvPr/>
        </p:nvSpPr>
        <p:spPr>
          <a:xfrm>
            <a:off x="685800" y="6437376"/>
            <a:ext cx="8229600" cy="274320"/>
          </a:xfrm>
          <a:prstGeom prst="rect">
            <a:avLst/>
          </a:prstGeom>
          <a:noFill/>
          <a:ln/>
        </p:spPr>
        <p:txBody>
          <a:bodyPr wrap="square" lIns="0" tIns="0" rIns="0" bIns="0" rtlCol="0" anchor="ctr"/>
          <a:lstStyle/>
          <a:p>
            <a:pPr marL="0" indent="0">
              <a:buNone/>
            </a:pPr>
            <a:r>
              <a:rPr lang="en-US" sz="900" b="1" dirty="0">
                <a:solidFill>
                  <a:srgbClr val="A100FF"/>
                </a:solidFill>
                <a:latin typeface="Calibri" pitchFamily="34" charset="0"/>
                <a:ea typeface="Calibri" pitchFamily="34" charset="-122"/>
                <a:cs typeface="Calibri" pitchFamily="34" charset="-120"/>
              </a:rPr>
              <a:t>PRISM</a:t>
            </a:r>
            <a:r>
              <a:rPr lang="en-US" sz="900" dirty="0">
                <a:solidFill>
                  <a:srgbClr val="5A5568"/>
                </a:solidFill>
                <a:latin typeface="Calibri" pitchFamily="34" charset="0"/>
                <a:ea typeface="Calibri" pitchFamily="34" charset="-122"/>
                <a:cs typeface="Calibri" pitchFamily="34" charset="-120"/>
              </a:rPr>
              <a:t>   Policy &amp; Resource Information Search Module</a:t>
            </a:r>
            <a:endParaRPr lang="en-US" sz="900" dirty="0"/>
          </a:p>
        </p:txBody>
      </p:sp>
      <p:sp>
        <p:nvSpPr>
          <p:cNvPr id="5" name="Text 3"/>
          <p:cNvSpPr/>
          <p:nvPr/>
        </p:nvSpPr>
        <p:spPr>
          <a:xfrm>
            <a:off x="11002975" y="6437376"/>
            <a:ext cx="548640" cy="274320"/>
          </a:xfrm>
          <a:prstGeom prst="rect">
            <a:avLst/>
          </a:prstGeom>
          <a:noFill/>
          <a:ln/>
        </p:spPr>
        <p:txBody>
          <a:bodyPr wrap="square" lIns="0" tIns="0" rIns="0" bIns="0" rtlCol="0" anchor="ctr"/>
          <a:lstStyle/>
          <a:p>
            <a:pPr marL="0" indent="0" algn="r">
              <a:buNone/>
            </a:pPr>
            <a:r>
              <a:rPr lang="en-US" sz="1000" dirty="0">
                <a:solidFill>
                  <a:srgbClr val="5A5568"/>
                </a:solidFill>
                <a:latin typeface="Arial" pitchFamily="34" charset="0"/>
                <a:ea typeface="Arial" pitchFamily="34" charset="-122"/>
                <a:cs typeface="Arial" pitchFamily="34" charset="-120"/>
              </a:rPr>
              <a:t>20</a:t>
            </a:r>
            <a:endParaRPr lang="en-US" sz="1000" dirty="0"/>
          </a:p>
        </p:txBody>
      </p:sp>
      <p:sp>
        <p:nvSpPr>
          <p:cNvPr id="6" name="Text 4"/>
          <p:cNvSpPr/>
          <p:nvPr/>
        </p:nvSpPr>
        <p:spPr>
          <a:xfrm>
            <a:off x="685800" y="1463040"/>
            <a:ext cx="10881360" cy="365760"/>
          </a:xfrm>
          <a:prstGeom prst="rect">
            <a:avLst/>
          </a:prstGeom>
          <a:noFill/>
          <a:ln/>
        </p:spPr>
        <p:txBody>
          <a:bodyPr wrap="square" lIns="0" tIns="0" rIns="0" bIns="0" rtlCol="0" anchor="ctr"/>
          <a:lstStyle/>
          <a:p>
            <a:pPr marL="0" indent="0">
              <a:buNone/>
            </a:pPr>
            <a:r>
              <a:rPr lang="en-US" sz="1350" dirty="0">
                <a:solidFill>
                  <a:srgbClr val="5A5568"/>
                </a:solidFill>
                <a:latin typeface="Calibri" pitchFamily="34" charset="0"/>
                <a:ea typeface="Calibri" pitchFamily="34" charset="-122"/>
                <a:cs typeface="Calibri" pitchFamily="34" charset="-120"/>
              </a:rPr>
              <a:t>Pulling it together — here's what PRISM proves, and why it matters.</a:t>
            </a:r>
            <a:endParaRPr lang="en-US" sz="1350" dirty="0"/>
          </a:p>
        </p:txBody>
      </p:sp>
      <p:sp>
        <p:nvSpPr>
          <p:cNvPr id="7" name="Shape 5"/>
          <p:cNvSpPr/>
          <p:nvPr/>
        </p:nvSpPr>
        <p:spPr>
          <a:xfrm>
            <a:off x="685800" y="1920240"/>
            <a:ext cx="3456432" cy="1572768"/>
          </a:xfrm>
          <a:prstGeom prst="roundRect">
            <a:avLst>
              <a:gd name="adj" fmla="val 348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8" name="Shape 6"/>
          <p:cNvSpPr/>
          <p:nvPr/>
        </p:nvSpPr>
        <p:spPr>
          <a:xfrm>
            <a:off x="685800" y="1920240"/>
            <a:ext cx="73152" cy="1572768"/>
          </a:xfrm>
          <a:prstGeom prst="rect">
            <a:avLst/>
          </a:prstGeom>
          <a:solidFill>
            <a:srgbClr val="A100FF"/>
          </a:solidFill>
          <a:ln/>
        </p:spPr>
        <p:txBody>
          <a:bodyPr/>
          <a:lstStyle/>
          <a:p>
            <a:endParaRPr lang="en-US"/>
          </a:p>
        </p:txBody>
      </p:sp>
      <p:sp>
        <p:nvSpPr>
          <p:cNvPr id="9" name="Shape 7"/>
          <p:cNvSpPr/>
          <p:nvPr/>
        </p:nvSpPr>
        <p:spPr>
          <a:xfrm>
            <a:off x="941832" y="2414016"/>
            <a:ext cx="585216" cy="585216"/>
          </a:xfrm>
          <a:prstGeom prst="ellipse">
            <a:avLst/>
          </a:prstGeom>
          <a:solidFill>
            <a:srgbClr val="A100FF"/>
          </a:solidFill>
          <a:ln/>
        </p:spPr>
        <p:txBody>
          <a:bodyPr/>
          <a:lstStyle/>
          <a:p>
            <a:endParaRPr lang="en-US"/>
          </a:p>
        </p:txBody>
      </p:sp>
      <p:pic>
        <p:nvPicPr>
          <p:cNvPr id="10" name="Image 0" descr="preencoded.png"/>
          <p:cNvPicPr>
            <a:picLocks noChangeAspect="1"/>
          </p:cNvPicPr>
          <p:nvPr/>
        </p:nvPicPr>
        <p:blipFill>
          <a:blip r:embed="rId4"/>
          <a:stretch>
            <a:fillRect/>
          </a:stretch>
        </p:blipFill>
        <p:spPr>
          <a:xfrm>
            <a:off x="1088136" y="2560320"/>
            <a:ext cx="292608" cy="292608"/>
          </a:xfrm>
          <a:prstGeom prst="rect">
            <a:avLst/>
          </a:prstGeom>
        </p:spPr>
      </p:pic>
      <p:sp>
        <p:nvSpPr>
          <p:cNvPr id="11" name="Text 8"/>
          <p:cNvSpPr/>
          <p:nvPr/>
        </p:nvSpPr>
        <p:spPr>
          <a:xfrm>
            <a:off x="1645920" y="1920240"/>
            <a:ext cx="2359152" cy="1572768"/>
          </a:xfrm>
          <a:prstGeom prst="rect">
            <a:avLst/>
          </a:prstGeom>
          <a:noFill/>
          <a:ln/>
        </p:spPr>
        <p:txBody>
          <a:bodyPr wrap="square" lIns="0" tIns="0" rIns="0" bIns="0" rtlCol="0" anchor="ctr"/>
          <a:lstStyle/>
          <a:p>
            <a:pPr marL="0" indent="0">
              <a:lnSpc>
                <a:spcPct val="105000"/>
              </a:lnSpc>
              <a:buNone/>
            </a:pPr>
            <a:r>
              <a:rPr lang="en-US" sz="1350" b="1" dirty="0">
                <a:solidFill>
                  <a:srgbClr val="1A1526"/>
                </a:solidFill>
                <a:latin typeface="Calibri" pitchFamily="34" charset="0"/>
                <a:ea typeface="Calibri" pitchFamily="34" charset="-122"/>
                <a:cs typeface="Calibri" pitchFamily="34" charset="-120"/>
              </a:rPr>
              <a:t>AI-Powered Retrieval</a:t>
            </a:r>
            <a:endParaRPr lang="en-US" sz="1350" dirty="0"/>
          </a:p>
          <a:p>
            <a:pPr marL="0" indent="0">
              <a:lnSpc>
                <a:spcPct val="105000"/>
              </a:lnSpc>
              <a:buNone/>
            </a:pPr>
            <a:r>
              <a:rPr lang="en-US" sz="1050" dirty="0">
                <a:solidFill>
                  <a:srgbClr val="5A5568"/>
                </a:solidFill>
                <a:latin typeface="Calibri" pitchFamily="34" charset="0"/>
                <a:ea typeface="Calibri" pitchFamily="34" charset="-122"/>
                <a:cs typeface="Calibri" pitchFamily="34" charset="-120"/>
              </a:rPr>
              <a:t>answers pulled from real documents</a:t>
            </a:r>
            <a:endParaRPr lang="en-US" sz="1350" dirty="0"/>
          </a:p>
        </p:txBody>
      </p:sp>
      <p:sp>
        <p:nvSpPr>
          <p:cNvPr id="12" name="Shape 9"/>
          <p:cNvSpPr/>
          <p:nvPr/>
        </p:nvSpPr>
        <p:spPr>
          <a:xfrm>
            <a:off x="4398264" y="1920240"/>
            <a:ext cx="3456432" cy="1572768"/>
          </a:xfrm>
          <a:prstGeom prst="roundRect">
            <a:avLst>
              <a:gd name="adj" fmla="val 348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3" name="Shape 10"/>
          <p:cNvSpPr/>
          <p:nvPr/>
        </p:nvSpPr>
        <p:spPr>
          <a:xfrm>
            <a:off x="4398264" y="1920240"/>
            <a:ext cx="73152" cy="1572768"/>
          </a:xfrm>
          <a:prstGeom prst="rect">
            <a:avLst/>
          </a:prstGeom>
          <a:solidFill>
            <a:srgbClr val="E6197E"/>
          </a:solidFill>
          <a:ln/>
        </p:spPr>
        <p:txBody>
          <a:bodyPr/>
          <a:lstStyle/>
          <a:p>
            <a:endParaRPr lang="en-US"/>
          </a:p>
        </p:txBody>
      </p:sp>
      <p:sp>
        <p:nvSpPr>
          <p:cNvPr id="14" name="Shape 11"/>
          <p:cNvSpPr/>
          <p:nvPr/>
        </p:nvSpPr>
        <p:spPr>
          <a:xfrm>
            <a:off x="4654296" y="2414016"/>
            <a:ext cx="585216" cy="585216"/>
          </a:xfrm>
          <a:prstGeom prst="ellipse">
            <a:avLst/>
          </a:prstGeom>
          <a:solidFill>
            <a:srgbClr val="E6197E"/>
          </a:solidFill>
          <a:ln/>
        </p:spPr>
        <p:txBody>
          <a:bodyPr/>
          <a:lstStyle/>
          <a:p>
            <a:endParaRPr lang="en-US"/>
          </a:p>
        </p:txBody>
      </p:sp>
      <p:pic>
        <p:nvPicPr>
          <p:cNvPr id="15" name="Image 1" descr="preencoded.png"/>
          <p:cNvPicPr>
            <a:picLocks noChangeAspect="1"/>
          </p:cNvPicPr>
          <p:nvPr/>
        </p:nvPicPr>
        <p:blipFill>
          <a:blip r:embed="rId5"/>
          <a:stretch>
            <a:fillRect/>
          </a:stretch>
        </p:blipFill>
        <p:spPr>
          <a:xfrm>
            <a:off x="4800600" y="2560320"/>
            <a:ext cx="292608" cy="292608"/>
          </a:xfrm>
          <a:prstGeom prst="rect">
            <a:avLst/>
          </a:prstGeom>
        </p:spPr>
      </p:pic>
      <p:sp>
        <p:nvSpPr>
          <p:cNvPr id="16" name="Text 12"/>
          <p:cNvSpPr/>
          <p:nvPr/>
        </p:nvSpPr>
        <p:spPr>
          <a:xfrm>
            <a:off x="5358384" y="1920240"/>
            <a:ext cx="2359152" cy="1572768"/>
          </a:xfrm>
          <a:prstGeom prst="rect">
            <a:avLst/>
          </a:prstGeom>
          <a:noFill/>
          <a:ln/>
        </p:spPr>
        <p:txBody>
          <a:bodyPr wrap="square" lIns="0" tIns="0" rIns="0" bIns="0" rtlCol="0" anchor="ctr"/>
          <a:lstStyle/>
          <a:p>
            <a:pPr marL="0" indent="0">
              <a:lnSpc>
                <a:spcPct val="105000"/>
              </a:lnSpc>
              <a:buNone/>
            </a:pPr>
            <a:r>
              <a:rPr lang="en-US" sz="1350" b="1" dirty="0">
                <a:solidFill>
                  <a:srgbClr val="1A1526"/>
                </a:solidFill>
                <a:latin typeface="Calibri" pitchFamily="34" charset="0"/>
                <a:ea typeface="Calibri" pitchFamily="34" charset="-122"/>
                <a:cs typeface="Calibri" pitchFamily="34" charset="-120"/>
              </a:rPr>
              <a:t>Document Intelligence</a:t>
            </a:r>
            <a:endParaRPr lang="en-US" sz="1350" dirty="0"/>
          </a:p>
          <a:p>
            <a:pPr marL="0" indent="0">
              <a:lnSpc>
                <a:spcPct val="105000"/>
              </a:lnSpc>
              <a:buNone/>
            </a:pPr>
            <a:r>
              <a:rPr lang="en-US" sz="1050" dirty="0">
                <a:solidFill>
                  <a:srgbClr val="5A5568"/>
                </a:solidFill>
                <a:latin typeface="Calibri" pitchFamily="34" charset="0"/>
                <a:ea typeface="Calibri" pitchFamily="34" charset="-122"/>
                <a:cs typeface="Calibri" pitchFamily="34" charset="-120"/>
              </a:rPr>
              <a:t>static PDFs become interactive</a:t>
            </a:r>
            <a:endParaRPr lang="en-US" sz="1350" dirty="0"/>
          </a:p>
        </p:txBody>
      </p:sp>
      <p:sp>
        <p:nvSpPr>
          <p:cNvPr id="17" name="Shape 13"/>
          <p:cNvSpPr/>
          <p:nvPr/>
        </p:nvSpPr>
        <p:spPr>
          <a:xfrm>
            <a:off x="8110728" y="1920240"/>
            <a:ext cx="3456432" cy="1572768"/>
          </a:xfrm>
          <a:prstGeom prst="roundRect">
            <a:avLst>
              <a:gd name="adj" fmla="val 348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18" name="Shape 14"/>
          <p:cNvSpPr/>
          <p:nvPr/>
        </p:nvSpPr>
        <p:spPr>
          <a:xfrm>
            <a:off x="8110728" y="1920240"/>
            <a:ext cx="73152" cy="1572768"/>
          </a:xfrm>
          <a:prstGeom prst="rect">
            <a:avLst/>
          </a:prstGeom>
          <a:solidFill>
            <a:srgbClr val="1D4ED8"/>
          </a:solidFill>
          <a:ln/>
        </p:spPr>
        <p:txBody>
          <a:bodyPr/>
          <a:lstStyle/>
          <a:p>
            <a:endParaRPr lang="en-US"/>
          </a:p>
        </p:txBody>
      </p:sp>
      <p:sp>
        <p:nvSpPr>
          <p:cNvPr id="19" name="Shape 15"/>
          <p:cNvSpPr/>
          <p:nvPr/>
        </p:nvSpPr>
        <p:spPr>
          <a:xfrm>
            <a:off x="8366760" y="2414016"/>
            <a:ext cx="585216" cy="585216"/>
          </a:xfrm>
          <a:prstGeom prst="ellipse">
            <a:avLst/>
          </a:prstGeom>
          <a:solidFill>
            <a:srgbClr val="1D4ED8"/>
          </a:solidFill>
          <a:ln/>
        </p:spPr>
        <p:txBody>
          <a:bodyPr/>
          <a:lstStyle/>
          <a:p>
            <a:endParaRPr lang="en-US"/>
          </a:p>
        </p:txBody>
      </p:sp>
      <p:pic>
        <p:nvPicPr>
          <p:cNvPr id="20" name="Image 2" descr="preencoded.png"/>
          <p:cNvPicPr>
            <a:picLocks noChangeAspect="1"/>
          </p:cNvPicPr>
          <p:nvPr/>
        </p:nvPicPr>
        <p:blipFill>
          <a:blip r:embed="rId6"/>
          <a:stretch>
            <a:fillRect/>
          </a:stretch>
        </p:blipFill>
        <p:spPr>
          <a:xfrm>
            <a:off x="8513064" y="2560320"/>
            <a:ext cx="292608" cy="292608"/>
          </a:xfrm>
          <a:prstGeom prst="rect">
            <a:avLst/>
          </a:prstGeom>
        </p:spPr>
      </p:pic>
      <p:sp>
        <p:nvSpPr>
          <p:cNvPr id="21" name="Text 16"/>
          <p:cNvSpPr/>
          <p:nvPr/>
        </p:nvSpPr>
        <p:spPr>
          <a:xfrm>
            <a:off x="9070848" y="1920240"/>
            <a:ext cx="2359152" cy="1572768"/>
          </a:xfrm>
          <a:prstGeom prst="rect">
            <a:avLst/>
          </a:prstGeom>
          <a:noFill/>
          <a:ln/>
        </p:spPr>
        <p:txBody>
          <a:bodyPr wrap="square" lIns="0" tIns="0" rIns="0" bIns="0" rtlCol="0" anchor="ctr"/>
          <a:lstStyle/>
          <a:p>
            <a:pPr marL="0" indent="0">
              <a:lnSpc>
                <a:spcPct val="105000"/>
              </a:lnSpc>
              <a:buNone/>
            </a:pPr>
            <a:r>
              <a:rPr lang="en-US" sz="1350" b="1" dirty="0">
                <a:solidFill>
                  <a:srgbClr val="1A1526"/>
                </a:solidFill>
                <a:latin typeface="Calibri" pitchFamily="34" charset="0"/>
                <a:ea typeface="Calibri" pitchFamily="34" charset="-122"/>
                <a:cs typeface="Calibri" pitchFamily="34" charset="-120"/>
              </a:rPr>
              <a:t>Better Employee Experience</a:t>
            </a:r>
            <a:endParaRPr lang="en-US" sz="1350" dirty="0"/>
          </a:p>
          <a:p>
            <a:pPr marL="0" indent="0">
              <a:lnSpc>
                <a:spcPct val="105000"/>
              </a:lnSpc>
              <a:buNone/>
            </a:pPr>
            <a:r>
              <a:rPr lang="en-US" sz="1050" dirty="0">
                <a:solidFill>
                  <a:srgbClr val="5A5568"/>
                </a:solidFill>
                <a:latin typeface="Calibri" pitchFamily="34" charset="0"/>
                <a:ea typeface="Calibri" pitchFamily="34" charset="-122"/>
                <a:cs typeface="Calibri" pitchFamily="34" charset="-120"/>
              </a:rPr>
              <a:t>self-serve answers, no waiting</a:t>
            </a:r>
            <a:endParaRPr lang="en-US" sz="1350" dirty="0"/>
          </a:p>
        </p:txBody>
      </p:sp>
      <p:sp>
        <p:nvSpPr>
          <p:cNvPr id="22" name="Shape 17"/>
          <p:cNvSpPr/>
          <p:nvPr/>
        </p:nvSpPr>
        <p:spPr>
          <a:xfrm>
            <a:off x="2511400" y="3749040"/>
            <a:ext cx="3456432" cy="1572768"/>
          </a:xfrm>
          <a:prstGeom prst="roundRect">
            <a:avLst>
              <a:gd name="adj" fmla="val 348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3" name="Shape 18"/>
          <p:cNvSpPr/>
          <p:nvPr/>
        </p:nvSpPr>
        <p:spPr>
          <a:xfrm>
            <a:off x="2511400" y="3749040"/>
            <a:ext cx="73152" cy="1572768"/>
          </a:xfrm>
          <a:prstGeom prst="rect">
            <a:avLst/>
          </a:prstGeom>
          <a:solidFill>
            <a:srgbClr val="7500C0"/>
          </a:solidFill>
          <a:ln/>
        </p:spPr>
        <p:txBody>
          <a:bodyPr/>
          <a:lstStyle/>
          <a:p>
            <a:endParaRPr lang="en-US"/>
          </a:p>
        </p:txBody>
      </p:sp>
      <p:sp>
        <p:nvSpPr>
          <p:cNvPr id="24" name="Shape 19"/>
          <p:cNvSpPr/>
          <p:nvPr/>
        </p:nvSpPr>
        <p:spPr>
          <a:xfrm>
            <a:off x="2767432" y="4242816"/>
            <a:ext cx="585216" cy="585216"/>
          </a:xfrm>
          <a:prstGeom prst="ellipse">
            <a:avLst/>
          </a:prstGeom>
          <a:solidFill>
            <a:srgbClr val="7500C0"/>
          </a:solidFill>
          <a:ln/>
        </p:spPr>
        <p:txBody>
          <a:bodyPr/>
          <a:lstStyle/>
          <a:p>
            <a:endParaRPr lang="en-US"/>
          </a:p>
        </p:txBody>
      </p:sp>
      <p:pic>
        <p:nvPicPr>
          <p:cNvPr id="25" name="Image 3" descr="preencoded.png"/>
          <p:cNvPicPr>
            <a:picLocks noChangeAspect="1"/>
          </p:cNvPicPr>
          <p:nvPr/>
        </p:nvPicPr>
        <p:blipFill>
          <a:blip r:embed="rId7"/>
          <a:stretch>
            <a:fillRect/>
          </a:stretch>
        </p:blipFill>
        <p:spPr>
          <a:xfrm>
            <a:off x="2913736" y="4389120"/>
            <a:ext cx="292608" cy="292608"/>
          </a:xfrm>
          <a:prstGeom prst="rect">
            <a:avLst/>
          </a:prstGeom>
        </p:spPr>
      </p:pic>
      <p:sp>
        <p:nvSpPr>
          <p:cNvPr id="26" name="Text 20"/>
          <p:cNvSpPr/>
          <p:nvPr/>
        </p:nvSpPr>
        <p:spPr>
          <a:xfrm>
            <a:off x="3471520" y="3749040"/>
            <a:ext cx="2359152" cy="1572768"/>
          </a:xfrm>
          <a:prstGeom prst="rect">
            <a:avLst/>
          </a:prstGeom>
          <a:noFill/>
          <a:ln/>
        </p:spPr>
        <p:txBody>
          <a:bodyPr wrap="square" lIns="0" tIns="0" rIns="0" bIns="0" rtlCol="0" anchor="ctr"/>
          <a:lstStyle/>
          <a:p>
            <a:pPr marL="0" indent="0">
              <a:lnSpc>
                <a:spcPct val="105000"/>
              </a:lnSpc>
              <a:buNone/>
            </a:pPr>
            <a:r>
              <a:rPr lang="en-US" sz="1350" b="1" dirty="0">
                <a:solidFill>
                  <a:srgbClr val="1A1526"/>
                </a:solidFill>
                <a:latin typeface="Calibri" pitchFamily="34" charset="0"/>
                <a:ea typeface="Calibri" pitchFamily="34" charset="-122"/>
                <a:cs typeface="Calibri" pitchFamily="34" charset="-120"/>
              </a:rPr>
              <a:t>Reduced Search Effort</a:t>
            </a:r>
            <a:endParaRPr lang="en-US" sz="1350" dirty="0"/>
          </a:p>
          <a:p>
            <a:pPr marL="0" indent="0">
              <a:lnSpc>
                <a:spcPct val="105000"/>
              </a:lnSpc>
              <a:buNone/>
            </a:pPr>
            <a:r>
              <a:rPr lang="en-US" sz="1050" dirty="0">
                <a:solidFill>
                  <a:srgbClr val="5A5568"/>
                </a:solidFill>
                <a:latin typeface="Calibri" pitchFamily="34" charset="0"/>
                <a:ea typeface="Calibri" pitchFamily="34" charset="-122"/>
                <a:cs typeface="Calibri" pitchFamily="34" charset="-120"/>
              </a:rPr>
              <a:t>seconds instead of scrolling</a:t>
            </a:r>
            <a:endParaRPr lang="en-US" sz="1350" dirty="0"/>
          </a:p>
        </p:txBody>
      </p:sp>
      <p:sp>
        <p:nvSpPr>
          <p:cNvPr id="27" name="Shape 21"/>
          <p:cNvSpPr/>
          <p:nvPr/>
        </p:nvSpPr>
        <p:spPr>
          <a:xfrm>
            <a:off x="6223864" y="3749040"/>
            <a:ext cx="3456432" cy="1572768"/>
          </a:xfrm>
          <a:prstGeom prst="roundRect">
            <a:avLst>
              <a:gd name="adj" fmla="val 3488"/>
            </a:avLst>
          </a:prstGeom>
          <a:solidFill>
            <a:srgbClr val="F5F2FA"/>
          </a:solidFill>
          <a:ln w="12700">
            <a:solidFill>
              <a:srgbClr val="E1D9F0"/>
            </a:solidFill>
            <a:prstDash val="solid"/>
          </a:ln>
          <a:effectLst>
            <a:outerShdw blurRad="88900" dist="25400" dir="5400000" algn="bl" rotWithShape="0">
              <a:srgbClr val="C9BEE0">
                <a:alpha val="50000"/>
              </a:srgbClr>
            </a:outerShdw>
          </a:effectLst>
        </p:spPr>
        <p:txBody>
          <a:bodyPr/>
          <a:lstStyle/>
          <a:p>
            <a:endParaRPr lang="en-US"/>
          </a:p>
        </p:txBody>
      </p:sp>
      <p:sp>
        <p:nvSpPr>
          <p:cNvPr id="28" name="Shape 22"/>
          <p:cNvSpPr/>
          <p:nvPr/>
        </p:nvSpPr>
        <p:spPr>
          <a:xfrm>
            <a:off x="6223864" y="3749040"/>
            <a:ext cx="73152" cy="1572768"/>
          </a:xfrm>
          <a:prstGeom prst="rect">
            <a:avLst/>
          </a:prstGeom>
          <a:solidFill>
            <a:srgbClr val="A100FF"/>
          </a:solidFill>
          <a:ln/>
        </p:spPr>
        <p:txBody>
          <a:bodyPr/>
          <a:lstStyle/>
          <a:p>
            <a:endParaRPr lang="en-US"/>
          </a:p>
        </p:txBody>
      </p:sp>
      <p:sp>
        <p:nvSpPr>
          <p:cNvPr id="29" name="Shape 23"/>
          <p:cNvSpPr/>
          <p:nvPr/>
        </p:nvSpPr>
        <p:spPr>
          <a:xfrm>
            <a:off x="6479896" y="4242816"/>
            <a:ext cx="585216" cy="585216"/>
          </a:xfrm>
          <a:prstGeom prst="ellipse">
            <a:avLst/>
          </a:prstGeom>
          <a:solidFill>
            <a:srgbClr val="A100FF"/>
          </a:solidFill>
          <a:ln/>
        </p:spPr>
        <p:txBody>
          <a:bodyPr/>
          <a:lstStyle/>
          <a:p>
            <a:endParaRPr lang="en-US"/>
          </a:p>
        </p:txBody>
      </p:sp>
      <p:pic>
        <p:nvPicPr>
          <p:cNvPr id="30" name="Image 4" descr="preencoded.png"/>
          <p:cNvPicPr>
            <a:picLocks noChangeAspect="1"/>
          </p:cNvPicPr>
          <p:nvPr/>
        </p:nvPicPr>
        <p:blipFill>
          <a:blip r:embed="rId8"/>
          <a:stretch>
            <a:fillRect/>
          </a:stretch>
        </p:blipFill>
        <p:spPr>
          <a:xfrm>
            <a:off x="6626200" y="4389120"/>
            <a:ext cx="292608" cy="292608"/>
          </a:xfrm>
          <a:prstGeom prst="rect">
            <a:avLst/>
          </a:prstGeom>
        </p:spPr>
      </p:pic>
      <p:sp>
        <p:nvSpPr>
          <p:cNvPr id="31" name="Text 24"/>
          <p:cNvSpPr/>
          <p:nvPr/>
        </p:nvSpPr>
        <p:spPr>
          <a:xfrm>
            <a:off x="7183984" y="3749040"/>
            <a:ext cx="2359152" cy="1572768"/>
          </a:xfrm>
          <a:prstGeom prst="rect">
            <a:avLst/>
          </a:prstGeom>
          <a:noFill/>
          <a:ln/>
        </p:spPr>
        <p:txBody>
          <a:bodyPr wrap="square" lIns="0" tIns="0" rIns="0" bIns="0" rtlCol="0" anchor="ctr"/>
          <a:lstStyle/>
          <a:p>
            <a:pPr marL="0" indent="0">
              <a:lnSpc>
                <a:spcPct val="105000"/>
              </a:lnSpc>
              <a:buNone/>
            </a:pPr>
            <a:r>
              <a:rPr lang="en-US" sz="1350" b="1" dirty="0">
                <a:solidFill>
                  <a:srgbClr val="1A1526"/>
                </a:solidFill>
                <a:latin typeface="Calibri" pitchFamily="34" charset="0"/>
                <a:ea typeface="Calibri" pitchFamily="34" charset="-122"/>
                <a:cs typeface="Calibri" pitchFamily="34" charset="-120"/>
              </a:rPr>
              <a:t>Centralized Knowledge</a:t>
            </a:r>
            <a:endParaRPr lang="en-US" sz="1350" dirty="0"/>
          </a:p>
          <a:p>
            <a:pPr marL="0" indent="0">
              <a:lnSpc>
                <a:spcPct val="105000"/>
              </a:lnSpc>
              <a:buNone/>
            </a:pPr>
            <a:r>
              <a:rPr lang="en-US" sz="1050" dirty="0">
                <a:solidFill>
                  <a:srgbClr val="5A5568"/>
                </a:solidFill>
                <a:latin typeface="Calibri" pitchFamily="34" charset="0"/>
                <a:ea typeface="Calibri" pitchFamily="34" charset="-122"/>
                <a:cs typeface="Calibri" pitchFamily="34" charset="-120"/>
              </a:rPr>
              <a:t>one trusted source of truth</a:t>
            </a:r>
            <a:endParaRPr lang="en-US" sz="1350" dirty="0"/>
          </a:p>
        </p:txBody>
      </p:sp>
      <p:sp>
        <p:nvSpPr>
          <p:cNvPr id="32" name="Shape 25"/>
          <p:cNvSpPr/>
          <p:nvPr/>
        </p:nvSpPr>
        <p:spPr>
          <a:xfrm>
            <a:off x="685800" y="5504688"/>
            <a:ext cx="10820095" cy="777240"/>
          </a:xfrm>
          <a:prstGeom prst="roundRect">
            <a:avLst>
              <a:gd name="adj" fmla="val 7059"/>
            </a:avLst>
          </a:prstGeom>
          <a:solidFill>
            <a:srgbClr val="12002B"/>
          </a:solidFill>
          <a:ln w="12700">
            <a:solidFill>
              <a:srgbClr val="12002B"/>
            </a:solidFill>
            <a:prstDash val="solid"/>
          </a:ln>
          <a:effectLst>
            <a:outerShdw blurRad="88900" dist="25400" dir="5400000" algn="bl" rotWithShape="0">
              <a:srgbClr val="C9BEE0">
                <a:alpha val="50000"/>
              </a:srgbClr>
            </a:outerShdw>
          </a:effectLst>
        </p:spPr>
        <p:txBody>
          <a:bodyPr/>
          <a:lstStyle/>
          <a:p>
            <a:endParaRPr lang="en-US"/>
          </a:p>
        </p:txBody>
      </p:sp>
      <p:sp>
        <p:nvSpPr>
          <p:cNvPr id="33" name="Text 26"/>
          <p:cNvSpPr/>
          <p:nvPr/>
        </p:nvSpPr>
        <p:spPr>
          <a:xfrm>
            <a:off x="960120" y="5504688"/>
            <a:ext cx="10271455"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PRISM turns static organizational documents into an intelligent, scalable, conversational knowledge platform.</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280160"/>
            <a:ext cx="10515600" cy="1097280"/>
          </a:xfrm>
          <a:prstGeom prst="rect">
            <a:avLst/>
          </a:prstGeom>
          <a:noFill/>
          <a:ln/>
        </p:spPr>
        <p:txBody>
          <a:bodyPr wrap="square" lIns="0" tIns="0" rIns="0" bIns="0" rtlCol="0" anchor="ctr"/>
          <a:lstStyle/>
          <a:p>
            <a:pPr marL="0" indent="0">
              <a:buNone/>
            </a:pPr>
            <a:r>
              <a:rPr lang="en-US" sz="6200" b="1" dirty="0">
                <a:solidFill>
                  <a:srgbClr val="A100FF"/>
                </a:solidFill>
                <a:latin typeface="Arial" pitchFamily="34" charset="0"/>
                <a:ea typeface="Arial" pitchFamily="34" charset="-122"/>
                <a:cs typeface="Arial" pitchFamily="34" charset="-120"/>
              </a:rPr>
              <a:t>›  </a:t>
            </a:r>
            <a:r>
              <a:rPr lang="en-US" sz="6200" b="1" dirty="0">
                <a:solidFill>
                  <a:srgbClr val="FFFFFF"/>
                </a:solidFill>
                <a:latin typeface="Arial" pitchFamily="34" charset="0"/>
                <a:ea typeface="Arial" pitchFamily="34" charset="-122"/>
                <a:cs typeface="Arial" pitchFamily="34" charset="-120"/>
              </a:rPr>
              <a:t>THANK YOU</a:t>
            </a:r>
            <a:endParaRPr lang="en-US" sz="6200" dirty="0"/>
          </a:p>
        </p:txBody>
      </p:sp>
      <p:sp>
        <p:nvSpPr>
          <p:cNvPr id="3" name="Text 1"/>
          <p:cNvSpPr/>
          <p:nvPr/>
        </p:nvSpPr>
        <p:spPr>
          <a:xfrm>
            <a:off x="1143000" y="2514600"/>
            <a:ext cx="10058400" cy="457200"/>
          </a:xfrm>
          <a:prstGeom prst="rect">
            <a:avLst/>
          </a:prstGeom>
          <a:noFill/>
          <a:ln/>
        </p:spPr>
        <p:txBody>
          <a:bodyPr wrap="square" lIns="0" tIns="0" rIns="0" bIns="0" rtlCol="0" anchor="ctr"/>
          <a:lstStyle/>
          <a:p>
            <a:pPr marL="0" indent="0">
              <a:buNone/>
            </a:pPr>
            <a:r>
              <a:rPr lang="en-US" sz="1600" i="1" dirty="0">
                <a:solidFill>
                  <a:srgbClr val="CBB8EA"/>
                </a:solidFill>
                <a:latin typeface="Calibri" pitchFamily="34" charset="0"/>
                <a:ea typeface="Calibri" pitchFamily="34" charset="-122"/>
                <a:cs typeface="Calibri" pitchFamily="34" charset="-120"/>
              </a:rPr>
              <a:t>With sincere gratitude for the guidance that shaped this project</a:t>
            </a:r>
            <a:endParaRPr lang="en-US" sz="1600" dirty="0"/>
          </a:p>
        </p:txBody>
      </p:sp>
      <p:sp>
        <p:nvSpPr>
          <p:cNvPr id="4" name="Shape 2"/>
          <p:cNvSpPr/>
          <p:nvPr/>
        </p:nvSpPr>
        <p:spPr>
          <a:xfrm>
            <a:off x="685800" y="3291840"/>
            <a:ext cx="5029200" cy="1280160"/>
          </a:xfrm>
          <a:prstGeom prst="roundRect">
            <a:avLst>
              <a:gd name="adj" fmla="val 4286"/>
            </a:avLst>
          </a:prstGeom>
          <a:solidFill>
            <a:srgbClr val="23064A"/>
          </a:solidFill>
          <a:ln w="12700">
            <a:solidFill>
              <a:srgbClr val="A100FF"/>
            </a:solidFill>
            <a:prstDash val="solid"/>
          </a:ln>
        </p:spPr>
        <p:txBody>
          <a:bodyPr/>
          <a:lstStyle/>
          <a:p>
            <a:endParaRPr lang="en-US"/>
          </a:p>
        </p:txBody>
      </p:sp>
      <p:sp>
        <p:nvSpPr>
          <p:cNvPr id="5" name="Shape 3"/>
          <p:cNvSpPr/>
          <p:nvPr/>
        </p:nvSpPr>
        <p:spPr>
          <a:xfrm>
            <a:off x="960120" y="3611880"/>
            <a:ext cx="640080" cy="640080"/>
          </a:xfrm>
          <a:prstGeom prst="ellipse">
            <a:avLst/>
          </a:prstGeom>
          <a:solidFill>
            <a:srgbClr val="A100FF"/>
          </a:solidFill>
          <a:ln/>
        </p:spPr>
        <p:txBody>
          <a:bodyPr/>
          <a:lstStyle/>
          <a:p>
            <a:endParaRPr lang="en-US"/>
          </a:p>
        </p:txBody>
      </p:sp>
      <p:pic>
        <p:nvPicPr>
          <p:cNvPr id="6" name="Image 0" descr="preencoded.png"/>
          <p:cNvPicPr>
            <a:picLocks noChangeAspect="1"/>
          </p:cNvPicPr>
          <p:nvPr/>
        </p:nvPicPr>
        <p:blipFill>
          <a:blip r:embed="rId4"/>
          <a:stretch>
            <a:fillRect/>
          </a:stretch>
        </p:blipFill>
        <p:spPr>
          <a:xfrm>
            <a:off x="1120140" y="3771900"/>
            <a:ext cx="320040" cy="320040"/>
          </a:xfrm>
          <a:prstGeom prst="rect">
            <a:avLst/>
          </a:prstGeom>
        </p:spPr>
      </p:pic>
      <p:sp>
        <p:nvSpPr>
          <p:cNvPr id="7" name="Text 4"/>
          <p:cNvSpPr/>
          <p:nvPr/>
        </p:nvSpPr>
        <p:spPr>
          <a:xfrm>
            <a:off x="1783080" y="3291840"/>
            <a:ext cx="3749040" cy="1280160"/>
          </a:xfrm>
          <a:prstGeom prst="rect">
            <a:avLst/>
          </a:prstGeom>
          <a:noFill/>
          <a:ln/>
        </p:spPr>
        <p:txBody>
          <a:bodyPr wrap="square" lIns="0" tIns="0" rIns="0" bIns="0" rtlCol="0" anchor="ctr"/>
          <a:lstStyle/>
          <a:p>
            <a:pPr marL="0" indent="0">
              <a:lnSpc>
                <a:spcPct val="110000"/>
              </a:lnSpc>
              <a:buNone/>
            </a:pPr>
            <a:r>
              <a:rPr lang="en-US" sz="1800" b="1" dirty="0">
                <a:solidFill>
                  <a:srgbClr val="FFFFFF"/>
                </a:solidFill>
                <a:latin typeface="Arial" pitchFamily="34" charset="0"/>
                <a:ea typeface="Arial" pitchFamily="34" charset="-122"/>
                <a:cs typeface="Arial" pitchFamily="34" charset="-120"/>
              </a:rPr>
              <a:t>Teja</a:t>
            </a:r>
            <a:endParaRPr lang="en-US" sz="1800" dirty="0"/>
          </a:p>
          <a:p>
            <a:pPr marL="0" indent="0">
              <a:lnSpc>
                <a:spcPct val="110000"/>
              </a:lnSpc>
              <a:buNone/>
            </a:pPr>
            <a:r>
              <a:rPr lang="en-US" sz="1200" dirty="0">
                <a:solidFill>
                  <a:srgbClr val="CBB8EA"/>
                </a:solidFill>
                <a:latin typeface="Calibri" pitchFamily="34" charset="0"/>
                <a:ea typeface="Calibri" pitchFamily="34" charset="-122"/>
                <a:cs typeface="Calibri" pitchFamily="34" charset="-120"/>
              </a:rPr>
              <a:t>Technical guidance &amp; mentorship</a:t>
            </a:r>
            <a:endParaRPr lang="en-US" sz="1800" dirty="0"/>
          </a:p>
        </p:txBody>
      </p:sp>
      <p:sp>
        <p:nvSpPr>
          <p:cNvPr id="8" name="Shape 5"/>
          <p:cNvSpPr/>
          <p:nvPr/>
        </p:nvSpPr>
        <p:spPr>
          <a:xfrm>
            <a:off x="6080760" y="3291840"/>
            <a:ext cx="5029200" cy="1280160"/>
          </a:xfrm>
          <a:prstGeom prst="roundRect">
            <a:avLst>
              <a:gd name="adj" fmla="val 4286"/>
            </a:avLst>
          </a:prstGeom>
          <a:solidFill>
            <a:srgbClr val="23064A"/>
          </a:solidFill>
          <a:ln w="12700">
            <a:solidFill>
              <a:srgbClr val="E6197E"/>
            </a:solidFill>
            <a:prstDash val="solid"/>
          </a:ln>
        </p:spPr>
        <p:txBody>
          <a:bodyPr/>
          <a:lstStyle/>
          <a:p>
            <a:endParaRPr lang="en-US"/>
          </a:p>
        </p:txBody>
      </p:sp>
      <p:sp>
        <p:nvSpPr>
          <p:cNvPr id="9" name="Shape 6"/>
          <p:cNvSpPr/>
          <p:nvPr/>
        </p:nvSpPr>
        <p:spPr>
          <a:xfrm>
            <a:off x="6355080" y="3611880"/>
            <a:ext cx="640080" cy="640080"/>
          </a:xfrm>
          <a:prstGeom prst="ellipse">
            <a:avLst/>
          </a:prstGeom>
          <a:solidFill>
            <a:srgbClr val="E6197E"/>
          </a:solidFill>
          <a:ln/>
        </p:spPr>
        <p:txBody>
          <a:bodyPr/>
          <a:lstStyle/>
          <a:p>
            <a:endParaRPr lang="en-US"/>
          </a:p>
        </p:txBody>
      </p:sp>
      <p:pic>
        <p:nvPicPr>
          <p:cNvPr id="10" name="Image 1" descr="preencoded.png"/>
          <p:cNvPicPr>
            <a:picLocks noChangeAspect="1"/>
          </p:cNvPicPr>
          <p:nvPr/>
        </p:nvPicPr>
        <p:blipFill>
          <a:blip r:embed="rId5"/>
          <a:stretch>
            <a:fillRect/>
          </a:stretch>
        </p:blipFill>
        <p:spPr>
          <a:xfrm>
            <a:off x="6515100" y="3771900"/>
            <a:ext cx="320040" cy="320040"/>
          </a:xfrm>
          <a:prstGeom prst="rect">
            <a:avLst/>
          </a:prstGeom>
        </p:spPr>
      </p:pic>
      <p:sp>
        <p:nvSpPr>
          <p:cNvPr id="11" name="Text 7"/>
          <p:cNvSpPr/>
          <p:nvPr/>
        </p:nvSpPr>
        <p:spPr>
          <a:xfrm>
            <a:off x="7178040" y="3291840"/>
            <a:ext cx="3749040" cy="1280160"/>
          </a:xfrm>
          <a:prstGeom prst="rect">
            <a:avLst/>
          </a:prstGeom>
          <a:noFill/>
          <a:ln/>
        </p:spPr>
        <p:txBody>
          <a:bodyPr wrap="square" lIns="0" tIns="0" rIns="0" bIns="0" rtlCol="0" anchor="ctr"/>
          <a:lstStyle/>
          <a:p>
            <a:pPr marL="0" indent="0">
              <a:lnSpc>
                <a:spcPct val="110000"/>
              </a:lnSpc>
              <a:buNone/>
            </a:pPr>
            <a:r>
              <a:rPr lang="en-US" sz="1800" b="1" dirty="0">
                <a:solidFill>
                  <a:srgbClr val="FFFFFF"/>
                </a:solidFill>
                <a:latin typeface="Arial" pitchFamily="34" charset="0"/>
                <a:ea typeface="Arial" pitchFamily="34" charset="-122"/>
                <a:cs typeface="Arial" pitchFamily="34" charset="-120"/>
              </a:rPr>
              <a:t>Brahmi</a:t>
            </a:r>
            <a:endParaRPr lang="en-US" sz="1800" dirty="0"/>
          </a:p>
          <a:p>
            <a:pPr marL="0" indent="0">
              <a:lnSpc>
                <a:spcPct val="110000"/>
              </a:lnSpc>
              <a:buNone/>
            </a:pPr>
            <a:r>
              <a:rPr lang="en-US" sz="1200" dirty="0">
                <a:solidFill>
                  <a:srgbClr val="CBB8EA"/>
                </a:solidFill>
                <a:latin typeface="Calibri" pitchFamily="34" charset="0"/>
                <a:ea typeface="Calibri" pitchFamily="34" charset="-122"/>
                <a:cs typeface="Calibri" pitchFamily="34" charset="-120"/>
              </a:rPr>
              <a:t>Presentation &amp; communication guidance</a:t>
            </a:r>
            <a:endParaRPr lang="en-US" sz="1800" dirty="0"/>
          </a:p>
        </p:txBody>
      </p:sp>
      <p:sp>
        <p:nvSpPr>
          <p:cNvPr id="12" name="Text 8"/>
          <p:cNvSpPr/>
          <p:nvPr/>
        </p:nvSpPr>
        <p:spPr>
          <a:xfrm>
            <a:off x="685800" y="4937760"/>
            <a:ext cx="10058400" cy="548640"/>
          </a:xfrm>
          <a:prstGeom prst="rect">
            <a:avLst/>
          </a:prstGeom>
          <a:noFill/>
          <a:ln/>
        </p:spPr>
        <p:txBody>
          <a:bodyPr wrap="square" lIns="0" tIns="0" rIns="0" bIns="0" rtlCol="0" anchor="ctr"/>
          <a:lstStyle/>
          <a:p>
            <a:pPr marL="0" indent="0">
              <a:buNone/>
            </a:pPr>
            <a:r>
              <a:rPr lang="en-US" sz="2200" b="1" dirty="0">
                <a:solidFill>
                  <a:srgbClr val="A100FF"/>
                </a:solidFill>
                <a:latin typeface="Arial" pitchFamily="34" charset="0"/>
                <a:ea typeface="Arial" pitchFamily="34" charset="-122"/>
                <a:cs typeface="Arial" pitchFamily="34" charset="-120"/>
              </a:rPr>
              <a:t>Questions &amp; Discussion</a:t>
            </a:r>
            <a:endParaRPr lang="en-US" sz="2200" dirty="0"/>
          </a:p>
        </p:txBody>
      </p:sp>
      <p:sp>
        <p:nvSpPr>
          <p:cNvPr id="13" name="Text 9"/>
          <p:cNvSpPr/>
          <p:nvPr/>
        </p:nvSpPr>
        <p:spPr>
          <a:xfrm>
            <a:off x="685800" y="5989320"/>
            <a:ext cx="109728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PRISM</a:t>
            </a:r>
            <a:r>
              <a:rPr lang="en-US" sz="1200" dirty="0">
                <a:solidFill>
                  <a:srgbClr val="9E86C4"/>
                </a:solidFill>
                <a:latin typeface="Calibri" pitchFamily="34" charset="0"/>
                <a:ea typeface="Calibri" pitchFamily="34" charset="-122"/>
                <a:cs typeface="Calibri" pitchFamily="34" charset="-120"/>
              </a:rPr>
              <a:t>   ·   Policy and Resource Information Search Module   ·   Ananya Akella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E1826DCD9CBA4088C9D82AF6EC06B4" ma:contentTypeVersion="5" ma:contentTypeDescription="Create a new document." ma:contentTypeScope="" ma:versionID="58ae80e899c1d36ea7e810bc4eaaf687">
  <xsd:schema xmlns:xsd="http://www.w3.org/2001/XMLSchema" xmlns:xs="http://www.w3.org/2001/XMLSchema" xmlns:p="http://schemas.microsoft.com/office/2006/metadata/properties" xmlns:ns3="63f86548-a1a3-4cb3-8d18-480c44efe7df" targetNamespace="http://schemas.microsoft.com/office/2006/metadata/properties" ma:root="true" ma:fieldsID="4a779cdc6b1600e35fdb40b12e8791f9" ns3:_="">
    <xsd:import namespace="63f86548-a1a3-4cb3-8d18-480c44efe7df"/>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f86548-a1a3-4cb3-8d18-480c44efe7d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3f86548-a1a3-4cb3-8d18-480c44efe7df" xsi:nil="true"/>
  </documentManagement>
</p:properties>
</file>

<file path=customXml/itemProps1.xml><?xml version="1.0" encoding="utf-8"?>
<ds:datastoreItem xmlns:ds="http://schemas.openxmlformats.org/officeDocument/2006/customXml" ds:itemID="{C3DFACC6-032A-4D27-9520-6C91350E93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f86548-a1a3-4cb3-8d18-480c44efe7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654851-0141-48B6-BD6B-51F75551B82B}">
  <ds:schemaRefs>
    <ds:schemaRef ds:uri="http://schemas.microsoft.com/sharepoint/v3/contenttype/forms"/>
  </ds:schemaRefs>
</ds:datastoreItem>
</file>

<file path=customXml/itemProps3.xml><?xml version="1.0" encoding="utf-8"?>
<ds:datastoreItem xmlns:ds="http://schemas.openxmlformats.org/officeDocument/2006/customXml" ds:itemID="{959CFD31-1F52-4BF0-A4B8-EEA2786FEEAB}">
  <ds:schemaRefs>
    <ds:schemaRef ds:uri="http://purl.org/dc/terms/"/>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purl.org/dc/dcmitype/"/>
    <ds:schemaRef ds:uri="http://purl.org/dc/elements/1.1/"/>
    <ds:schemaRef ds:uri="http://schemas.openxmlformats.org/package/2006/metadata/core-properties"/>
    <ds:schemaRef ds:uri="63f86548-a1a3-4cb3-8d18-480c44efe7df"/>
  </ds:schemaRefs>
</ds:datastoreItem>
</file>

<file path=docProps/app.xml><?xml version="1.0" encoding="utf-8"?>
<Properties xmlns="http://schemas.openxmlformats.org/officeDocument/2006/extended-properties" xmlns:vt="http://schemas.openxmlformats.org/officeDocument/2006/docPropsVTypes">
  <TotalTime>157</TotalTime>
  <Words>3772</Words>
  <Application>Microsoft Office PowerPoint</Application>
  <PresentationFormat>Widescreen</PresentationFormat>
  <Paragraphs>392</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Akella, Ananya L.</dc:creator>
  <cp:lastModifiedBy>Akella, Ananya L.</cp:lastModifiedBy>
  <cp:revision>2</cp:revision>
  <dcterms:created xsi:type="dcterms:W3CDTF">2026-07-09T05:35:32Z</dcterms:created>
  <dcterms:modified xsi:type="dcterms:W3CDTF">2026-07-09T08:13:03Z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0x01010050E1826DCD9CBA4088C9D82AF6EC06B4</vt:lpwstr>
  </property>
</Properties>
</file>